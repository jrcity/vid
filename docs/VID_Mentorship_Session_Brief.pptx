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85041"/>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85041"/>
          </a:solidFill>
          <a:ln w="12700">
            <a:solidFill>
              <a:srgbClr val="085041"/>
            </a:solidFill>
            <a:prstDash val="solid"/>
          </a:ln>
        </p:spPr>
      </p:sp>
      <p:sp>
        <p:nvSpPr>
          <p:cNvPr id="3" name="Shape 1"/>
          <p:cNvSpPr/>
          <p:nvPr/>
        </p:nvSpPr>
        <p:spPr>
          <a:xfrm>
            <a:off x="0" y="0"/>
            <a:ext cx="2926080" cy="5143500"/>
          </a:xfrm>
          <a:prstGeom prst="rect">
            <a:avLst/>
          </a:prstGeom>
          <a:solidFill>
            <a:srgbClr val="042C1E"/>
          </a:solidFill>
          <a:ln w="12700">
            <a:solidFill>
              <a:srgbClr val="042C1E"/>
            </a:solidFill>
            <a:prstDash val="solid"/>
          </a:ln>
        </p:spPr>
      </p:sp>
      <p:sp>
        <p:nvSpPr>
          <p:cNvPr id="4" name="Shape 2"/>
          <p:cNvSpPr/>
          <p:nvPr/>
        </p:nvSpPr>
        <p:spPr>
          <a:xfrm>
            <a:off x="2926080" y="0"/>
            <a:ext cx="36576" cy="5143500"/>
          </a:xfrm>
          <a:prstGeom prst="rect">
            <a:avLst/>
          </a:prstGeom>
          <a:solidFill>
            <a:srgbClr val="1D9E75"/>
          </a:solidFill>
          <a:ln w="12700">
            <a:solidFill>
              <a:srgbClr val="1D9E75"/>
            </a:solidFill>
            <a:prstDash val="solid"/>
          </a:ln>
        </p:spPr>
      </p:sp>
      <p:sp>
        <p:nvSpPr>
          <p:cNvPr id="5" name="Text 3"/>
          <p:cNvSpPr/>
          <p:nvPr/>
        </p:nvSpPr>
        <p:spPr>
          <a:xfrm>
            <a:off x="365760" y="1188720"/>
            <a:ext cx="2377440" cy="1005840"/>
          </a:xfrm>
          <a:prstGeom prst="rect">
            <a:avLst/>
          </a:prstGeom>
          <a:noFill/>
          <a:ln/>
        </p:spPr>
        <p:txBody>
          <a:bodyPr wrap="square" rtlCol="0" anchor="ctr"/>
          <a:lstStyle/>
          <a:p>
            <a:pPr algn="ctr" indent="0" marL="0">
              <a:buNone/>
            </a:pPr>
            <a:r>
              <a:rPr lang="en-US" sz="7200" b="1" dirty="0">
                <a:solidFill>
                  <a:srgbClr val="1D9E75"/>
                </a:solidFill>
                <a:latin typeface="Arial" pitchFamily="34" charset="0"/>
                <a:ea typeface="Arial" pitchFamily="34" charset="-122"/>
                <a:cs typeface="Arial" pitchFamily="34" charset="-120"/>
              </a:rPr>
              <a:t>VID</a:t>
            </a:r>
            <a:endParaRPr lang="en-US" sz="7200" dirty="0"/>
          </a:p>
        </p:txBody>
      </p:sp>
      <p:sp>
        <p:nvSpPr>
          <p:cNvPr id="6" name="Text 4"/>
          <p:cNvSpPr/>
          <p:nvPr/>
        </p:nvSpPr>
        <p:spPr>
          <a:xfrm>
            <a:off x="365760" y="2103120"/>
            <a:ext cx="2377440" cy="457200"/>
          </a:xfrm>
          <a:prstGeom prst="rect">
            <a:avLst/>
          </a:prstGeom>
          <a:noFill/>
          <a:ln/>
        </p:spPr>
        <p:txBody>
          <a:bodyPr wrap="square" rtlCol="0" anchor="ctr"/>
          <a:lstStyle/>
          <a:p>
            <a:pPr algn="ctr" indent="0" marL="0">
              <a:buNone/>
            </a:pPr>
            <a:r>
              <a:rPr lang="en-US" sz="1600" spc="300" kern="0" dirty="0">
                <a:solidFill>
                  <a:srgbClr val="9FE1CB"/>
                </a:solidFill>
                <a:latin typeface="Arial" pitchFamily="34" charset="0"/>
                <a:ea typeface="Arial" pitchFamily="34" charset="-122"/>
                <a:cs typeface="Arial" pitchFamily="34" charset="-120"/>
              </a:rPr>
              <a:t>Virtual ID</a:t>
            </a:r>
            <a:endParaRPr lang="en-US" sz="1600" dirty="0"/>
          </a:p>
        </p:txBody>
      </p:sp>
      <p:sp>
        <p:nvSpPr>
          <p:cNvPr id="7" name="Shape 5"/>
          <p:cNvSpPr/>
          <p:nvPr/>
        </p:nvSpPr>
        <p:spPr>
          <a:xfrm>
            <a:off x="548640" y="2606040"/>
            <a:ext cx="2011680" cy="27432"/>
          </a:xfrm>
          <a:prstGeom prst="rect">
            <a:avLst/>
          </a:prstGeom>
          <a:solidFill>
            <a:srgbClr val="1D9E75"/>
          </a:solidFill>
          <a:ln w="12700">
            <a:solidFill>
              <a:srgbClr val="1D9E75"/>
            </a:solidFill>
            <a:prstDash val="solid"/>
          </a:ln>
        </p:spPr>
      </p:sp>
      <p:sp>
        <p:nvSpPr>
          <p:cNvPr id="8" name="Text 6"/>
          <p:cNvSpPr/>
          <p:nvPr/>
        </p:nvSpPr>
        <p:spPr>
          <a:xfrm>
            <a:off x="365760" y="2697480"/>
            <a:ext cx="2377440" cy="640080"/>
          </a:xfrm>
          <a:prstGeom prst="rect">
            <a:avLst/>
          </a:prstGeom>
          <a:noFill/>
          <a:ln/>
        </p:spPr>
        <p:txBody>
          <a:bodyPr wrap="square" rtlCol="0" anchor="ctr"/>
          <a:lstStyle/>
          <a:p>
            <a:pPr algn="ctr" indent="0" marL="0">
              <a:buNone/>
            </a:pPr>
            <a:r>
              <a:rPr lang="en-US" sz="1100" dirty="0">
                <a:solidFill>
                  <a:srgbClr val="5DCAA5"/>
                </a:solidFill>
                <a:latin typeface="Arial" pitchFamily="34" charset="0"/>
                <a:ea typeface="Arial" pitchFamily="34" charset="-122"/>
                <a:cs typeface="Arial" pitchFamily="34" charset="-120"/>
              </a:rPr>
              <a:t>Pan-African</a:t>
            </a:r>
            <a:endParaRPr lang="en-US" sz="1100" dirty="0"/>
          </a:p>
          <a:p>
            <a:pPr algn="ctr" indent="0" marL="0">
              <a:buNone/>
            </a:pPr>
            <a:r>
              <a:rPr lang="en-US" sz="1100" dirty="0">
                <a:solidFill>
                  <a:srgbClr val="5DCAA5"/>
                </a:solidFill>
                <a:latin typeface="Arial" pitchFamily="34" charset="0"/>
                <a:ea typeface="Arial" pitchFamily="34" charset="-122"/>
                <a:cs typeface="Arial" pitchFamily="34" charset="-120"/>
              </a:rPr>
              <a:t>Network Identity</a:t>
            </a:r>
            <a:endParaRPr lang="en-US" sz="1100" dirty="0"/>
          </a:p>
        </p:txBody>
      </p:sp>
      <p:sp>
        <p:nvSpPr>
          <p:cNvPr id="9" name="Text 7"/>
          <p:cNvSpPr/>
          <p:nvPr/>
        </p:nvSpPr>
        <p:spPr>
          <a:xfrm>
            <a:off x="3200400" y="822960"/>
            <a:ext cx="5669280" cy="548640"/>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Mentorship Session Brief</a:t>
            </a:r>
            <a:endParaRPr lang="en-US" sz="2200" dirty="0"/>
          </a:p>
        </p:txBody>
      </p:sp>
      <p:sp>
        <p:nvSpPr>
          <p:cNvPr id="10" name="Text 8"/>
          <p:cNvSpPr/>
          <p:nvPr/>
        </p:nvSpPr>
        <p:spPr>
          <a:xfrm>
            <a:off x="3200400" y="1417320"/>
            <a:ext cx="5669280" cy="320040"/>
          </a:xfrm>
          <a:prstGeom prst="rect">
            <a:avLst/>
          </a:prstGeom>
          <a:noFill/>
          <a:ln/>
        </p:spPr>
        <p:txBody>
          <a:bodyPr wrap="square" rtlCol="0" anchor="ctr"/>
          <a:lstStyle/>
          <a:p>
            <a:pPr indent="0" marL="0">
              <a:buNone/>
            </a:pPr>
            <a:r>
              <a:rPr lang="en-US" sz="1100" dirty="0">
                <a:solidFill>
                  <a:srgbClr val="9FE1CB"/>
                </a:solidFill>
                <a:latin typeface="Arial" pitchFamily="34" charset="0"/>
                <a:ea typeface="Arial" pitchFamily="34" charset="-122"/>
                <a:cs typeface="Arial" pitchFamily="34" charset="-120"/>
              </a:rPr>
              <a:t>Africa Ignite Hackathon 2026  ·  GSMA / Nokia NaC</a:t>
            </a:r>
            <a:endParaRPr lang="en-US" sz="1100" dirty="0"/>
          </a:p>
        </p:txBody>
      </p:sp>
      <p:sp>
        <p:nvSpPr>
          <p:cNvPr id="11" name="Shape 9"/>
          <p:cNvSpPr/>
          <p:nvPr/>
        </p:nvSpPr>
        <p:spPr>
          <a:xfrm>
            <a:off x="3200400" y="1810512"/>
            <a:ext cx="5577840" cy="27432"/>
          </a:xfrm>
          <a:prstGeom prst="rect">
            <a:avLst/>
          </a:prstGeom>
          <a:solidFill>
            <a:srgbClr val="1D9E75">
              <a:alpha val="60000"/>
            </a:srgbClr>
          </a:solidFill>
          <a:ln w="12700">
            <a:solidFill>
              <a:srgbClr val="1D9E75">
                <a:alpha val="60000"/>
              </a:srgbClr>
            </a:solidFill>
            <a:prstDash val="solid"/>
          </a:ln>
        </p:spPr>
      </p:sp>
      <p:sp>
        <p:nvSpPr>
          <p:cNvPr id="12" name="Text 10"/>
          <p:cNvSpPr/>
          <p:nvPr/>
        </p:nvSpPr>
        <p:spPr>
          <a:xfrm>
            <a:off x="3200400" y="1965960"/>
            <a:ext cx="1280160" cy="347472"/>
          </a:xfrm>
          <a:prstGeom prst="rect">
            <a:avLst/>
          </a:prstGeom>
          <a:noFill/>
          <a:ln/>
        </p:spPr>
        <p:txBody>
          <a:bodyPr wrap="square" rtlCol="0" anchor="ctr"/>
          <a:lstStyle/>
          <a:p>
            <a:pPr indent="0" marL="0">
              <a:buNone/>
            </a:pPr>
            <a:r>
              <a:rPr lang="en-US" sz="1000" b="1" dirty="0">
                <a:solidFill>
                  <a:srgbClr val="5DCAA5"/>
                </a:solidFill>
                <a:latin typeface="Arial" pitchFamily="34" charset="0"/>
                <a:ea typeface="Arial" pitchFamily="34" charset="-122"/>
                <a:cs typeface="Arial" pitchFamily="34" charset="-120"/>
              </a:rPr>
              <a:t>Team</a:t>
            </a:r>
            <a:endParaRPr lang="en-US" sz="1000" dirty="0"/>
          </a:p>
        </p:txBody>
      </p:sp>
      <p:sp>
        <p:nvSpPr>
          <p:cNvPr id="13" name="Text 11"/>
          <p:cNvSpPr/>
          <p:nvPr/>
        </p:nvSpPr>
        <p:spPr>
          <a:xfrm>
            <a:off x="4480560" y="1965960"/>
            <a:ext cx="4389120" cy="347472"/>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VID — Virtual ID</a:t>
            </a:r>
            <a:endParaRPr lang="en-US" sz="1000" dirty="0"/>
          </a:p>
        </p:txBody>
      </p:sp>
      <p:sp>
        <p:nvSpPr>
          <p:cNvPr id="14" name="Text 12"/>
          <p:cNvSpPr/>
          <p:nvPr/>
        </p:nvSpPr>
        <p:spPr>
          <a:xfrm>
            <a:off x="3200400" y="2350008"/>
            <a:ext cx="1280160" cy="347472"/>
          </a:xfrm>
          <a:prstGeom prst="rect">
            <a:avLst/>
          </a:prstGeom>
          <a:noFill/>
          <a:ln/>
        </p:spPr>
        <p:txBody>
          <a:bodyPr wrap="square" rtlCol="0" anchor="ctr"/>
          <a:lstStyle/>
          <a:p>
            <a:pPr indent="0" marL="0">
              <a:buNone/>
            </a:pPr>
            <a:r>
              <a:rPr lang="en-US" sz="1000" b="1" dirty="0">
                <a:solidFill>
                  <a:srgbClr val="5DCAA5"/>
                </a:solidFill>
                <a:latin typeface="Arial" pitchFamily="34" charset="0"/>
                <a:ea typeface="Arial" pitchFamily="34" charset="-122"/>
                <a:cs typeface="Arial" pitchFamily="34" charset="-120"/>
              </a:rPr>
              <a:t>Lead</a:t>
            </a:r>
            <a:endParaRPr lang="en-US" sz="1000" dirty="0"/>
          </a:p>
        </p:txBody>
      </p:sp>
      <p:sp>
        <p:nvSpPr>
          <p:cNvPr id="15" name="Text 13"/>
          <p:cNvSpPr/>
          <p:nvPr/>
        </p:nvSpPr>
        <p:spPr>
          <a:xfrm>
            <a:off x="4480560" y="2350008"/>
            <a:ext cx="4389120" cy="347472"/>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Redemption Jonathan</a:t>
            </a:r>
            <a:endParaRPr lang="en-US" sz="1000" dirty="0"/>
          </a:p>
        </p:txBody>
      </p:sp>
      <p:sp>
        <p:nvSpPr>
          <p:cNvPr id="16" name="Text 14"/>
          <p:cNvSpPr/>
          <p:nvPr/>
        </p:nvSpPr>
        <p:spPr>
          <a:xfrm>
            <a:off x="3200400" y="2734056"/>
            <a:ext cx="1280160" cy="347472"/>
          </a:xfrm>
          <a:prstGeom prst="rect">
            <a:avLst/>
          </a:prstGeom>
          <a:noFill/>
          <a:ln/>
        </p:spPr>
        <p:txBody>
          <a:bodyPr wrap="square" rtlCol="0" anchor="ctr"/>
          <a:lstStyle/>
          <a:p>
            <a:pPr indent="0" marL="0">
              <a:buNone/>
            </a:pPr>
            <a:r>
              <a:rPr lang="en-US" sz="1000" b="1" dirty="0">
                <a:solidFill>
                  <a:srgbClr val="5DCAA5"/>
                </a:solidFill>
                <a:latin typeface="Arial" pitchFamily="34" charset="0"/>
                <a:ea typeface="Arial" pitchFamily="34" charset="-122"/>
                <a:cs typeface="Arial" pitchFamily="34" charset="-120"/>
              </a:rPr>
              <a:t>Theme</a:t>
            </a:r>
            <a:endParaRPr lang="en-US" sz="1000" dirty="0"/>
          </a:p>
        </p:txBody>
      </p:sp>
      <p:sp>
        <p:nvSpPr>
          <p:cNvPr id="17" name="Text 15"/>
          <p:cNvSpPr/>
          <p:nvPr/>
        </p:nvSpPr>
        <p:spPr>
          <a:xfrm>
            <a:off x="4480560" y="2734056"/>
            <a:ext cx="4389120" cy="347472"/>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Theme 6 — Open Innovation</a:t>
            </a:r>
            <a:endParaRPr lang="en-US" sz="1000" dirty="0"/>
          </a:p>
        </p:txBody>
      </p:sp>
      <p:sp>
        <p:nvSpPr>
          <p:cNvPr id="18" name="Text 16"/>
          <p:cNvSpPr/>
          <p:nvPr/>
        </p:nvSpPr>
        <p:spPr>
          <a:xfrm>
            <a:off x="3200400" y="3118104"/>
            <a:ext cx="1280160" cy="347472"/>
          </a:xfrm>
          <a:prstGeom prst="rect">
            <a:avLst/>
          </a:prstGeom>
          <a:noFill/>
          <a:ln/>
        </p:spPr>
        <p:txBody>
          <a:bodyPr wrap="square" rtlCol="0" anchor="ctr"/>
          <a:lstStyle/>
          <a:p>
            <a:pPr indent="0" marL="0">
              <a:buNone/>
            </a:pPr>
            <a:r>
              <a:rPr lang="en-US" sz="1000" b="1" dirty="0">
                <a:solidFill>
                  <a:srgbClr val="5DCAA5"/>
                </a:solidFill>
                <a:latin typeface="Arial" pitchFamily="34" charset="0"/>
                <a:ea typeface="Arial" pitchFamily="34" charset="-122"/>
                <a:cs typeface="Arial" pitchFamily="34" charset="-120"/>
              </a:rPr>
              <a:t>APIs</a:t>
            </a:r>
            <a:endParaRPr lang="en-US" sz="1000" dirty="0"/>
          </a:p>
        </p:txBody>
      </p:sp>
      <p:sp>
        <p:nvSpPr>
          <p:cNvPr id="19" name="Text 17"/>
          <p:cNvSpPr/>
          <p:nvPr/>
        </p:nvSpPr>
        <p:spPr>
          <a:xfrm>
            <a:off x="4480560" y="3118104"/>
            <a:ext cx="4389120" cy="347472"/>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5 CAMARA APIs via Nokia NaC</a:t>
            </a:r>
            <a:endParaRPr lang="en-US" sz="1000" dirty="0"/>
          </a:p>
        </p:txBody>
      </p:sp>
      <p:sp>
        <p:nvSpPr>
          <p:cNvPr id="20" name="Text 18"/>
          <p:cNvSpPr/>
          <p:nvPr/>
        </p:nvSpPr>
        <p:spPr>
          <a:xfrm>
            <a:off x="3200400" y="3502152"/>
            <a:ext cx="1280160" cy="347472"/>
          </a:xfrm>
          <a:prstGeom prst="rect">
            <a:avLst/>
          </a:prstGeom>
          <a:noFill/>
          <a:ln/>
        </p:spPr>
        <p:txBody>
          <a:bodyPr wrap="square" rtlCol="0" anchor="ctr"/>
          <a:lstStyle/>
          <a:p>
            <a:pPr indent="0" marL="0">
              <a:buNone/>
            </a:pPr>
            <a:r>
              <a:rPr lang="en-US" sz="1000" b="1" dirty="0">
                <a:solidFill>
                  <a:srgbClr val="5DCAA5"/>
                </a:solidFill>
                <a:latin typeface="Arial" pitchFamily="34" charset="0"/>
                <a:ea typeface="Arial" pitchFamily="34" charset="-122"/>
                <a:cs typeface="Arial" pitchFamily="34" charset="-120"/>
              </a:rPr>
              <a:t>Scope</a:t>
            </a:r>
            <a:endParaRPr lang="en-US" sz="1000" dirty="0"/>
          </a:p>
        </p:txBody>
      </p:sp>
      <p:sp>
        <p:nvSpPr>
          <p:cNvPr id="21" name="Text 19"/>
          <p:cNvSpPr/>
          <p:nvPr/>
        </p:nvSpPr>
        <p:spPr>
          <a:xfrm>
            <a:off x="4480560" y="3502152"/>
            <a:ext cx="4389120" cy="347472"/>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Pan-African · 54 AU nations</a:t>
            </a:r>
            <a:endParaRPr lang="en-US" sz="1000" dirty="0"/>
          </a:p>
        </p:txBody>
      </p:sp>
      <p:sp>
        <p:nvSpPr>
          <p:cNvPr id="22" name="Text 20"/>
          <p:cNvSpPr/>
          <p:nvPr/>
        </p:nvSpPr>
        <p:spPr>
          <a:xfrm>
            <a:off x="3200400" y="3886200"/>
            <a:ext cx="1280160" cy="347472"/>
          </a:xfrm>
          <a:prstGeom prst="rect">
            <a:avLst/>
          </a:prstGeom>
          <a:noFill/>
          <a:ln/>
        </p:spPr>
        <p:txBody>
          <a:bodyPr wrap="square" rtlCol="0" anchor="ctr"/>
          <a:lstStyle/>
          <a:p>
            <a:pPr indent="0" marL="0">
              <a:buNone/>
            </a:pPr>
            <a:r>
              <a:rPr lang="en-US" sz="1000" b="1" dirty="0">
                <a:solidFill>
                  <a:srgbClr val="5DCAA5"/>
                </a:solidFill>
                <a:latin typeface="Arial" pitchFamily="34" charset="0"/>
                <a:ea typeface="Arial" pitchFamily="34" charset="-122"/>
                <a:cs typeface="Arial" pitchFamily="34" charset="-120"/>
              </a:rPr>
              <a:t>Deadline</a:t>
            </a:r>
            <a:endParaRPr lang="en-US" sz="1000" dirty="0"/>
          </a:p>
        </p:txBody>
      </p:sp>
      <p:sp>
        <p:nvSpPr>
          <p:cNvPr id="23" name="Text 21"/>
          <p:cNvSpPr/>
          <p:nvPr/>
        </p:nvSpPr>
        <p:spPr>
          <a:xfrm>
            <a:off x="4480560" y="3886200"/>
            <a:ext cx="4389120" cy="347472"/>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10 May 2026</a:t>
            </a:r>
            <a:endParaRPr lang="en-US" sz="1000" dirty="0"/>
          </a:p>
        </p:txBody>
      </p:sp>
      <p:sp>
        <p:nvSpPr>
          <p:cNvPr id="24" name="Text 22"/>
          <p:cNvSpPr/>
          <p:nvPr/>
        </p:nvSpPr>
        <p:spPr>
          <a:xfrm>
            <a:off x="3200400" y="4663440"/>
            <a:ext cx="5669280" cy="274320"/>
          </a:xfrm>
          <a:prstGeom prst="rect">
            <a:avLst/>
          </a:prstGeom>
          <a:noFill/>
          <a:ln/>
        </p:spPr>
        <p:txBody>
          <a:bodyPr wrap="square" rtlCol="0" anchor="ctr"/>
          <a:lstStyle/>
          <a:p>
            <a:pPr indent="0" marL="0">
              <a:buNone/>
            </a:pPr>
            <a:r>
              <a:rPr lang="en-US" sz="800" i="1" dirty="0">
                <a:solidFill>
                  <a:srgbClr val="5DCAA5"/>
                </a:solidFill>
                <a:latin typeface="Arial" pitchFamily="34" charset="0"/>
                <a:ea typeface="Arial" pitchFamily="34" charset="-122"/>
                <a:cs typeface="Arial" pitchFamily="34" charset="-120"/>
              </a:rPr>
              <a:t>Prepared for: Assigned Mentor  ·  Session window: 27 Apr – 8 May 2026</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8F6"/>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D9E75"/>
          </a:solidFill>
          <a:ln w="12700">
            <a:solidFill>
              <a:srgbClr val="1D9E75"/>
            </a:solidFill>
            <a:prstDash val="solid"/>
          </a:ln>
        </p:spPr>
      </p:sp>
      <p:sp>
        <p:nvSpPr>
          <p:cNvPr id="3" name="Shape 1"/>
          <p:cNvSpPr/>
          <p:nvPr/>
        </p:nvSpPr>
        <p:spPr>
          <a:xfrm>
            <a:off x="0" y="4983480"/>
            <a:ext cx="9144000" cy="164592"/>
          </a:xfrm>
          <a:prstGeom prst="rect">
            <a:avLst/>
          </a:prstGeom>
          <a:solidFill>
            <a:srgbClr val="085041"/>
          </a:solidFill>
          <a:ln w="12700">
            <a:solidFill>
              <a:srgbClr val="085041"/>
            </a:solidFill>
            <a:prstDash val="solid"/>
          </a:ln>
        </p:spPr>
      </p:sp>
      <p:sp>
        <p:nvSpPr>
          <p:cNvPr id="4" name="Text 2"/>
          <p:cNvSpPr/>
          <p:nvPr/>
        </p:nvSpPr>
        <p:spPr>
          <a:xfrm>
            <a:off x="274320" y="4992624"/>
            <a:ext cx="8595360" cy="146304"/>
          </a:xfrm>
          <a:prstGeom prst="rect">
            <a:avLst/>
          </a:prstGeom>
          <a:noFill/>
          <a:ln/>
        </p:spPr>
        <p:txBody>
          <a:bodyPr wrap="square" rtlCol="0" anchor="ctr"/>
          <a:lstStyle/>
          <a:p>
            <a:pPr algn="ctr" indent="0" marL="0">
              <a:buNone/>
            </a:pPr>
            <a:r>
              <a:rPr lang="en-US" sz="700" dirty="0">
                <a:solidFill>
                  <a:srgbClr val="5DCAA5"/>
                </a:solidFill>
                <a:latin typeface="Arial" pitchFamily="34" charset="0"/>
                <a:ea typeface="Arial" pitchFamily="34" charset="-122"/>
                <a:cs typeface="Arial" pitchFamily="34" charset="-120"/>
              </a:rPr>
              <a:t>VID · Virtual ID · Africa Ignite Hackathon 2026</a:t>
            </a:r>
            <a:endParaRPr lang="en-US" sz="700" dirty="0"/>
          </a:p>
        </p:txBody>
      </p:sp>
      <p:sp>
        <p:nvSpPr>
          <p:cNvPr id="5" name="Shape 3"/>
          <p:cNvSpPr/>
          <p:nvPr/>
        </p:nvSpPr>
        <p:spPr>
          <a:xfrm>
            <a:off x="411480" y="256032"/>
            <a:ext cx="1609344" cy="228600"/>
          </a:xfrm>
          <a:prstGeom prst="roundRect">
            <a:avLst>
              <a:gd name="adj" fmla="val 20000"/>
            </a:avLst>
          </a:prstGeom>
          <a:solidFill>
            <a:srgbClr val="1D9E75"/>
          </a:solidFill>
          <a:ln w="12700">
            <a:solidFill>
              <a:srgbClr val="1D9E75"/>
            </a:solidFill>
            <a:prstDash val="solid"/>
          </a:ln>
        </p:spPr>
      </p:sp>
      <p:sp>
        <p:nvSpPr>
          <p:cNvPr id="6" name="Text 4"/>
          <p:cNvSpPr/>
          <p:nvPr/>
        </p:nvSpPr>
        <p:spPr>
          <a:xfrm>
            <a:off x="411480" y="256032"/>
            <a:ext cx="1609344" cy="228600"/>
          </a:xfrm>
          <a:prstGeom prst="rect">
            <a:avLst/>
          </a:prstGeom>
          <a:noFill/>
          <a:ln/>
        </p:spPr>
        <p:txBody>
          <a:bodyPr wrap="square" rtlCol="0" anchor="ctr"/>
          <a:lstStyle/>
          <a:p>
            <a:pPr algn="ctr" indent="0" marL="0">
              <a:buNone/>
            </a:pPr>
            <a:r>
              <a:rPr lang="en-US" sz="800" b="1" spc="100" kern="0" dirty="0">
                <a:solidFill>
                  <a:srgbClr val="FFFFFF"/>
                </a:solidFill>
                <a:latin typeface="Arial" pitchFamily="34" charset="0"/>
                <a:ea typeface="Arial" pitchFamily="34" charset="-122"/>
                <a:cs typeface="Arial" pitchFamily="34" charset="-120"/>
              </a:rPr>
              <a:t>SESSION AGENDA</a:t>
            </a:r>
            <a:endParaRPr lang="en-US" sz="800" dirty="0"/>
          </a:p>
        </p:txBody>
      </p:sp>
      <p:sp>
        <p:nvSpPr>
          <p:cNvPr id="7" name="Text 5"/>
          <p:cNvSpPr/>
          <p:nvPr/>
        </p:nvSpPr>
        <p:spPr>
          <a:xfrm>
            <a:off x="411480" y="566928"/>
            <a:ext cx="8321040" cy="457200"/>
          </a:xfrm>
          <a:prstGeom prst="rect">
            <a:avLst/>
          </a:prstGeom>
          <a:noFill/>
          <a:ln/>
        </p:spPr>
        <p:txBody>
          <a:bodyPr wrap="square" rtlCol="0" anchor="ctr"/>
          <a:lstStyle/>
          <a:p>
            <a:pPr indent="0" marL="0">
              <a:buNone/>
            </a:pPr>
            <a:r>
              <a:rPr lang="en-US" sz="2000" b="1" dirty="0">
                <a:solidFill>
                  <a:srgbClr val="1A1A1A"/>
                </a:solidFill>
                <a:latin typeface="Arial" pitchFamily="34" charset="0"/>
                <a:ea typeface="Arial" pitchFamily="34" charset="-122"/>
                <a:cs typeface="Arial" pitchFamily="34" charset="-120"/>
              </a:rPr>
              <a:t>30 Minutes — How We Want to Use This Session</a:t>
            </a:r>
            <a:endParaRPr lang="en-US" sz="2000" dirty="0"/>
          </a:p>
        </p:txBody>
      </p:sp>
      <p:sp>
        <p:nvSpPr>
          <p:cNvPr id="8" name="Text 6"/>
          <p:cNvSpPr/>
          <p:nvPr/>
        </p:nvSpPr>
        <p:spPr>
          <a:xfrm>
            <a:off x="411480" y="1051560"/>
            <a:ext cx="8321040" cy="274320"/>
          </a:xfrm>
          <a:prstGeom prst="rect">
            <a:avLst/>
          </a:prstGeom>
          <a:noFill/>
          <a:ln/>
        </p:spPr>
        <p:txBody>
          <a:bodyPr wrap="square" rtlCol="0" anchor="ctr"/>
          <a:lstStyle/>
          <a:p>
            <a:pPr indent="0" marL="0">
              <a:buNone/>
            </a:pPr>
            <a:r>
              <a:rPr lang="en-US" sz="1100" i="1" dirty="0">
                <a:solidFill>
                  <a:srgbClr val="888888"/>
                </a:solidFill>
                <a:latin typeface="Arial" pitchFamily="34" charset="0"/>
                <a:ea typeface="Arial" pitchFamily="34" charset="-122"/>
                <a:cs typeface="Arial" pitchFamily="34" charset="-120"/>
              </a:rPr>
              <a:t>We have one session. We've structured it to get maximum actionable guidance.</a:t>
            </a:r>
            <a:endParaRPr lang="en-US" sz="1100" dirty="0"/>
          </a:p>
        </p:txBody>
      </p:sp>
      <p:sp>
        <p:nvSpPr>
          <p:cNvPr id="9" name="Shape 7"/>
          <p:cNvSpPr/>
          <p:nvPr/>
        </p:nvSpPr>
        <p:spPr>
          <a:xfrm>
            <a:off x="411480" y="1417320"/>
            <a:ext cx="8321040" cy="566928"/>
          </a:xfrm>
          <a:prstGeom prst="roundRect">
            <a:avLst>
              <a:gd name="adj" fmla="val 12903"/>
            </a:avLst>
          </a:prstGeom>
          <a:solidFill>
            <a:srgbClr val="FFFFFF"/>
          </a:solidFill>
          <a:ln w="6350">
            <a:solidFill>
              <a:srgbClr val="DDDDDD"/>
            </a:solidFill>
            <a:prstDash val="solid"/>
          </a:ln>
          <a:effectLst>
            <a:outerShdw sx="100000" sy="100000" kx="0" ky="0" algn="bl" rotWithShape="0" blurRad="50800" dist="12700" dir="8100000">
              <a:srgbClr val="000000">
                <a:alpha val="7000"/>
              </a:srgbClr>
            </a:outerShdw>
          </a:effectLst>
        </p:spPr>
      </p:sp>
      <p:sp>
        <p:nvSpPr>
          <p:cNvPr id="10" name="Shape 8"/>
          <p:cNvSpPr/>
          <p:nvPr/>
        </p:nvSpPr>
        <p:spPr>
          <a:xfrm>
            <a:off x="411480" y="1417320"/>
            <a:ext cx="1371600" cy="566928"/>
          </a:xfrm>
          <a:prstGeom prst="roundRect">
            <a:avLst>
              <a:gd name="adj" fmla="val 12903"/>
            </a:avLst>
          </a:prstGeom>
          <a:solidFill>
            <a:srgbClr val="1D9E75"/>
          </a:solidFill>
          <a:ln w="12700">
            <a:solidFill>
              <a:srgbClr val="1D9E75"/>
            </a:solidFill>
            <a:prstDash val="solid"/>
          </a:ln>
        </p:spPr>
      </p:sp>
      <p:sp>
        <p:nvSpPr>
          <p:cNvPr id="11" name="Text 9"/>
          <p:cNvSpPr/>
          <p:nvPr/>
        </p:nvSpPr>
        <p:spPr>
          <a:xfrm>
            <a:off x="411480" y="1463040"/>
            <a:ext cx="1371600" cy="475488"/>
          </a:xfrm>
          <a:prstGeom prst="rect">
            <a:avLst/>
          </a:prstGeom>
          <a:noFill/>
          <a:ln/>
        </p:spPr>
        <p:txBody>
          <a:bodyPr wrap="square"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0:00 – 0:03</a:t>
            </a:r>
            <a:endParaRPr lang="en-US" sz="900" dirty="0"/>
          </a:p>
        </p:txBody>
      </p:sp>
      <p:sp>
        <p:nvSpPr>
          <p:cNvPr id="12" name="Text 10"/>
          <p:cNvSpPr/>
          <p:nvPr/>
        </p:nvSpPr>
        <p:spPr>
          <a:xfrm>
            <a:off x="1920240" y="1463040"/>
            <a:ext cx="6583680" cy="219456"/>
          </a:xfrm>
          <a:prstGeom prst="rect">
            <a:avLst/>
          </a:prstGeom>
          <a:noFill/>
          <a:ln/>
        </p:spPr>
        <p:txBody>
          <a:bodyPr wrap="square" rtlCol="0" anchor="ctr"/>
          <a:lstStyle/>
          <a:p>
            <a:pPr indent="0" marL="0">
              <a:buNone/>
            </a:pPr>
            <a:r>
              <a:rPr lang="en-US" sz="1200" b="1" dirty="0">
                <a:solidFill>
                  <a:srgbClr val="1A1A1A"/>
                </a:solidFill>
                <a:latin typeface="Arial" pitchFamily="34" charset="0"/>
                <a:ea typeface="Arial" pitchFamily="34" charset="-122"/>
                <a:cs typeface="Arial" pitchFamily="34" charset="-120"/>
              </a:rPr>
              <a:t>Problem &amp; solution overview</a:t>
            </a:r>
            <a:endParaRPr lang="en-US" sz="1200" dirty="0"/>
          </a:p>
        </p:txBody>
      </p:sp>
      <p:sp>
        <p:nvSpPr>
          <p:cNvPr id="13" name="Text 11"/>
          <p:cNvSpPr/>
          <p:nvPr/>
        </p:nvSpPr>
        <p:spPr>
          <a:xfrm>
            <a:off x="1920240" y="1691640"/>
            <a:ext cx="6583680" cy="237744"/>
          </a:xfrm>
          <a:prstGeom prst="rect">
            <a:avLst/>
          </a:prstGeom>
          <a:noFill/>
          <a:ln/>
        </p:spPr>
        <p:txBody>
          <a:bodyPr wrap="square" rtlCol="0" anchor="ctr"/>
          <a:lstStyle/>
          <a:p>
            <a:pPr indent="0" marL="0">
              <a:buNone/>
            </a:pPr>
            <a:r>
              <a:rPr lang="en-US" sz="950" dirty="0">
                <a:solidFill>
                  <a:srgbClr val="888888"/>
                </a:solidFill>
                <a:latin typeface="Arial" pitchFamily="34" charset="0"/>
                <a:ea typeface="Arial" pitchFamily="34" charset="-122"/>
                <a:cs typeface="Arial" pitchFamily="34" charset="-120"/>
              </a:rPr>
              <a:t>2–3 min pitch of VID so mentor has full context before questions</a:t>
            </a:r>
            <a:endParaRPr lang="en-US" sz="950" dirty="0"/>
          </a:p>
        </p:txBody>
      </p:sp>
      <p:sp>
        <p:nvSpPr>
          <p:cNvPr id="14" name="Shape 12"/>
          <p:cNvSpPr/>
          <p:nvPr/>
        </p:nvSpPr>
        <p:spPr>
          <a:xfrm>
            <a:off x="411480" y="2075688"/>
            <a:ext cx="8321040" cy="566928"/>
          </a:xfrm>
          <a:prstGeom prst="roundRect">
            <a:avLst>
              <a:gd name="adj" fmla="val 12903"/>
            </a:avLst>
          </a:prstGeom>
          <a:solidFill>
            <a:srgbClr val="FFFFFF"/>
          </a:solidFill>
          <a:ln w="6350">
            <a:solidFill>
              <a:srgbClr val="DDDDDD"/>
            </a:solidFill>
            <a:prstDash val="solid"/>
          </a:ln>
          <a:effectLst>
            <a:outerShdw sx="100000" sy="100000" kx="0" ky="0" algn="bl" rotWithShape="0" blurRad="50800" dist="12700" dir="8100000">
              <a:srgbClr val="000000">
                <a:alpha val="7000"/>
              </a:srgbClr>
            </a:outerShdw>
          </a:effectLst>
        </p:spPr>
      </p:sp>
      <p:sp>
        <p:nvSpPr>
          <p:cNvPr id="15" name="Shape 13"/>
          <p:cNvSpPr/>
          <p:nvPr/>
        </p:nvSpPr>
        <p:spPr>
          <a:xfrm>
            <a:off x="411480" y="2075688"/>
            <a:ext cx="1371600" cy="566928"/>
          </a:xfrm>
          <a:prstGeom prst="roundRect">
            <a:avLst>
              <a:gd name="adj" fmla="val 12903"/>
            </a:avLst>
          </a:prstGeom>
          <a:solidFill>
            <a:srgbClr val="3C3489"/>
          </a:solidFill>
          <a:ln w="12700">
            <a:solidFill>
              <a:srgbClr val="3C3489"/>
            </a:solidFill>
            <a:prstDash val="solid"/>
          </a:ln>
        </p:spPr>
      </p:sp>
      <p:sp>
        <p:nvSpPr>
          <p:cNvPr id="16" name="Text 14"/>
          <p:cNvSpPr/>
          <p:nvPr/>
        </p:nvSpPr>
        <p:spPr>
          <a:xfrm>
            <a:off x="411480" y="2121408"/>
            <a:ext cx="1371600" cy="475488"/>
          </a:xfrm>
          <a:prstGeom prst="rect">
            <a:avLst/>
          </a:prstGeom>
          <a:noFill/>
          <a:ln/>
        </p:spPr>
        <p:txBody>
          <a:bodyPr wrap="square"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0:03 – 0:08</a:t>
            </a:r>
            <a:endParaRPr lang="en-US" sz="900" dirty="0"/>
          </a:p>
        </p:txBody>
      </p:sp>
      <p:sp>
        <p:nvSpPr>
          <p:cNvPr id="17" name="Text 15"/>
          <p:cNvSpPr/>
          <p:nvPr/>
        </p:nvSpPr>
        <p:spPr>
          <a:xfrm>
            <a:off x="1920240" y="2121408"/>
            <a:ext cx="6583680" cy="219456"/>
          </a:xfrm>
          <a:prstGeom prst="rect">
            <a:avLst/>
          </a:prstGeom>
          <a:noFill/>
          <a:ln/>
        </p:spPr>
        <p:txBody>
          <a:bodyPr wrap="square" rtlCol="0" anchor="ctr"/>
          <a:lstStyle/>
          <a:p>
            <a:pPr indent="0" marL="0">
              <a:buNone/>
            </a:pPr>
            <a:r>
              <a:rPr lang="en-US" sz="1200" b="1" dirty="0">
                <a:solidFill>
                  <a:srgbClr val="1A1A1A"/>
                </a:solidFill>
                <a:latin typeface="Arial" pitchFamily="34" charset="0"/>
                <a:ea typeface="Arial" pitchFamily="34" charset="-122"/>
                <a:cs typeface="Arial" pitchFamily="34" charset="-120"/>
              </a:rPr>
              <a:t>Architecture walkthrough</a:t>
            </a:r>
            <a:endParaRPr lang="en-US" sz="1200" dirty="0"/>
          </a:p>
        </p:txBody>
      </p:sp>
      <p:sp>
        <p:nvSpPr>
          <p:cNvPr id="18" name="Text 16"/>
          <p:cNvSpPr/>
          <p:nvPr/>
        </p:nvSpPr>
        <p:spPr>
          <a:xfrm>
            <a:off x="1920240" y="2350008"/>
            <a:ext cx="6583680" cy="237744"/>
          </a:xfrm>
          <a:prstGeom prst="rect">
            <a:avLst/>
          </a:prstGeom>
          <a:noFill/>
          <a:ln/>
        </p:spPr>
        <p:txBody>
          <a:bodyPr wrap="square" rtlCol="0" anchor="ctr"/>
          <a:lstStyle/>
          <a:p>
            <a:pPr indent="0" marL="0">
              <a:buNone/>
            </a:pPr>
            <a:r>
              <a:rPr lang="en-US" sz="950" dirty="0">
                <a:solidFill>
                  <a:srgbClr val="888888"/>
                </a:solidFill>
                <a:latin typeface="Arial" pitchFamily="34" charset="0"/>
                <a:ea typeface="Arial" pitchFamily="34" charset="-122"/>
                <a:cs typeface="Arial" pitchFamily="34" charset="-120"/>
              </a:rPr>
              <a:t>Walk through our 4-layer prototype stack and API integration plan</a:t>
            </a:r>
            <a:endParaRPr lang="en-US" sz="950" dirty="0"/>
          </a:p>
        </p:txBody>
      </p:sp>
      <p:sp>
        <p:nvSpPr>
          <p:cNvPr id="19" name="Shape 17"/>
          <p:cNvSpPr/>
          <p:nvPr/>
        </p:nvSpPr>
        <p:spPr>
          <a:xfrm>
            <a:off x="411480" y="2734056"/>
            <a:ext cx="8321040" cy="566928"/>
          </a:xfrm>
          <a:prstGeom prst="roundRect">
            <a:avLst>
              <a:gd name="adj" fmla="val 12903"/>
            </a:avLst>
          </a:prstGeom>
          <a:solidFill>
            <a:srgbClr val="FFFFFF"/>
          </a:solidFill>
          <a:ln w="6350">
            <a:solidFill>
              <a:srgbClr val="DDDDDD"/>
            </a:solidFill>
            <a:prstDash val="solid"/>
          </a:ln>
          <a:effectLst>
            <a:outerShdw sx="100000" sy="100000" kx="0" ky="0" algn="bl" rotWithShape="0" blurRad="50800" dist="12700" dir="8100000">
              <a:srgbClr val="000000">
                <a:alpha val="7000"/>
              </a:srgbClr>
            </a:outerShdw>
          </a:effectLst>
        </p:spPr>
      </p:sp>
      <p:sp>
        <p:nvSpPr>
          <p:cNvPr id="20" name="Shape 18"/>
          <p:cNvSpPr/>
          <p:nvPr/>
        </p:nvSpPr>
        <p:spPr>
          <a:xfrm>
            <a:off x="411480" y="2734056"/>
            <a:ext cx="1371600" cy="566928"/>
          </a:xfrm>
          <a:prstGeom prst="roundRect">
            <a:avLst>
              <a:gd name="adj" fmla="val 12903"/>
            </a:avLst>
          </a:prstGeom>
          <a:solidFill>
            <a:srgbClr val="BA7517"/>
          </a:solidFill>
          <a:ln w="12700">
            <a:solidFill>
              <a:srgbClr val="BA7517"/>
            </a:solidFill>
            <a:prstDash val="solid"/>
          </a:ln>
        </p:spPr>
      </p:sp>
      <p:sp>
        <p:nvSpPr>
          <p:cNvPr id="21" name="Text 19"/>
          <p:cNvSpPr/>
          <p:nvPr/>
        </p:nvSpPr>
        <p:spPr>
          <a:xfrm>
            <a:off x="411480" y="2779776"/>
            <a:ext cx="1371600" cy="475488"/>
          </a:xfrm>
          <a:prstGeom prst="rect">
            <a:avLst/>
          </a:prstGeom>
          <a:noFill/>
          <a:ln/>
        </p:spPr>
        <p:txBody>
          <a:bodyPr wrap="square"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0:08 – 0:20</a:t>
            </a:r>
            <a:endParaRPr lang="en-US" sz="900" dirty="0"/>
          </a:p>
        </p:txBody>
      </p:sp>
      <p:sp>
        <p:nvSpPr>
          <p:cNvPr id="22" name="Text 20"/>
          <p:cNvSpPr/>
          <p:nvPr/>
        </p:nvSpPr>
        <p:spPr>
          <a:xfrm>
            <a:off x="1920240" y="2779776"/>
            <a:ext cx="6583680" cy="219456"/>
          </a:xfrm>
          <a:prstGeom prst="rect">
            <a:avLst/>
          </a:prstGeom>
          <a:noFill/>
          <a:ln/>
        </p:spPr>
        <p:txBody>
          <a:bodyPr wrap="square" rtlCol="0" anchor="ctr"/>
          <a:lstStyle/>
          <a:p>
            <a:pPr indent="0" marL="0">
              <a:buNone/>
            </a:pPr>
            <a:r>
              <a:rPr lang="en-US" sz="1200" b="1" dirty="0">
                <a:solidFill>
                  <a:srgbClr val="1A1A1A"/>
                </a:solidFill>
                <a:latin typeface="Arial" pitchFamily="34" charset="0"/>
                <a:ea typeface="Arial" pitchFamily="34" charset="-122"/>
                <a:cs typeface="Arial" pitchFamily="34" charset="-120"/>
              </a:rPr>
              <a:t>Priority questions</a:t>
            </a:r>
            <a:endParaRPr lang="en-US" sz="1200" dirty="0"/>
          </a:p>
        </p:txBody>
      </p:sp>
      <p:sp>
        <p:nvSpPr>
          <p:cNvPr id="23" name="Text 21"/>
          <p:cNvSpPr/>
          <p:nvPr/>
        </p:nvSpPr>
        <p:spPr>
          <a:xfrm>
            <a:off x="1920240" y="3008376"/>
            <a:ext cx="6583680" cy="237744"/>
          </a:xfrm>
          <a:prstGeom prst="rect">
            <a:avLst/>
          </a:prstGeom>
          <a:noFill/>
          <a:ln/>
        </p:spPr>
        <p:txBody>
          <a:bodyPr wrap="square" rtlCol="0" anchor="ctr"/>
          <a:lstStyle/>
          <a:p>
            <a:pPr indent="0" marL="0">
              <a:buNone/>
            </a:pPr>
            <a:r>
              <a:rPr lang="en-US" sz="950" dirty="0">
                <a:solidFill>
                  <a:srgbClr val="888888"/>
                </a:solidFill>
                <a:latin typeface="Arial" pitchFamily="34" charset="0"/>
                <a:ea typeface="Arial" pitchFamily="34" charset="-122"/>
                <a:cs typeface="Arial" pitchFamily="34" charset="-120"/>
              </a:rPr>
              <a:t>4 focused questions — technical feasibility, completion risk, team management, scoring strategy</a:t>
            </a:r>
            <a:endParaRPr lang="en-US" sz="950" dirty="0"/>
          </a:p>
        </p:txBody>
      </p:sp>
      <p:sp>
        <p:nvSpPr>
          <p:cNvPr id="24" name="Shape 22"/>
          <p:cNvSpPr/>
          <p:nvPr/>
        </p:nvSpPr>
        <p:spPr>
          <a:xfrm>
            <a:off x="411480" y="3392424"/>
            <a:ext cx="8321040" cy="566928"/>
          </a:xfrm>
          <a:prstGeom prst="roundRect">
            <a:avLst>
              <a:gd name="adj" fmla="val 12903"/>
            </a:avLst>
          </a:prstGeom>
          <a:solidFill>
            <a:srgbClr val="FFFFFF"/>
          </a:solidFill>
          <a:ln w="6350">
            <a:solidFill>
              <a:srgbClr val="DDDDDD"/>
            </a:solidFill>
            <a:prstDash val="solid"/>
          </a:ln>
          <a:effectLst>
            <a:outerShdw sx="100000" sy="100000" kx="0" ky="0" algn="bl" rotWithShape="0" blurRad="50800" dist="12700" dir="8100000">
              <a:srgbClr val="000000">
                <a:alpha val="7000"/>
              </a:srgbClr>
            </a:outerShdw>
          </a:effectLst>
        </p:spPr>
      </p:sp>
      <p:sp>
        <p:nvSpPr>
          <p:cNvPr id="25" name="Shape 23"/>
          <p:cNvSpPr/>
          <p:nvPr/>
        </p:nvSpPr>
        <p:spPr>
          <a:xfrm>
            <a:off x="411480" y="3392424"/>
            <a:ext cx="1371600" cy="566928"/>
          </a:xfrm>
          <a:prstGeom prst="roundRect">
            <a:avLst>
              <a:gd name="adj" fmla="val 12903"/>
            </a:avLst>
          </a:prstGeom>
          <a:solidFill>
            <a:srgbClr val="D85A30"/>
          </a:solidFill>
          <a:ln w="12700">
            <a:solidFill>
              <a:srgbClr val="D85A30"/>
            </a:solidFill>
            <a:prstDash val="solid"/>
          </a:ln>
        </p:spPr>
      </p:sp>
      <p:sp>
        <p:nvSpPr>
          <p:cNvPr id="26" name="Text 24"/>
          <p:cNvSpPr/>
          <p:nvPr/>
        </p:nvSpPr>
        <p:spPr>
          <a:xfrm>
            <a:off x="411480" y="3438144"/>
            <a:ext cx="1371600" cy="475488"/>
          </a:xfrm>
          <a:prstGeom prst="rect">
            <a:avLst/>
          </a:prstGeom>
          <a:noFill/>
          <a:ln/>
        </p:spPr>
        <p:txBody>
          <a:bodyPr wrap="square"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0:20 – 0:28</a:t>
            </a:r>
            <a:endParaRPr lang="en-US" sz="900" dirty="0"/>
          </a:p>
        </p:txBody>
      </p:sp>
      <p:sp>
        <p:nvSpPr>
          <p:cNvPr id="27" name="Text 25"/>
          <p:cNvSpPr/>
          <p:nvPr/>
        </p:nvSpPr>
        <p:spPr>
          <a:xfrm>
            <a:off x="1920240" y="3438144"/>
            <a:ext cx="6583680" cy="219456"/>
          </a:xfrm>
          <a:prstGeom prst="rect">
            <a:avLst/>
          </a:prstGeom>
          <a:noFill/>
          <a:ln/>
        </p:spPr>
        <p:txBody>
          <a:bodyPr wrap="square" rtlCol="0" anchor="ctr"/>
          <a:lstStyle/>
          <a:p>
            <a:pPr indent="0" marL="0">
              <a:buNone/>
            </a:pPr>
            <a:r>
              <a:rPr lang="en-US" sz="1200" b="1" dirty="0">
                <a:solidFill>
                  <a:srgbClr val="1A1A1A"/>
                </a:solidFill>
                <a:latin typeface="Arial" pitchFamily="34" charset="0"/>
                <a:ea typeface="Arial" pitchFamily="34" charset="-122"/>
                <a:cs typeface="Arial" pitchFamily="34" charset="-120"/>
              </a:rPr>
              <a:t>Mentor challenge round</a:t>
            </a:r>
            <a:endParaRPr lang="en-US" sz="1200" dirty="0"/>
          </a:p>
        </p:txBody>
      </p:sp>
      <p:sp>
        <p:nvSpPr>
          <p:cNvPr id="28" name="Text 26"/>
          <p:cNvSpPr/>
          <p:nvPr/>
        </p:nvSpPr>
        <p:spPr>
          <a:xfrm>
            <a:off x="1920240" y="3666744"/>
            <a:ext cx="6583680" cy="237744"/>
          </a:xfrm>
          <a:prstGeom prst="rect">
            <a:avLst/>
          </a:prstGeom>
          <a:noFill/>
          <a:ln/>
        </p:spPr>
        <p:txBody>
          <a:bodyPr wrap="square" rtlCol="0" anchor="ctr"/>
          <a:lstStyle/>
          <a:p>
            <a:pPr indent="0" marL="0">
              <a:buNone/>
            </a:pPr>
            <a:r>
              <a:rPr lang="en-US" sz="950" dirty="0">
                <a:solidFill>
                  <a:srgbClr val="888888"/>
                </a:solidFill>
                <a:latin typeface="Arial" pitchFamily="34" charset="0"/>
                <a:ea typeface="Arial" pitchFamily="34" charset="-122"/>
                <a:cs typeface="Arial" pitchFamily="34" charset="-120"/>
              </a:rPr>
              <a:t>Mentor challenges our assumptions — we listen and take notes</a:t>
            </a:r>
            <a:endParaRPr lang="en-US" sz="950" dirty="0"/>
          </a:p>
        </p:txBody>
      </p:sp>
      <p:sp>
        <p:nvSpPr>
          <p:cNvPr id="29" name="Shape 27"/>
          <p:cNvSpPr/>
          <p:nvPr/>
        </p:nvSpPr>
        <p:spPr>
          <a:xfrm>
            <a:off x="411480" y="4050792"/>
            <a:ext cx="8321040" cy="566928"/>
          </a:xfrm>
          <a:prstGeom prst="roundRect">
            <a:avLst>
              <a:gd name="adj" fmla="val 12903"/>
            </a:avLst>
          </a:prstGeom>
          <a:solidFill>
            <a:srgbClr val="FFFFFF"/>
          </a:solidFill>
          <a:ln w="6350">
            <a:solidFill>
              <a:srgbClr val="DDDDDD"/>
            </a:solidFill>
            <a:prstDash val="solid"/>
          </a:ln>
          <a:effectLst>
            <a:outerShdw sx="100000" sy="100000" kx="0" ky="0" algn="bl" rotWithShape="0" blurRad="50800" dist="12700" dir="8100000">
              <a:srgbClr val="000000">
                <a:alpha val="7000"/>
              </a:srgbClr>
            </a:outerShdw>
          </a:effectLst>
        </p:spPr>
      </p:sp>
      <p:sp>
        <p:nvSpPr>
          <p:cNvPr id="30" name="Shape 28"/>
          <p:cNvSpPr/>
          <p:nvPr/>
        </p:nvSpPr>
        <p:spPr>
          <a:xfrm>
            <a:off x="411480" y="4050792"/>
            <a:ext cx="1371600" cy="566928"/>
          </a:xfrm>
          <a:prstGeom prst="roundRect">
            <a:avLst>
              <a:gd name="adj" fmla="val 12903"/>
            </a:avLst>
          </a:prstGeom>
          <a:solidFill>
            <a:srgbClr val="085041"/>
          </a:solidFill>
          <a:ln w="12700">
            <a:solidFill>
              <a:srgbClr val="085041"/>
            </a:solidFill>
            <a:prstDash val="solid"/>
          </a:ln>
        </p:spPr>
      </p:sp>
      <p:sp>
        <p:nvSpPr>
          <p:cNvPr id="31" name="Text 29"/>
          <p:cNvSpPr/>
          <p:nvPr/>
        </p:nvSpPr>
        <p:spPr>
          <a:xfrm>
            <a:off x="411480" y="4096512"/>
            <a:ext cx="1371600" cy="475488"/>
          </a:xfrm>
          <a:prstGeom prst="rect">
            <a:avLst/>
          </a:prstGeom>
          <a:noFill/>
          <a:ln/>
        </p:spPr>
        <p:txBody>
          <a:bodyPr wrap="square"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0:28 – 0:30</a:t>
            </a:r>
            <a:endParaRPr lang="en-US" sz="900" dirty="0"/>
          </a:p>
        </p:txBody>
      </p:sp>
      <p:sp>
        <p:nvSpPr>
          <p:cNvPr id="32" name="Text 30"/>
          <p:cNvSpPr/>
          <p:nvPr/>
        </p:nvSpPr>
        <p:spPr>
          <a:xfrm>
            <a:off x="1920240" y="4096512"/>
            <a:ext cx="6583680" cy="219456"/>
          </a:xfrm>
          <a:prstGeom prst="rect">
            <a:avLst/>
          </a:prstGeom>
          <a:noFill/>
          <a:ln/>
        </p:spPr>
        <p:txBody>
          <a:bodyPr wrap="square" rtlCol="0" anchor="ctr"/>
          <a:lstStyle/>
          <a:p>
            <a:pPr indent="0" marL="0">
              <a:buNone/>
            </a:pPr>
            <a:r>
              <a:rPr lang="en-US" sz="1200" b="1" dirty="0">
                <a:solidFill>
                  <a:srgbClr val="1A1A1A"/>
                </a:solidFill>
                <a:latin typeface="Arial" pitchFamily="34" charset="0"/>
                <a:ea typeface="Arial" pitchFamily="34" charset="-122"/>
                <a:cs typeface="Arial" pitchFamily="34" charset="-120"/>
              </a:rPr>
              <a:t>Action items confirmed</a:t>
            </a:r>
            <a:endParaRPr lang="en-US" sz="1200" dirty="0"/>
          </a:p>
        </p:txBody>
      </p:sp>
      <p:sp>
        <p:nvSpPr>
          <p:cNvPr id="33" name="Text 31"/>
          <p:cNvSpPr/>
          <p:nvPr/>
        </p:nvSpPr>
        <p:spPr>
          <a:xfrm>
            <a:off x="1920240" y="4325112"/>
            <a:ext cx="6583680" cy="237744"/>
          </a:xfrm>
          <a:prstGeom prst="rect">
            <a:avLst/>
          </a:prstGeom>
          <a:noFill/>
          <a:ln/>
        </p:spPr>
        <p:txBody>
          <a:bodyPr wrap="square" rtlCol="0" anchor="ctr"/>
          <a:lstStyle/>
          <a:p>
            <a:pPr indent="0" marL="0">
              <a:buNone/>
            </a:pPr>
            <a:r>
              <a:rPr lang="en-US" sz="950" dirty="0">
                <a:solidFill>
                  <a:srgbClr val="888888"/>
                </a:solidFill>
                <a:latin typeface="Arial" pitchFamily="34" charset="0"/>
                <a:ea typeface="Arial" pitchFamily="34" charset="-122"/>
                <a:cs typeface="Arial" pitchFamily="34" charset="-120"/>
              </a:rPr>
              <a:t>We agree on 3 specific takeaways before session closes</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8F6"/>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D9E75"/>
          </a:solidFill>
          <a:ln w="12700">
            <a:solidFill>
              <a:srgbClr val="1D9E75"/>
            </a:solidFill>
            <a:prstDash val="solid"/>
          </a:ln>
        </p:spPr>
      </p:sp>
      <p:sp>
        <p:nvSpPr>
          <p:cNvPr id="3" name="Shape 1"/>
          <p:cNvSpPr/>
          <p:nvPr/>
        </p:nvSpPr>
        <p:spPr>
          <a:xfrm>
            <a:off x="0" y="4983480"/>
            <a:ext cx="9144000" cy="164592"/>
          </a:xfrm>
          <a:prstGeom prst="rect">
            <a:avLst/>
          </a:prstGeom>
          <a:solidFill>
            <a:srgbClr val="085041"/>
          </a:solidFill>
          <a:ln w="12700">
            <a:solidFill>
              <a:srgbClr val="085041"/>
            </a:solidFill>
            <a:prstDash val="solid"/>
          </a:ln>
        </p:spPr>
      </p:sp>
      <p:sp>
        <p:nvSpPr>
          <p:cNvPr id="4" name="Text 2"/>
          <p:cNvSpPr/>
          <p:nvPr/>
        </p:nvSpPr>
        <p:spPr>
          <a:xfrm>
            <a:off x="274320" y="4992624"/>
            <a:ext cx="8595360" cy="146304"/>
          </a:xfrm>
          <a:prstGeom prst="rect">
            <a:avLst/>
          </a:prstGeom>
          <a:noFill/>
          <a:ln/>
        </p:spPr>
        <p:txBody>
          <a:bodyPr wrap="square" rtlCol="0" anchor="ctr"/>
          <a:lstStyle/>
          <a:p>
            <a:pPr algn="ctr" indent="0" marL="0">
              <a:buNone/>
            </a:pPr>
            <a:r>
              <a:rPr lang="en-US" sz="700" dirty="0">
                <a:solidFill>
                  <a:srgbClr val="5DCAA5"/>
                </a:solidFill>
                <a:latin typeface="Arial" pitchFamily="34" charset="0"/>
                <a:ea typeface="Arial" pitchFamily="34" charset="-122"/>
                <a:cs typeface="Arial" pitchFamily="34" charset="-120"/>
              </a:rPr>
              <a:t>VID · Virtual ID · Africa Ignite Hackathon 2026</a:t>
            </a:r>
            <a:endParaRPr lang="en-US" sz="700" dirty="0"/>
          </a:p>
        </p:txBody>
      </p:sp>
      <p:sp>
        <p:nvSpPr>
          <p:cNvPr id="5" name="Shape 3"/>
          <p:cNvSpPr/>
          <p:nvPr/>
        </p:nvSpPr>
        <p:spPr>
          <a:xfrm>
            <a:off x="411480" y="256032"/>
            <a:ext cx="2761488" cy="228600"/>
          </a:xfrm>
          <a:prstGeom prst="roundRect">
            <a:avLst>
              <a:gd name="adj" fmla="val 20000"/>
            </a:avLst>
          </a:prstGeom>
          <a:solidFill>
            <a:srgbClr val="1D9E75"/>
          </a:solidFill>
          <a:ln w="12700">
            <a:solidFill>
              <a:srgbClr val="1D9E75"/>
            </a:solidFill>
            <a:prstDash val="solid"/>
          </a:ln>
        </p:spPr>
      </p:sp>
      <p:sp>
        <p:nvSpPr>
          <p:cNvPr id="6" name="Text 4"/>
          <p:cNvSpPr/>
          <p:nvPr/>
        </p:nvSpPr>
        <p:spPr>
          <a:xfrm>
            <a:off x="411480" y="256032"/>
            <a:ext cx="2761488" cy="228600"/>
          </a:xfrm>
          <a:prstGeom prst="rect">
            <a:avLst/>
          </a:prstGeom>
          <a:noFill/>
          <a:ln/>
        </p:spPr>
        <p:txBody>
          <a:bodyPr wrap="square" rtlCol="0" anchor="ctr"/>
          <a:lstStyle/>
          <a:p>
            <a:pPr algn="ctr" indent="0" marL="0">
              <a:buNone/>
            </a:pPr>
            <a:r>
              <a:rPr lang="en-US" sz="800" b="1" spc="100" kern="0" dirty="0">
                <a:solidFill>
                  <a:srgbClr val="FFFFFF"/>
                </a:solidFill>
                <a:latin typeface="Arial" pitchFamily="34" charset="0"/>
                <a:ea typeface="Arial" pitchFamily="34" charset="-122"/>
                <a:cs typeface="Arial" pitchFamily="34" charset="-120"/>
              </a:rPr>
              <a:t>OUR IDEA — 2 MINUTE OVERVIEW</a:t>
            </a:r>
            <a:endParaRPr lang="en-US" sz="800" dirty="0"/>
          </a:p>
        </p:txBody>
      </p:sp>
      <p:sp>
        <p:nvSpPr>
          <p:cNvPr id="7" name="Text 5"/>
          <p:cNvSpPr/>
          <p:nvPr/>
        </p:nvSpPr>
        <p:spPr>
          <a:xfrm>
            <a:off x="411480" y="566928"/>
            <a:ext cx="8321040" cy="411480"/>
          </a:xfrm>
          <a:prstGeom prst="rect">
            <a:avLst/>
          </a:prstGeom>
          <a:noFill/>
          <a:ln/>
        </p:spPr>
        <p:txBody>
          <a:bodyPr wrap="square" rtlCol="0" anchor="ctr"/>
          <a:lstStyle/>
          <a:p>
            <a:pPr indent="0" marL="0">
              <a:buNone/>
            </a:pPr>
            <a:r>
              <a:rPr lang="en-US" sz="2000" b="1" dirty="0">
                <a:solidFill>
                  <a:srgbClr val="1A1A1A"/>
                </a:solidFill>
                <a:latin typeface="Arial" pitchFamily="34" charset="0"/>
                <a:ea typeface="Arial" pitchFamily="34" charset="-122"/>
                <a:cs typeface="Arial" pitchFamily="34" charset="-120"/>
              </a:rPr>
              <a:t>The Idea That Got Us Shortlisted</a:t>
            </a:r>
            <a:endParaRPr lang="en-US" sz="2000" dirty="0"/>
          </a:p>
        </p:txBody>
      </p:sp>
      <p:sp>
        <p:nvSpPr>
          <p:cNvPr id="8" name="Shape 6"/>
          <p:cNvSpPr/>
          <p:nvPr/>
        </p:nvSpPr>
        <p:spPr>
          <a:xfrm>
            <a:off x="411480" y="1051560"/>
            <a:ext cx="4023360" cy="3474720"/>
          </a:xfrm>
          <a:prstGeom prst="roundRect">
            <a:avLst>
              <a:gd name="adj" fmla="val 2105"/>
            </a:avLst>
          </a:prstGeom>
          <a:solidFill>
            <a:srgbClr val="FFFFFF"/>
          </a:solidFill>
          <a:ln w="6350">
            <a:solidFill>
              <a:srgbClr val="DDDDDD"/>
            </a:solidFill>
            <a:prstDash val="solid"/>
          </a:ln>
          <a:effectLst>
            <a:outerShdw sx="100000" sy="100000" kx="0" ky="0" algn="bl" rotWithShape="0" blurRad="50800" dist="12700" dir="8100000">
              <a:srgbClr val="000000">
                <a:alpha val="7000"/>
              </a:srgbClr>
            </a:outerShdw>
          </a:effectLst>
        </p:spPr>
      </p:sp>
      <p:sp>
        <p:nvSpPr>
          <p:cNvPr id="9" name="Shape 7"/>
          <p:cNvSpPr/>
          <p:nvPr/>
        </p:nvSpPr>
        <p:spPr>
          <a:xfrm>
            <a:off x="411480" y="1051560"/>
            <a:ext cx="4023360" cy="411480"/>
          </a:xfrm>
          <a:prstGeom prst="rect">
            <a:avLst/>
          </a:prstGeom>
          <a:solidFill>
            <a:srgbClr val="D85A30"/>
          </a:solidFill>
          <a:ln w="12700">
            <a:solidFill>
              <a:srgbClr val="D85A30"/>
            </a:solidFill>
            <a:prstDash val="solid"/>
          </a:ln>
        </p:spPr>
      </p:sp>
      <p:sp>
        <p:nvSpPr>
          <p:cNvPr id="10" name="Text 8"/>
          <p:cNvSpPr/>
          <p:nvPr/>
        </p:nvSpPr>
        <p:spPr>
          <a:xfrm>
            <a:off x="411480" y="1051560"/>
            <a:ext cx="4023360" cy="411480"/>
          </a:xfrm>
          <a:prstGeom prst="rect">
            <a:avLst/>
          </a:prstGeom>
          <a:noFill/>
          <a:ln/>
        </p:spPr>
        <p:txBody>
          <a:bodyPr wrap="square" rtlCol="0" anchor="ctr"/>
          <a:lstStyle/>
          <a:p>
            <a:pPr algn="ctr" indent="0" marL="0">
              <a:buNone/>
            </a:pPr>
            <a:r>
              <a:rPr lang="en-US" sz="1100" b="1" spc="200" kern="0" dirty="0">
                <a:solidFill>
                  <a:srgbClr val="FFFFFF"/>
                </a:solidFill>
                <a:latin typeface="Arial" pitchFamily="34" charset="0"/>
                <a:ea typeface="Arial" pitchFamily="34" charset="-122"/>
                <a:cs typeface="Arial" pitchFamily="34" charset="-120"/>
              </a:rPr>
              <a:t>THE PROBLEM</a:t>
            </a:r>
            <a:endParaRPr lang="en-US" sz="1100" dirty="0"/>
          </a:p>
        </p:txBody>
      </p:sp>
      <p:sp>
        <p:nvSpPr>
          <p:cNvPr id="11" name="Text 9"/>
          <p:cNvSpPr/>
          <p:nvPr/>
        </p:nvSpPr>
        <p:spPr>
          <a:xfrm>
            <a:off x="548640" y="1572768"/>
            <a:ext cx="3749040" cy="502920"/>
          </a:xfrm>
          <a:prstGeom prst="rect">
            <a:avLst/>
          </a:prstGeom>
          <a:noFill/>
          <a:ln/>
        </p:spPr>
        <p:txBody>
          <a:bodyPr wrap="square" rtlCol="0" anchor="ctr"/>
          <a:lstStyle/>
          <a:p>
            <a:pPr indent="0" marL="0">
              <a:buNone/>
            </a:pPr>
            <a:r>
              <a:rPr lang="en-US" sz="1100" b="1" dirty="0">
                <a:solidFill>
                  <a:srgbClr val="1A1A1A"/>
                </a:solidFill>
                <a:latin typeface="Arial" pitchFamily="34" charset="0"/>
                <a:ea typeface="Arial" pitchFamily="34" charset="-122"/>
                <a:cs typeface="Arial" pitchFamily="34" charset="-120"/>
              </a:rPr>
              <a:t>400 million adults across Sub-Saharan Africa have no verifiable government ID.</a:t>
            </a:r>
            <a:endParaRPr lang="en-US" sz="1100" dirty="0"/>
          </a:p>
        </p:txBody>
      </p:sp>
      <p:sp>
        <p:nvSpPr>
          <p:cNvPr id="12" name="Shape 10"/>
          <p:cNvSpPr/>
          <p:nvPr/>
        </p:nvSpPr>
        <p:spPr>
          <a:xfrm>
            <a:off x="548640" y="2194560"/>
            <a:ext cx="109728" cy="109728"/>
          </a:xfrm>
          <a:prstGeom prst="ellipse">
            <a:avLst/>
          </a:prstGeom>
          <a:solidFill>
            <a:srgbClr val="D85A30"/>
          </a:solidFill>
          <a:ln w="12700">
            <a:solidFill>
              <a:srgbClr val="D85A30"/>
            </a:solidFill>
            <a:prstDash val="solid"/>
          </a:ln>
        </p:spPr>
      </p:sp>
      <p:sp>
        <p:nvSpPr>
          <p:cNvPr id="13" name="Text 11"/>
          <p:cNvSpPr/>
          <p:nvPr/>
        </p:nvSpPr>
        <p:spPr>
          <a:xfrm>
            <a:off x="731520" y="2139696"/>
            <a:ext cx="3474720" cy="347472"/>
          </a:xfrm>
          <a:prstGeom prst="rect">
            <a:avLst/>
          </a:prstGeom>
          <a:noFill/>
          <a:ln/>
        </p:spPr>
        <p:txBody>
          <a:bodyPr wrap="square" rtlCol="0" anchor="ctr"/>
          <a:lstStyle/>
          <a:p>
            <a:pPr indent="0" marL="0">
              <a:buNone/>
            </a:pPr>
            <a:r>
              <a:rPr lang="en-US" sz="950" dirty="0">
                <a:solidFill>
                  <a:srgbClr val="1A1A1A"/>
                </a:solidFill>
                <a:latin typeface="Arial" pitchFamily="34" charset="0"/>
                <a:ea typeface="Arial" pitchFamily="34" charset="-122"/>
                <a:cs typeface="Arial" pitchFamily="34" charset="-120"/>
              </a:rPr>
              <a:t>Cannot open bank accounts or use mobile money</a:t>
            </a:r>
            <a:endParaRPr lang="en-US" sz="950" dirty="0"/>
          </a:p>
        </p:txBody>
      </p:sp>
      <p:sp>
        <p:nvSpPr>
          <p:cNvPr id="14" name="Shape 12"/>
          <p:cNvSpPr/>
          <p:nvPr/>
        </p:nvSpPr>
        <p:spPr>
          <a:xfrm>
            <a:off x="548640" y="2596896"/>
            <a:ext cx="109728" cy="109728"/>
          </a:xfrm>
          <a:prstGeom prst="ellipse">
            <a:avLst/>
          </a:prstGeom>
          <a:solidFill>
            <a:srgbClr val="D85A30"/>
          </a:solidFill>
          <a:ln w="12700">
            <a:solidFill>
              <a:srgbClr val="D85A30"/>
            </a:solidFill>
            <a:prstDash val="solid"/>
          </a:ln>
        </p:spPr>
      </p:sp>
      <p:sp>
        <p:nvSpPr>
          <p:cNvPr id="15" name="Text 13"/>
          <p:cNvSpPr/>
          <p:nvPr/>
        </p:nvSpPr>
        <p:spPr>
          <a:xfrm>
            <a:off x="731520" y="2542032"/>
            <a:ext cx="3474720" cy="347472"/>
          </a:xfrm>
          <a:prstGeom prst="rect">
            <a:avLst/>
          </a:prstGeom>
          <a:noFill/>
          <a:ln/>
        </p:spPr>
        <p:txBody>
          <a:bodyPr wrap="square" rtlCol="0" anchor="ctr"/>
          <a:lstStyle/>
          <a:p>
            <a:pPr indent="0" marL="0">
              <a:buNone/>
            </a:pPr>
            <a:r>
              <a:rPr lang="en-US" sz="950" dirty="0">
                <a:solidFill>
                  <a:srgbClr val="1A1A1A"/>
                </a:solidFill>
                <a:latin typeface="Arial" pitchFamily="34" charset="0"/>
                <a:ea typeface="Arial" pitchFamily="34" charset="-122"/>
                <a:cs typeface="Arial" pitchFamily="34" charset="-120"/>
              </a:rPr>
              <a:t>Cannot access healthcare or school enrolment</a:t>
            </a:r>
            <a:endParaRPr lang="en-US" sz="950" dirty="0"/>
          </a:p>
        </p:txBody>
      </p:sp>
      <p:sp>
        <p:nvSpPr>
          <p:cNvPr id="16" name="Shape 14"/>
          <p:cNvSpPr/>
          <p:nvPr/>
        </p:nvSpPr>
        <p:spPr>
          <a:xfrm>
            <a:off x="548640" y="2999232"/>
            <a:ext cx="109728" cy="109728"/>
          </a:xfrm>
          <a:prstGeom prst="ellipse">
            <a:avLst/>
          </a:prstGeom>
          <a:solidFill>
            <a:srgbClr val="D85A30"/>
          </a:solidFill>
          <a:ln w="12700">
            <a:solidFill>
              <a:srgbClr val="D85A30"/>
            </a:solidFill>
            <a:prstDash val="solid"/>
          </a:ln>
        </p:spPr>
      </p:sp>
      <p:sp>
        <p:nvSpPr>
          <p:cNvPr id="17" name="Text 15"/>
          <p:cNvSpPr/>
          <p:nvPr/>
        </p:nvSpPr>
        <p:spPr>
          <a:xfrm>
            <a:off x="731520" y="2944368"/>
            <a:ext cx="3474720" cy="347472"/>
          </a:xfrm>
          <a:prstGeom prst="rect">
            <a:avLst/>
          </a:prstGeom>
          <a:noFill/>
          <a:ln/>
        </p:spPr>
        <p:txBody>
          <a:bodyPr wrap="square" rtlCol="0" anchor="ctr"/>
          <a:lstStyle/>
          <a:p>
            <a:pPr indent="0" marL="0">
              <a:buNone/>
            </a:pPr>
            <a:r>
              <a:rPr lang="en-US" sz="950" dirty="0">
                <a:solidFill>
                  <a:srgbClr val="1A1A1A"/>
                </a:solidFill>
                <a:latin typeface="Arial" pitchFamily="34" charset="0"/>
                <a:ea typeface="Arial" pitchFamily="34" charset="-122"/>
                <a:cs typeface="Arial" pitchFamily="34" charset="-120"/>
              </a:rPr>
              <a:t>Cannot receive government aid or subsidies</a:t>
            </a:r>
            <a:endParaRPr lang="en-US" sz="950" dirty="0"/>
          </a:p>
        </p:txBody>
      </p:sp>
      <p:sp>
        <p:nvSpPr>
          <p:cNvPr id="18" name="Shape 16"/>
          <p:cNvSpPr/>
          <p:nvPr/>
        </p:nvSpPr>
        <p:spPr>
          <a:xfrm>
            <a:off x="548640" y="3401568"/>
            <a:ext cx="109728" cy="109728"/>
          </a:xfrm>
          <a:prstGeom prst="ellipse">
            <a:avLst/>
          </a:prstGeom>
          <a:solidFill>
            <a:srgbClr val="D85A30"/>
          </a:solidFill>
          <a:ln w="12700">
            <a:solidFill>
              <a:srgbClr val="D85A30"/>
            </a:solidFill>
            <a:prstDash val="solid"/>
          </a:ln>
        </p:spPr>
      </p:sp>
      <p:sp>
        <p:nvSpPr>
          <p:cNvPr id="19" name="Text 17"/>
          <p:cNvSpPr/>
          <p:nvPr/>
        </p:nvSpPr>
        <p:spPr>
          <a:xfrm>
            <a:off x="731520" y="3346704"/>
            <a:ext cx="3474720" cy="347472"/>
          </a:xfrm>
          <a:prstGeom prst="rect">
            <a:avLst/>
          </a:prstGeom>
          <a:noFill/>
          <a:ln/>
        </p:spPr>
        <p:txBody>
          <a:bodyPr wrap="square" rtlCol="0" anchor="ctr"/>
          <a:lstStyle/>
          <a:p>
            <a:pPr indent="0" marL="0">
              <a:buNone/>
            </a:pPr>
            <a:r>
              <a:rPr lang="en-US" sz="950" dirty="0">
                <a:solidFill>
                  <a:srgbClr val="1A1A1A"/>
                </a:solidFill>
                <a:latin typeface="Arial" pitchFamily="34" charset="0"/>
                <a:ea typeface="Arial" pitchFamily="34" charset="-122"/>
                <a:cs typeface="Arial" pitchFamily="34" charset="-120"/>
              </a:rPr>
              <a:t>Cannot prove identity in disputes or commerce</a:t>
            </a:r>
            <a:endParaRPr lang="en-US" sz="950" dirty="0"/>
          </a:p>
        </p:txBody>
      </p:sp>
      <p:sp>
        <p:nvSpPr>
          <p:cNvPr id="20" name="Shape 18"/>
          <p:cNvSpPr/>
          <p:nvPr/>
        </p:nvSpPr>
        <p:spPr>
          <a:xfrm>
            <a:off x="548640" y="3803904"/>
            <a:ext cx="109728" cy="109728"/>
          </a:xfrm>
          <a:prstGeom prst="ellipse">
            <a:avLst/>
          </a:prstGeom>
          <a:solidFill>
            <a:srgbClr val="D85A30"/>
          </a:solidFill>
          <a:ln w="12700">
            <a:solidFill>
              <a:srgbClr val="D85A30"/>
            </a:solidFill>
            <a:prstDash val="solid"/>
          </a:ln>
        </p:spPr>
      </p:sp>
      <p:sp>
        <p:nvSpPr>
          <p:cNvPr id="21" name="Text 19"/>
          <p:cNvSpPr/>
          <p:nvPr/>
        </p:nvSpPr>
        <p:spPr>
          <a:xfrm>
            <a:off x="731520" y="3749040"/>
            <a:ext cx="3474720" cy="347472"/>
          </a:xfrm>
          <a:prstGeom prst="rect">
            <a:avLst/>
          </a:prstGeom>
          <a:noFill/>
          <a:ln/>
        </p:spPr>
        <p:txBody>
          <a:bodyPr wrap="square" rtlCol="0" anchor="ctr"/>
          <a:lstStyle/>
          <a:p>
            <a:pPr indent="0" marL="0">
              <a:buNone/>
            </a:pPr>
            <a:r>
              <a:rPr lang="en-US" sz="950" dirty="0">
                <a:solidFill>
                  <a:srgbClr val="1A1A1A"/>
                </a:solidFill>
                <a:latin typeface="Arial" pitchFamily="34" charset="0"/>
                <a:ea typeface="Arial" pitchFamily="34" charset="-122"/>
                <a:cs typeface="Arial" pitchFamily="34" charset="-120"/>
              </a:rPr>
              <a:t>Existing solutions require a document to start — self-excluding by design</a:t>
            </a:r>
            <a:endParaRPr lang="en-US" sz="950" dirty="0"/>
          </a:p>
        </p:txBody>
      </p:sp>
      <p:sp>
        <p:nvSpPr>
          <p:cNvPr id="22" name="Shape 20"/>
          <p:cNvSpPr/>
          <p:nvPr/>
        </p:nvSpPr>
        <p:spPr>
          <a:xfrm>
            <a:off x="4709160" y="1051560"/>
            <a:ext cx="4023360" cy="3474720"/>
          </a:xfrm>
          <a:prstGeom prst="roundRect">
            <a:avLst>
              <a:gd name="adj" fmla="val 2105"/>
            </a:avLst>
          </a:prstGeom>
          <a:solidFill>
            <a:srgbClr val="FFFFFF"/>
          </a:solidFill>
          <a:ln w="6350">
            <a:solidFill>
              <a:srgbClr val="DDDDDD"/>
            </a:solidFill>
            <a:prstDash val="solid"/>
          </a:ln>
          <a:effectLst>
            <a:outerShdw sx="100000" sy="100000" kx="0" ky="0" algn="bl" rotWithShape="0" blurRad="50800" dist="12700" dir="8100000">
              <a:srgbClr val="000000">
                <a:alpha val="7000"/>
              </a:srgbClr>
            </a:outerShdw>
          </a:effectLst>
        </p:spPr>
      </p:sp>
      <p:sp>
        <p:nvSpPr>
          <p:cNvPr id="23" name="Shape 21"/>
          <p:cNvSpPr/>
          <p:nvPr/>
        </p:nvSpPr>
        <p:spPr>
          <a:xfrm>
            <a:off x="4709160" y="1051560"/>
            <a:ext cx="4023360" cy="411480"/>
          </a:xfrm>
          <a:prstGeom prst="rect">
            <a:avLst/>
          </a:prstGeom>
          <a:solidFill>
            <a:srgbClr val="0F6E56"/>
          </a:solidFill>
          <a:ln w="12700">
            <a:solidFill>
              <a:srgbClr val="0F6E56"/>
            </a:solidFill>
            <a:prstDash val="solid"/>
          </a:ln>
        </p:spPr>
      </p:sp>
      <p:sp>
        <p:nvSpPr>
          <p:cNvPr id="24" name="Text 22"/>
          <p:cNvSpPr/>
          <p:nvPr/>
        </p:nvSpPr>
        <p:spPr>
          <a:xfrm>
            <a:off x="4709160" y="1051560"/>
            <a:ext cx="4023360" cy="411480"/>
          </a:xfrm>
          <a:prstGeom prst="rect">
            <a:avLst/>
          </a:prstGeom>
          <a:noFill/>
          <a:ln/>
        </p:spPr>
        <p:txBody>
          <a:bodyPr wrap="square" rtlCol="0" anchor="ctr"/>
          <a:lstStyle/>
          <a:p>
            <a:pPr algn="ctr" indent="0" marL="0">
              <a:buNone/>
            </a:pPr>
            <a:r>
              <a:rPr lang="en-US" sz="1100" b="1" spc="200" kern="0" dirty="0">
                <a:solidFill>
                  <a:srgbClr val="FFFFFF"/>
                </a:solidFill>
                <a:latin typeface="Arial" pitchFamily="34" charset="0"/>
                <a:ea typeface="Arial" pitchFamily="34" charset="-122"/>
                <a:cs typeface="Arial" pitchFamily="34" charset="-120"/>
              </a:rPr>
              <a:t>THE SOLUTION</a:t>
            </a:r>
            <a:endParaRPr lang="en-US" sz="1100" dirty="0"/>
          </a:p>
        </p:txBody>
      </p:sp>
      <p:sp>
        <p:nvSpPr>
          <p:cNvPr id="25" name="Text 23"/>
          <p:cNvSpPr/>
          <p:nvPr/>
        </p:nvSpPr>
        <p:spPr>
          <a:xfrm>
            <a:off x="4846320" y="1572768"/>
            <a:ext cx="3749040" cy="502920"/>
          </a:xfrm>
          <a:prstGeom prst="rect">
            <a:avLst/>
          </a:prstGeom>
          <a:noFill/>
          <a:ln/>
        </p:spPr>
        <p:txBody>
          <a:bodyPr wrap="square" rtlCol="0" anchor="ctr"/>
          <a:lstStyle/>
          <a:p>
            <a:pPr indent="0" marL="0">
              <a:buNone/>
            </a:pPr>
            <a:r>
              <a:rPr lang="en-US" sz="1100" b="1" dirty="0">
                <a:solidFill>
                  <a:srgbClr val="1A1A1A"/>
                </a:solidFill>
                <a:latin typeface="Arial" pitchFamily="34" charset="0"/>
                <a:ea typeface="Arial" pitchFamily="34" charset="-122"/>
                <a:cs typeface="Arial" pitchFamily="34" charset="-120"/>
              </a:rPr>
              <a:t>VID uses CAMARA APIs as identity oracles — the SIM card becomes an ID.</a:t>
            </a:r>
            <a:endParaRPr lang="en-US" sz="1100" dirty="0"/>
          </a:p>
        </p:txBody>
      </p:sp>
      <p:sp>
        <p:nvSpPr>
          <p:cNvPr id="26" name="Shape 24"/>
          <p:cNvSpPr/>
          <p:nvPr/>
        </p:nvSpPr>
        <p:spPr>
          <a:xfrm>
            <a:off x="4846320" y="2194560"/>
            <a:ext cx="109728" cy="109728"/>
          </a:xfrm>
          <a:prstGeom prst="ellipse">
            <a:avLst/>
          </a:prstGeom>
          <a:solidFill>
            <a:srgbClr val="1D9E75"/>
          </a:solidFill>
          <a:ln w="12700">
            <a:solidFill>
              <a:srgbClr val="1D9E75"/>
            </a:solidFill>
            <a:prstDash val="solid"/>
          </a:ln>
        </p:spPr>
      </p:sp>
      <p:sp>
        <p:nvSpPr>
          <p:cNvPr id="27" name="Text 25"/>
          <p:cNvSpPr/>
          <p:nvPr/>
        </p:nvSpPr>
        <p:spPr>
          <a:xfrm>
            <a:off x="5029200" y="2139696"/>
            <a:ext cx="3474720" cy="347472"/>
          </a:xfrm>
          <a:prstGeom prst="rect">
            <a:avLst/>
          </a:prstGeom>
          <a:noFill/>
          <a:ln/>
        </p:spPr>
        <p:txBody>
          <a:bodyPr wrap="square" rtlCol="0" anchor="ctr"/>
          <a:lstStyle/>
          <a:p>
            <a:pPr indent="0" marL="0">
              <a:buNone/>
            </a:pPr>
            <a:r>
              <a:rPr lang="en-US" sz="950" dirty="0">
                <a:solidFill>
                  <a:srgbClr val="1A1A1A"/>
                </a:solidFill>
                <a:latin typeface="Arial" pitchFamily="34" charset="0"/>
                <a:ea typeface="Arial" pitchFamily="34" charset="-122"/>
                <a:cs typeface="Arial" pitchFamily="34" charset="-120"/>
              </a:rPr>
              <a:t>User consents → VID asks network 5 yes/no questions</a:t>
            </a:r>
            <a:endParaRPr lang="en-US" sz="950" dirty="0"/>
          </a:p>
        </p:txBody>
      </p:sp>
      <p:sp>
        <p:nvSpPr>
          <p:cNvPr id="28" name="Shape 26"/>
          <p:cNvSpPr/>
          <p:nvPr/>
        </p:nvSpPr>
        <p:spPr>
          <a:xfrm>
            <a:off x="4846320" y="2596896"/>
            <a:ext cx="109728" cy="109728"/>
          </a:xfrm>
          <a:prstGeom prst="ellipse">
            <a:avLst/>
          </a:prstGeom>
          <a:solidFill>
            <a:srgbClr val="1D9E75"/>
          </a:solidFill>
          <a:ln w="12700">
            <a:solidFill>
              <a:srgbClr val="1D9E75"/>
            </a:solidFill>
            <a:prstDash val="solid"/>
          </a:ln>
        </p:spPr>
      </p:sp>
      <p:sp>
        <p:nvSpPr>
          <p:cNvPr id="29" name="Text 27"/>
          <p:cNvSpPr/>
          <p:nvPr/>
        </p:nvSpPr>
        <p:spPr>
          <a:xfrm>
            <a:off x="5029200" y="2542032"/>
            <a:ext cx="3474720" cy="347472"/>
          </a:xfrm>
          <a:prstGeom prst="rect">
            <a:avLst/>
          </a:prstGeom>
          <a:noFill/>
          <a:ln/>
        </p:spPr>
        <p:txBody>
          <a:bodyPr wrap="square" rtlCol="0" anchor="ctr"/>
          <a:lstStyle/>
          <a:p>
            <a:pPr indent="0" marL="0">
              <a:buNone/>
            </a:pPr>
            <a:r>
              <a:rPr lang="en-US" sz="950" dirty="0">
                <a:solidFill>
                  <a:srgbClr val="1A1A1A"/>
                </a:solidFill>
                <a:latin typeface="Arial" pitchFamily="34" charset="0"/>
                <a:ea typeface="Arial" pitchFamily="34" charset="-122"/>
                <a:cs typeface="Arial" pitchFamily="34" charset="-120"/>
              </a:rPr>
              <a:t>Network answers without releasing any raw personal data</a:t>
            </a:r>
            <a:endParaRPr lang="en-US" sz="950" dirty="0"/>
          </a:p>
        </p:txBody>
      </p:sp>
      <p:sp>
        <p:nvSpPr>
          <p:cNvPr id="30" name="Shape 28"/>
          <p:cNvSpPr/>
          <p:nvPr/>
        </p:nvSpPr>
        <p:spPr>
          <a:xfrm>
            <a:off x="4846320" y="2999232"/>
            <a:ext cx="109728" cy="109728"/>
          </a:xfrm>
          <a:prstGeom prst="ellipse">
            <a:avLst/>
          </a:prstGeom>
          <a:solidFill>
            <a:srgbClr val="1D9E75"/>
          </a:solidFill>
          <a:ln w="12700">
            <a:solidFill>
              <a:srgbClr val="1D9E75"/>
            </a:solidFill>
            <a:prstDash val="solid"/>
          </a:ln>
        </p:spPr>
      </p:sp>
      <p:sp>
        <p:nvSpPr>
          <p:cNvPr id="31" name="Text 29"/>
          <p:cNvSpPr/>
          <p:nvPr/>
        </p:nvSpPr>
        <p:spPr>
          <a:xfrm>
            <a:off x="5029200" y="2944368"/>
            <a:ext cx="3474720" cy="347472"/>
          </a:xfrm>
          <a:prstGeom prst="rect">
            <a:avLst/>
          </a:prstGeom>
          <a:noFill/>
          <a:ln/>
        </p:spPr>
        <p:txBody>
          <a:bodyPr wrap="square" rtlCol="0" anchor="ctr"/>
          <a:lstStyle/>
          <a:p>
            <a:pPr indent="0" marL="0">
              <a:buNone/>
            </a:pPr>
            <a:r>
              <a:rPr lang="en-US" sz="950" dirty="0">
                <a:solidFill>
                  <a:srgbClr val="1A1A1A"/>
                </a:solidFill>
                <a:latin typeface="Arial" pitchFamily="34" charset="0"/>
                <a:ea typeface="Arial" pitchFamily="34" charset="-122"/>
                <a:cs typeface="Arial" pitchFamily="34" charset="-120"/>
              </a:rPr>
              <a:t>AI trust engine scores signals → 0-100 confidence score</a:t>
            </a:r>
            <a:endParaRPr lang="en-US" sz="950" dirty="0"/>
          </a:p>
        </p:txBody>
      </p:sp>
      <p:sp>
        <p:nvSpPr>
          <p:cNvPr id="32" name="Shape 30"/>
          <p:cNvSpPr/>
          <p:nvPr/>
        </p:nvSpPr>
        <p:spPr>
          <a:xfrm>
            <a:off x="4846320" y="3401568"/>
            <a:ext cx="109728" cy="109728"/>
          </a:xfrm>
          <a:prstGeom prst="ellipse">
            <a:avLst/>
          </a:prstGeom>
          <a:solidFill>
            <a:srgbClr val="1D9E75"/>
          </a:solidFill>
          <a:ln w="12700">
            <a:solidFill>
              <a:srgbClr val="1D9E75"/>
            </a:solidFill>
            <a:prstDash val="solid"/>
          </a:ln>
        </p:spPr>
      </p:sp>
      <p:sp>
        <p:nvSpPr>
          <p:cNvPr id="33" name="Text 31"/>
          <p:cNvSpPr/>
          <p:nvPr/>
        </p:nvSpPr>
        <p:spPr>
          <a:xfrm>
            <a:off x="5029200" y="3346704"/>
            <a:ext cx="3474720" cy="347472"/>
          </a:xfrm>
          <a:prstGeom prst="rect">
            <a:avLst/>
          </a:prstGeom>
          <a:noFill/>
          <a:ln/>
        </p:spPr>
        <p:txBody>
          <a:bodyPr wrap="square" rtlCol="0" anchor="ctr"/>
          <a:lstStyle/>
          <a:p>
            <a:pPr indent="0" marL="0">
              <a:buNone/>
            </a:pPr>
            <a:r>
              <a:rPr lang="en-US" sz="950" dirty="0">
                <a:solidFill>
                  <a:srgbClr val="1A1A1A"/>
                </a:solidFill>
                <a:latin typeface="Arial" pitchFamily="34" charset="0"/>
                <a:ea typeface="Arial" pitchFamily="34" charset="-122"/>
                <a:cs typeface="Arial" pitchFamily="34" charset="-120"/>
              </a:rPr>
              <a:t>VID Certificate issued — QR-linked, verifiable in real time</a:t>
            </a:r>
            <a:endParaRPr lang="en-US" sz="950" dirty="0"/>
          </a:p>
        </p:txBody>
      </p:sp>
      <p:sp>
        <p:nvSpPr>
          <p:cNvPr id="34" name="Shape 32"/>
          <p:cNvSpPr/>
          <p:nvPr/>
        </p:nvSpPr>
        <p:spPr>
          <a:xfrm>
            <a:off x="4846320" y="3803904"/>
            <a:ext cx="109728" cy="109728"/>
          </a:xfrm>
          <a:prstGeom prst="ellipse">
            <a:avLst/>
          </a:prstGeom>
          <a:solidFill>
            <a:srgbClr val="1D9E75"/>
          </a:solidFill>
          <a:ln w="12700">
            <a:solidFill>
              <a:srgbClr val="1D9E75"/>
            </a:solidFill>
            <a:prstDash val="solid"/>
          </a:ln>
        </p:spPr>
      </p:sp>
      <p:sp>
        <p:nvSpPr>
          <p:cNvPr id="35" name="Text 33"/>
          <p:cNvSpPr/>
          <p:nvPr/>
        </p:nvSpPr>
        <p:spPr>
          <a:xfrm>
            <a:off x="5029200" y="3749040"/>
            <a:ext cx="3474720" cy="347472"/>
          </a:xfrm>
          <a:prstGeom prst="rect">
            <a:avLst/>
          </a:prstGeom>
          <a:noFill/>
          <a:ln/>
        </p:spPr>
        <p:txBody>
          <a:bodyPr wrap="square" rtlCol="0" anchor="ctr"/>
          <a:lstStyle/>
          <a:p>
            <a:pPr indent="0" marL="0">
              <a:buNone/>
            </a:pPr>
            <a:r>
              <a:rPr lang="en-US" sz="950" dirty="0">
                <a:solidFill>
                  <a:srgbClr val="1A1A1A"/>
                </a:solidFill>
                <a:latin typeface="Arial" pitchFamily="34" charset="0"/>
                <a:ea typeface="Arial" pitchFamily="34" charset="-122"/>
                <a:cs typeface="Arial" pitchFamily="34" charset="-120"/>
              </a:rPr>
              <a:t>Works on any phone · no biometrics · no hardware needed</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8F6"/>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D9E75"/>
          </a:solidFill>
          <a:ln w="12700">
            <a:solidFill>
              <a:srgbClr val="1D9E75"/>
            </a:solidFill>
            <a:prstDash val="solid"/>
          </a:ln>
        </p:spPr>
      </p:sp>
      <p:sp>
        <p:nvSpPr>
          <p:cNvPr id="3" name="Shape 1"/>
          <p:cNvSpPr/>
          <p:nvPr/>
        </p:nvSpPr>
        <p:spPr>
          <a:xfrm>
            <a:off x="0" y="4983480"/>
            <a:ext cx="9144000" cy="164592"/>
          </a:xfrm>
          <a:prstGeom prst="rect">
            <a:avLst/>
          </a:prstGeom>
          <a:solidFill>
            <a:srgbClr val="085041"/>
          </a:solidFill>
          <a:ln w="12700">
            <a:solidFill>
              <a:srgbClr val="085041"/>
            </a:solidFill>
            <a:prstDash val="solid"/>
          </a:ln>
        </p:spPr>
      </p:sp>
      <p:sp>
        <p:nvSpPr>
          <p:cNvPr id="4" name="Text 2"/>
          <p:cNvSpPr/>
          <p:nvPr/>
        </p:nvSpPr>
        <p:spPr>
          <a:xfrm>
            <a:off x="274320" y="4992624"/>
            <a:ext cx="8595360" cy="146304"/>
          </a:xfrm>
          <a:prstGeom prst="rect">
            <a:avLst/>
          </a:prstGeom>
          <a:noFill/>
          <a:ln/>
        </p:spPr>
        <p:txBody>
          <a:bodyPr wrap="square" rtlCol="0" anchor="ctr"/>
          <a:lstStyle/>
          <a:p>
            <a:pPr algn="ctr" indent="0" marL="0">
              <a:buNone/>
            </a:pPr>
            <a:r>
              <a:rPr lang="en-US" sz="700" dirty="0">
                <a:solidFill>
                  <a:srgbClr val="5DCAA5"/>
                </a:solidFill>
                <a:latin typeface="Arial" pitchFamily="34" charset="0"/>
                <a:ea typeface="Arial" pitchFamily="34" charset="-122"/>
                <a:cs typeface="Arial" pitchFamily="34" charset="-120"/>
              </a:rPr>
              <a:t>VID · Virtual ID · Africa Ignite Hackathon 2026</a:t>
            </a:r>
            <a:endParaRPr lang="en-US" sz="700" dirty="0"/>
          </a:p>
        </p:txBody>
      </p:sp>
      <p:sp>
        <p:nvSpPr>
          <p:cNvPr id="5" name="Shape 3"/>
          <p:cNvSpPr/>
          <p:nvPr/>
        </p:nvSpPr>
        <p:spPr>
          <a:xfrm>
            <a:off x="411480" y="256032"/>
            <a:ext cx="2267712" cy="228600"/>
          </a:xfrm>
          <a:prstGeom prst="roundRect">
            <a:avLst>
              <a:gd name="adj" fmla="val 20000"/>
            </a:avLst>
          </a:prstGeom>
          <a:solidFill>
            <a:srgbClr val="1D9E75"/>
          </a:solidFill>
          <a:ln w="12700">
            <a:solidFill>
              <a:srgbClr val="1D9E75"/>
            </a:solidFill>
            <a:prstDash val="solid"/>
          </a:ln>
        </p:spPr>
      </p:sp>
      <p:sp>
        <p:nvSpPr>
          <p:cNvPr id="6" name="Text 4"/>
          <p:cNvSpPr/>
          <p:nvPr/>
        </p:nvSpPr>
        <p:spPr>
          <a:xfrm>
            <a:off x="411480" y="256032"/>
            <a:ext cx="2267712" cy="228600"/>
          </a:xfrm>
          <a:prstGeom prst="rect">
            <a:avLst/>
          </a:prstGeom>
          <a:noFill/>
          <a:ln/>
        </p:spPr>
        <p:txBody>
          <a:bodyPr wrap="square" rtlCol="0" anchor="ctr"/>
          <a:lstStyle/>
          <a:p>
            <a:pPr algn="ctr" indent="0" marL="0">
              <a:buNone/>
            </a:pPr>
            <a:r>
              <a:rPr lang="en-US" sz="800" b="1" spc="100" kern="0" dirty="0">
                <a:solidFill>
                  <a:srgbClr val="FFFFFF"/>
                </a:solidFill>
                <a:latin typeface="Arial" pitchFamily="34" charset="0"/>
                <a:ea typeface="Arial" pitchFamily="34" charset="-122"/>
                <a:cs typeface="Arial" pitchFamily="34" charset="-120"/>
              </a:rPr>
              <a:t>PROTOTYPE ARCHITECTURE</a:t>
            </a:r>
            <a:endParaRPr lang="en-US" sz="800" dirty="0"/>
          </a:p>
        </p:txBody>
      </p:sp>
      <p:sp>
        <p:nvSpPr>
          <p:cNvPr id="7" name="Text 5"/>
          <p:cNvSpPr/>
          <p:nvPr/>
        </p:nvSpPr>
        <p:spPr>
          <a:xfrm>
            <a:off x="411480" y="566928"/>
            <a:ext cx="8321040" cy="411480"/>
          </a:xfrm>
          <a:prstGeom prst="rect">
            <a:avLst/>
          </a:prstGeom>
          <a:noFill/>
          <a:ln/>
        </p:spPr>
        <p:txBody>
          <a:bodyPr wrap="square" rtlCol="0" anchor="ctr"/>
          <a:lstStyle/>
          <a:p>
            <a:pPr indent="0" marL="0">
              <a:buNone/>
            </a:pPr>
            <a:r>
              <a:rPr lang="en-US" sz="2000" b="1" dirty="0">
                <a:solidFill>
                  <a:srgbClr val="1A1A1A"/>
                </a:solidFill>
                <a:latin typeface="Arial" pitchFamily="34" charset="0"/>
                <a:ea typeface="Arial" pitchFamily="34" charset="-122"/>
                <a:cs typeface="Arial" pitchFamily="34" charset="-120"/>
              </a:rPr>
              <a:t>4-Layer Stack — What We Are Building</a:t>
            </a:r>
            <a:endParaRPr lang="en-US" sz="2000" dirty="0"/>
          </a:p>
        </p:txBody>
      </p:sp>
      <p:sp>
        <p:nvSpPr>
          <p:cNvPr id="8" name="Shape 6"/>
          <p:cNvSpPr/>
          <p:nvPr/>
        </p:nvSpPr>
        <p:spPr>
          <a:xfrm>
            <a:off x="411480" y="1051560"/>
            <a:ext cx="8321040" cy="841248"/>
          </a:xfrm>
          <a:prstGeom prst="roundRect">
            <a:avLst>
              <a:gd name="adj" fmla="val 8696"/>
            </a:avLst>
          </a:prstGeom>
          <a:solidFill>
            <a:srgbClr val="E1F5EE"/>
          </a:solidFill>
          <a:ln w="6350">
            <a:solidFill>
              <a:srgbClr val="DDDDDD"/>
            </a:solidFill>
            <a:prstDash val="solid"/>
          </a:ln>
          <a:effectLst>
            <a:outerShdw sx="100000" sy="100000" kx="0" ky="0" algn="bl" rotWithShape="0" blurRad="50800" dist="12700" dir="8100000">
              <a:srgbClr val="000000">
                <a:alpha val="7000"/>
              </a:srgbClr>
            </a:outerShdw>
          </a:effectLst>
        </p:spPr>
      </p:sp>
      <p:sp>
        <p:nvSpPr>
          <p:cNvPr id="9" name="Shape 7"/>
          <p:cNvSpPr/>
          <p:nvPr/>
        </p:nvSpPr>
        <p:spPr>
          <a:xfrm>
            <a:off x="411480" y="1051560"/>
            <a:ext cx="1005840" cy="841248"/>
          </a:xfrm>
          <a:prstGeom prst="roundRect">
            <a:avLst>
              <a:gd name="adj" fmla="val 8696"/>
            </a:avLst>
          </a:prstGeom>
          <a:solidFill>
            <a:srgbClr val="1D9E75"/>
          </a:solidFill>
          <a:ln w="12700">
            <a:solidFill>
              <a:srgbClr val="1D9E75"/>
            </a:solidFill>
            <a:prstDash val="solid"/>
          </a:ln>
        </p:spPr>
      </p:sp>
      <p:sp>
        <p:nvSpPr>
          <p:cNvPr id="10" name="Text 8"/>
          <p:cNvSpPr/>
          <p:nvPr/>
        </p:nvSpPr>
        <p:spPr>
          <a:xfrm>
            <a:off x="411480" y="1124712"/>
            <a:ext cx="1005840" cy="36576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Layer 1</a:t>
            </a:r>
            <a:endParaRPr lang="en-US" sz="1000" dirty="0"/>
          </a:p>
        </p:txBody>
      </p:sp>
      <p:sp>
        <p:nvSpPr>
          <p:cNvPr id="11" name="Text 9"/>
          <p:cNvSpPr/>
          <p:nvPr/>
        </p:nvSpPr>
        <p:spPr>
          <a:xfrm>
            <a:off x="1508760" y="1106424"/>
            <a:ext cx="7040880" cy="274320"/>
          </a:xfrm>
          <a:prstGeom prst="rect">
            <a:avLst/>
          </a:prstGeom>
          <a:noFill/>
          <a:ln/>
        </p:spPr>
        <p:txBody>
          <a:bodyPr wrap="square" rtlCol="0" anchor="ctr"/>
          <a:lstStyle/>
          <a:p>
            <a:pPr indent="0" marL="0">
              <a:buNone/>
            </a:pPr>
            <a:r>
              <a:rPr lang="en-US" sz="1200" b="1" dirty="0">
                <a:solidFill>
                  <a:srgbClr val="1A1A1A"/>
                </a:solidFill>
                <a:latin typeface="Arial" pitchFamily="34" charset="0"/>
                <a:ea typeface="Arial" pitchFamily="34" charset="-122"/>
                <a:cs typeface="Arial" pitchFamily="34" charset="-120"/>
              </a:rPr>
              <a:t>Frontend (React + Tailwind)</a:t>
            </a:r>
            <a:endParaRPr lang="en-US" sz="1200" dirty="0"/>
          </a:p>
        </p:txBody>
      </p:sp>
      <p:sp>
        <p:nvSpPr>
          <p:cNvPr id="12" name="Text 10"/>
          <p:cNvSpPr/>
          <p:nvPr/>
        </p:nvSpPr>
        <p:spPr>
          <a:xfrm>
            <a:off x="1508760" y="1380744"/>
            <a:ext cx="7040880" cy="182880"/>
          </a:xfrm>
          <a:prstGeom prst="rect">
            <a:avLst/>
          </a:prstGeom>
          <a:noFill/>
          <a:ln/>
        </p:spPr>
        <p:txBody>
          <a:bodyPr wrap="square" rtlCol="0" anchor="ctr"/>
          <a:lstStyle/>
          <a:p>
            <a:pPr indent="0" marL="0">
              <a:buNone/>
            </a:pPr>
            <a:r>
              <a:rPr lang="en-US" sz="900" dirty="0">
                <a:solidFill>
                  <a:srgbClr val="888888"/>
                </a:solidFill>
                <a:latin typeface="Arial" pitchFamily="34" charset="0"/>
                <a:ea typeface="Arial" pitchFamily="34" charset="-122"/>
                <a:cs typeface="Arial" pitchFamily="34" charset="-120"/>
              </a:rPr>
              <a:t>→  Enrollment form · Country auto-detect · Multi-SIM input</a:t>
            </a:r>
            <a:endParaRPr lang="en-US" sz="900" dirty="0"/>
          </a:p>
        </p:txBody>
      </p:sp>
      <p:sp>
        <p:nvSpPr>
          <p:cNvPr id="13" name="Text 11"/>
          <p:cNvSpPr/>
          <p:nvPr/>
        </p:nvSpPr>
        <p:spPr>
          <a:xfrm>
            <a:off x="1508760" y="1563624"/>
            <a:ext cx="7040880" cy="182880"/>
          </a:xfrm>
          <a:prstGeom prst="rect">
            <a:avLst/>
          </a:prstGeom>
          <a:noFill/>
          <a:ln/>
        </p:spPr>
        <p:txBody>
          <a:bodyPr wrap="square" rtlCol="0" anchor="ctr"/>
          <a:lstStyle/>
          <a:p>
            <a:pPr indent="0" marL="0">
              <a:buNone/>
            </a:pPr>
            <a:r>
              <a:rPr lang="en-US" sz="900" dirty="0">
                <a:solidFill>
                  <a:srgbClr val="888888"/>
                </a:solidFill>
                <a:latin typeface="Arial" pitchFamily="34" charset="0"/>
                <a:ea typeface="Arial" pitchFamily="34" charset="-122"/>
                <a:cs typeface="Arial" pitchFamily="34" charset="-120"/>
              </a:rPr>
              <a:t>→  Trust score display · Signal breakdown · AI explanation</a:t>
            </a:r>
            <a:endParaRPr lang="en-US" sz="900" dirty="0"/>
          </a:p>
        </p:txBody>
      </p:sp>
      <p:sp>
        <p:nvSpPr>
          <p:cNvPr id="14" name="Text 12"/>
          <p:cNvSpPr/>
          <p:nvPr/>
        </p:nvSpPr>
        <p:spPr>
          <a:xfrm>
            <a:off x="1508760" y="1746504"/>
            <a:ext cx="7040880" cy="182880"/>
          </a:xfrm>
          <a:prstGeom prst="rect">
            <a:avLst/>
          </a:prstGeom>
          <a:noFill/>
          <a:ln/>
        </p:spPr>
        <p:txBody>
          <a:bodyPr wrap="square" rtlCol="0" anchor="ctr"/>
          <a:lstStyle/>
          <a:p>
            <a:pPr indent="0" marL="0">
              <a:buNone/>
            </a:pPr>
            <a:r>
              <a:rPr lang="en-US" sz="900" dirty="0">
                <a:solidFill>
                  <a:srgbClr val="888888"/>
                </a:solidFill>
                <a:latin typeface="Arial" pitchFamily="34" charset="0"/>
                <a:ea typeface="Arial" pitchFamily="34" charset="-122"/>
                <a:cs typeface="Arial" pitchFamily="34" charset="-120"/>
              </a:rPr>
              <a:t>→  VID certificate render · QR generation · Verifier screen</a:t>
            </a:r>
            <a:endParaRPr lang="en-US" sz="900" dirty="0"/>
          </a:p>
        </p:txBody>
      </p:sp>
      <p:sp>
        <p:nvSpPr>
          <p:cNvPr id="15" name="Shape 13"/>
          <p:cNvSpPr/>
          <p:nvPr/>
        </p:nvSpPr>
        <p:spPr>
          <a:xfrm>
            <a:off x="411480" y="1984248"/>
            <a:ext cx="8321040" cy="841248"/>
          </a:xfrm>
          <a:prstGeom prst="roundRect">
            <a:avLst>
              <a:gd name="adj" fmla="val 8696"/>
            </a:avLst>
          </a:prstGeom>
          <a:solidFill>
            <a:srgbClr val="EEEDFE"/>
          </a:solidFill>
          <a:ln w="6350">
            <a:solidFill>
              <a:srgbClr val="DDDDDD"/>
            </a:solidFill>
            <a:prstDash val="solid"/>
          </a:ln>
          <a:effectLst>
            <a:outerShdw sx="100000" sy="100000" kx="0" ky="0" algn="bl" rotWithShape="0" blurRad="50800" dist="12700" dir="8100000">
              <a:srgbClr val="000000">
                <a:alpha val="7000"/>
              </a:srgbClr>
            </a:outerShdw>
          </a:effectLst>
        </p:spPr>
      </p:sp>
      <p:sp>
        <p:nvSpPr>
          <p:cNvPr id="16" name="Shape 14"/>
          <p:cNvSpPr/>
          <p:nvPr/>
        </p:nvSpPr>
        <p:spPr>
          <a:xfrm>
            <a:off x="411480" y="1984248"/>
            <a:ext cx="1005840" cy="841248"/>
          </a:xfrm>
          <a:prstGeom prst="roundRect">
            <a:avLst>
              <a:gd name="adj" fmla="val 8696"/>
            </a:avLst>
          </a:prstGeom>
          <a:solidFill>
            <a:srgbClr val="3C3489"/>
          </a:solidFill>
          <a:ln w="12700">
            <a:solidFill>
              <a:srgbClr val="3C3489"/>
            </a:solidFill>
            <a:prstDash val="solid"/>
          </a:ln>
        </p:spPr>
      </p:sp>
      <p:sp>
        <p:nvSpPr>
          <p:cNvPr id="17" name="Text 15"/>
          <p:cNvSpPr/>
          <p:nvPr/>
        </p:nvSpPr>
        <p:spPr>
          <a:xfrm>
            <a:off x="411480" y="2057400"/>
            <a:ext cx="1005840" cy="36576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Layer 2</a:t>
            </a:r>
            <a:endParaRPr lang="en-US" sz="1000" dirty="0"/>
          </a:p>
        </p:txBody>
      </p:sp>
      <p:sp>
        <p:nvSpPr>
          <p:cNvPr id="18" name="Text 16"/>
          <p:cNvSpPr/>
          <p:nvPr/>
        </p:nvSpPr>
        <p:spPr>
          <a:xfrm>
            <a:off x="1508760" y="2039112"/>
            <a:ext cx="7040880" cy="274320"/>
          </a:xfrm>
          <a:prstGeom prst="rect">
            <a:avLst/>
          </a:prstGeom>
          <a:noFill/>
          <a:ln/>
        </p:spPr>
        <p:txBody>
          <a:bodyPr wrap="square" rtlCol="0" anchor="ctr"/>
          <a:lstStyle/>
          <a:p>
            <a:pPr indent="0" marL="0">
              <a:buNone/>
            </a:pPr>
            <a:r>
              <a:rPr lang="en-US" sz="1200" b="1" dirty="0">
                <a:solidFill>
                  <a:srgbClr val="1A1A1A"/>
                </a:solidFill>
                <a:latin typeface="Arial" pitchFamily="34" charset="0"/>
                <a:ea typeface="Arial" pitchFamily="34" charset="-122"/>
                <a:cs typeface="Arial" pitchFamily="34" charset="-120"/>
              </a:rPr>
              <a:t>Backend API (Node.js / Express)</a:t>
            </a:r>
            <a:endParaRPr lang="en-US" sz="1200" dirty="0"/>
          </a:p>
        </p:txBody>
      </p:sp>
      <p:sp>
        <p:nvSpPr>
          <p:cNvPr id="19" name="Text 17"/>
          <p:cNvSpPr/>
          <p:nvPr/>
        </p:nvSpPr>
        <p:spPr>
          <a:xfrm>
            <a:off x="1508760" y="2313432"/>
            <a:ext cx="7040880" cy="182880"/>
          </a:xfrm>
          <a:prstGeom prst="rect">
            <a:avLst/>
          </a:prstGeom>
          <a:noFill/>
          <a:ln/>
        </p:spPr>
        <p:txBody>
          <a:bodyPr wrap="square" rtlCol="0" anchor="ctr"/>
          <a:lstStyle/>
          <a:p>
            <a:pPr indent="0" marL="0">
              <a:buNone/>
            </a:pPr>
            <a:r>
              <a:rPr lang="en-US" sz="900" dirty="0">
                <a:solidFill>
                  <a:srgbClr val="888888"/>
                </a:solidFill>
                <a:latin typeface="Arial" pitchFamily="34" charset="0"/>
                <a:ea typeface="Arial" pitchFamily="34" charset="-122"/>
                <a:cs typeface="Arial" pitchFamily="34" charset="-120"/>
              </a:rPr>
              <a:t>→  POST /enroll → calls all CAMARA APIs → returns score JSON</a:t>
            </a:r>
            <a:endParaRPr lang="en-US" sz="900" dirty="0"/>
          </a:p>
        </p:txBody>
      </p:sp>
      <p:sp>
        <p:nvSpPr>
          <p:cNvPr id="20" name="Text 18"/>
          <p:cNvSpPr/>
          <p:nvPr/>
        </p:nvSpPr>
        <p:spPr>
          <a:xfrm>
            <a:off x="1508760" y="2496312"/>
            <a:ext cx="7040880" cy="182880"/>
          </a:xfrm>
          <a:prstGeom prst="rect">
            <a:avLst/>
          </a:prstGeom>
          <a:noFill/>
          <a:ln/>
        </p:spPr>
        <p:txBody>
          <a:bodyPr wrap="square" rtlCol="0" anchor="ctr"/>
          <a:lstStyle/>
          <a:p>
            <a:pPr indent="0" marL="0">
              <a:buNone/>
            </a:pPr>
            <a:r>
              <a:rPr lang="en-US" sz="900" dirty="0">
                <a:solidFill>
                  <a:srgbClr val="888888"/>
                </a:solidFill>
                <a:latin typeface="Arial" pitchFamily="34" charset="0"/>
                <a:ea typeface="Arial" pitchFamily="34" charset="-122"/>
                <a:cs typeface="Arial" pitchFamily="34" charset="-120"/>
              </a:rPr>
              <a:t>→  GET /verify/:vidId → returns pass/fail + nationality only</a:t>
            </a:r>
            <a:endParaRPr lang="en-US" sz="900" dirty="0"/>
          </a:p>
        </p:txBody>
      </p:sp>
      <p:sp>
        <p:nvSpPr>
          <p:cNvPr id="21" name="Text 19"/>
          <p:cNvSpPr/>
          <p:nvPr/>
        </p:nvSpPr>
        <p:spPr>
          <a:xfrm>
            <a:off x="1508760" y="2679192"/>
            <a:ext cx="7040880" cy="182880"/>
          </a:xfrm>
          <a:prstGeom prst="rect">
            <a:avLst/>
          </a:prstGeom>
          <a:noFill/>
          <a:ln/>
        </p:spPr>
        <p:txBody>
          <a:bodyPr wrap="square" rtlCol="0" anchor="ctr"/>
          <a:lstStyle/>
          <a:p>
            <a:pPr indent="0" marL="0">
              <a:buNone/>
            </a:pPr>
            <a:r>
              <a:rPr lang="en-US" sz="900" dirty="0">
                <a:solidFill>
                  <a:srgbClr val="888888"/>
                </a:solidFill>
                <a:latin typeface="Arial" pitchFamily="34" charset="0"/>
                <a:ea typeface="Arial" pitchFamily="34" charset="-122"/>
                <a:cs typeface="Arial" pitchFamily="34" charset="-120"/>
              </a:rPr>
              <a:t>→  Consent manager · Multi-SIM handler · Trust scoring engine</a:t>
            </a:r>
            <a:endParaRPr lang="en-US" sz="900" dirty="0"/>
          </a:p>
        </p:txBody>
      </p:sp>
      <p:sp>
        <p:nvSpPr>
          <p:cNvPr id="22" name="Shape 20"/>
          <p:cNvSpPr/>
          <p:nvPr/>
        </p:nvSpPr>
        <p:spPr>
          <a:xfrm>
            <a:off x="411480" y="2916936"/>
            <a:ext cx="8321040" cy="841248"/>
          </a:xfrm>
          <a:prstGeom prst="roundRect">
            <a:avLst>
              <a:gd name="adj" fmla="val 8696"/>
            </a:avLst>
          </a:prstGeom>
          <a:solidFill>
            <a:srgbClr val="FAEEDA"/>
          </a:solidFill>
          <a:ln w="6350">
            <a:solidFill>
              <a:srgbClr val="DDDDDD"/>
            </a:solidFill>
            <a:prstDash val="solid"/>
          </a:ln>
          <a:effectLst>
            <a:outerShdw sx="100000" sy="100000" kx="0" ky="0" algn="bl" rotWithShape="0" blurRad="50800" dist="12700" dir="8100000">
              <a:srgbClr val="000000">
                <a:alpha val="7000"/>
              </a:srgbClr>
            </a:outerShdw>
          </a:effectLst>
        </p:spPr>
      </p:sp>
      <p:sp>
        <p:nvSpPr>
          <p:cNvPr id="23" name="Shape 21"/>
          <p:cNvSpPr/>
          <p:nvPr/>
        </p:nvSpPr>
        <p:spPr>
          <a:xfrm>
            <a:off x="411480" y="2916936"/>
            <a:ext cx="1005840" cy="841248"/>
          </a:xfrm>
          <a:prstGeom prst="roundRect">
            <a:avLst>
              <a:gd name="adj" fmla="val 8696"/>
            </a:avLst>
          </a:prstGeom>
          <a:solidFill>
            <a:srgbClr val="BA7517"/>
          </a:solidFill>
          <a:ln w="12700">
            <a:solidFill>
              <a:srgbClr val="BA7517"/>
            </a:solidFill>
            <a:prstDash val="solid"/>
          </a:ln>
        </p:spPr>
      </p:sp>
      <p:sp>
        <p:nvSpPr>
          <p:cNvPr id="24" name="Text 22"/>
          <p:cNvSpPr/>
          <p:nvPr/>
        </p:nvSpPr>
        <p:spPr>
          <a:xfrm>
            <a:off x="411480" y="2990088"/>
            <a:ext cx="1005840" cy="36576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Layer 3</a:t>
            </a:r>
            <a:endParaRPr lang="en-US" sz="1000" dirty="0"/>
          </a:p>
        </p:txBody>
      </p:sp>
      <p:sp>
        <p:nvSpPr>
          <p:cNvPr id="25" name="Text 23"/>
          <p:cNvSpPr/>
          <p:nvPr/>
        </p:nvSpPr>
        <p:spPr>
          <a:xfrm>
            <a:off x="1508760" y="2971800"/>
            <a:ext cx="7040880" cy="274320"/>
          </a:xfrm>
          <a:prstGeom prst="rect">
            <a:avLst/>
          </a:prstGeom>
          <a:noFill/>
          <a:ln/>
        </p:spPr>
        <p:txBody>
          <a:bodyPr wrap="square" rtlCol="0" anchor="ctr"/>
          <a:lstStyle/>
          <a:p>
            <a:pPr indent="0" marL="0">
              <a:buNone/>
            </a:pPr>
            <a:r>
              <a:rPr lang="en-US" sz="1200" b="1" dirty="0">
                <a:solidFill>
                  <a:srgbClr val="1A1A1A"/>
                </a:solidFill>
                <a:latin typeface="Arial" pitchFamily="34" charset="0"/>
                <a:ea typeface="Arial" pitchFamily="34" charset="-122"/>
                <a:cs typeface="Arial" pitchFamily="34" charset="-120"/>
              </a:rPr>
              <a:t>Nokia Network-as-Code / CAMARA APIs</a:t>
            </a:r>
            <a:endParaRPr lang="en-US" sz="1200" dirty="0"/>
          </a:p>
        </p:txBody>
      </p:sp>
      <p:sp>
        <p:nvSpPr>
          <p:cNvPr id="26" name="Text 24"/>
          <p:cNvSpPr/>
          <p:nvPr/>
        </p:nvSpPr>
        <p:spPr>
          <a:xfrm>
            <a:off x="1508760" y="3246120"/>
            <a:ext cx="7040880" cy="182880"/>
          </a:xfrm>
          <a:prstGeom prst="rect">
            <a:avLst/>
          </a:prstGeom>
          <a:noFill/>
          <a:ln/>
        </p:spPr>
        <p:txBody>
          <a:bodyPr wrap="square" rtlCol="0" anchor="ctr"/>
          <a:lstStyle/>
          <a:p>
            <a:pPr indent="0" marL="0">
              <a:buNone/>
            </a:pPr>
            <a:r>
              <a:rPr lang="en-US" sz="900" dirty="0">
                <a:solidFill>
                  <a:srgbClr val="888888"/>
                </a:solidFill>
                <a:latin typeface="Arial" pitchFamily="34" charset="0"/>
                <a:ea typeface="Arial" pitchFamily="34" charset="-122"/>
                <a:cs typeface="Arial" pitchFamily="34" charset="-120"/>
              </a:rPr>
              <a:t>→  SIM Swap · Number Verification · KYC Match (mandatory)</a:t>
            </a:r>
            <a:endParaRPr lang="en-US" sz="900" dirty="0"/>
          </a:p>
        </p:txBody>
      </p:sp>
      <p:sp>
        <p:nvSpPr>
          <p:cNvPr id="27" name="Text 25"/>
          <p:cNvSpPr/>
          <p:nvPr/>
        </p:nvSpPr>
        <p:spPr>
          <a:xfrm>
            <a:off x="1508760" y="3429000"/>
            <a:ext cx="7040880" cy="182880"/>
          </a:xfrm>
          <a:prstGeom prst="rect">
            <a:avLst/>
          </a:prstGeom>
          <a:noFill/>
          <a:ln/>
        </p:spPr>
        <p:txBody>
          <a:bodyPr wrap="square" rtlCol="0" anchor="ctr"/>
          <a:lstStyle/>
          <a:p>
            <a:pPr indent="0" marL="0">
              <a:buNone/>
            </a:pPr>
            <a:r>
              <a:rPr lang="en-US" sz="900" dirty="0">
                <a:solidFill>
                  <a:srgbClr val="888888"/>
                </a:solidFill>
                <a:latin typeface="Arial" pitchFamily="34" charset="0"/>
                <a:ea typeface="Arial" pitchFamily="34" charset="-122"/>
                <a:cs typeface="Arial" pitchFamily="34" charset="-120"/>
              </a:rPr>
              <a:t>→  Location Verification · Device Status (mandatory)</a:t>
            </a:r>
            <a:endParaRPr lang="en-US" sz="900" dirty="0"/>
          </a:p>
        </p:txBody>
      </p:sp>
      <p:sp>
        <p:nvSpPr>
          <p:cNvPr id="28" name="Text 26"/>
          <p:cNvSpPr/>
          <p:nvPr/>
        </p:nvSpPr>
        <p:spPr>
          <a:xfrm>
            <a:off x="1508760" y="3611880"/>
            <a:ext cx="7040880" cy="182880"/>
          </a:xfrm>
          <a:prstGeom prst="rect">
            <a:avLst/>
          </a:prstGeom>
          <a:noFill/>
          <a:ln/>
        </p:spPr>
        <p:txBody>
          <a:bodyPr wrap="square" rtlCol="0" anchor="ctr"/>
          <a:lstStyle/>
          <a:p>
            <a:pPr indent="0" marL="0">
              <a:buNone/>
            </a:pPr>
            <a:r>
              <a:rPr lang="en-US" sz="900" dirty="0">
                <a:solidFill>
                  <a:srgbClr val="888888"/>
                </a:solidFill>
                <a:latin typeface="Arial" pitchFamily="34" charset="0"/>
                <a:ea typeface="Arial" pitchFamily="34" charset="-122"/>
                <a:cs typeface="Arial" pitchFamily="34" charset="-120"/>
              </a:rPr>
              <a:t>→  Each API = yes/no answer · zero raw personal data returned</a:t>
            </a:r>
            <a:endParaRPr lang="en-US" sz="900" dirty="0"/>
          </a:p>
        </p:txBody>
      </p:sp>
      <p:sp>
        <p:nvSpPr>
          <p:cNvPr id="29" name="Shape 27"/>
          <p:cNvSpPr/>
          <p:nvPr/>
        </p:nvSpPr>
        <p:spPr>
          <a:xfrm>
            <a:off x="411480" y="3849624"/>
            <a:ext cx="8321040" cy="841248"/>
          </a:xfrm>
          <a:prstGeom prst="roundRect">
            <a:avLst>
              <a:gd name="adj" fmla="val 8696"/>
            </a:avLst>
          </a:prstGeom>
          <a:solidFill>
            <a:srgbClr val="FAECE7"/>
          </a:solidFill>
          <a:ln w="6350">
            <a:solidFill>
              <a:srgbClr val="DDDDDD"/>
            </a:solidFill>
            <a:prstDash val="solid"/>
          </a:ln>
          <a:effectLst>
            <a:outerShdw sx="100000" sy="100000" kx="0" ky="0" algn="bl" rotWithShape="0" blurRad="50800" dist="12700" dir="8100000">
              <a:srgbClr val="000000">
                <a:alpha val="7000"/>
              </a:srgbClr>
            </a:outerShdw>
          </a:effectLst>
        </p:spPr>
      </p:sp>
      <p:sp>
        <p:nvSpPr>
          <p:cNvPr id="30" name="Shape 28"/>
          <p:cNvSpPr/>
          <p:nvPr/>
        </p:nvSpPr>
        <p:spPr>
          <a:xfrm>
            <a:off x="411480" y="3849624"/>
            <a:ext cx="1005840" cy="841248"/>
          </a:xfrm>
          <a:prstGeom prst="roundRect">
            <a:avLst>
              <a:gd name="adj" fmla="val 8696"/>
            </a:avLst>
          </a:prstGeom>
          <a:solidFill>
            <a:srgbClr val="D85A30"/>
          </a:solidFill>
          <a:ln w="12700">
            <a:solidFill>
              <a:srgbClr val="D85A30"/>
            </a:solidFill>
            <a:prstDash val="solid"/>
          </a:ln>
        </p:spPr>
      </p:sp>
      <p:sp>
        <p:nvSpPr>
          <p:cNvPr id="31" name="Text 29"/>
          <p:cNvSpPr/>
          <p:nvPr/>
        </p:nvSpPr>
        <p:spPr>
          <a:xfrm>
            <a:off x="411480" y="3922776"/>
            <a:ext cx="1005840" cy="36576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Layer 4</a:t>
            </a:r>
            <a:endParaRPr lang="en-US" sz="1000" dirty="0"/>
          </a:p>
        </p:txBody>
      </p:sp>
      <p:sp>
        <p:nvSpPr>
          <p:cNvPr id="32" name="Text 30"/>
          <p:cNvSpPr/>
          <p:nvPr/>
        </p:nvSpPr>
        <p:spPr>
          <a:xfrm>
            <a:off x="1508760" y="3904488"/>
            <a:ext cx="7040880" cy="274320"/>
          </a:xfrm>
          <a:prstGeom prst="rect">
            <a:avLst/>
          </a:prstGeom>
          <a:noFill/>
          <a:ln/>
        </p:spPr>
        <p:txBody>
          <a:bodyPr wrap="square" rtlCol="0" anchor="ctr"/>
          <a:lstStyle/>
          <a:p>
            <a:pPr indent="0" marL="0">
              <a:buNone/>
            </a:pPr>
            <a:r>
              <a:rPr lang="en-US" sz="1200" b="1" dirty="0">
                <a:solidFill>
                  <a:srgbClr val="1A1A1A"/>
                </a:solidFill>
                <a:latin typeface="Arial" pitchFamily="34" charset="0"/>
                <a:ea typeface="Arial" pitchFamily="34" charset="-122"/>
                <a:cs typeface="Arial" pitchFamily="34" charset="-120"/>
              </a:rPr>
              <a:t>Output + AI Layer</a:t>
            </a:r>
            <a:endParaRPr lang="en-US" sz="1200" dirty="0"/>
          </a:p>
        </p:txBody>
      </p:sp>
      <p:sp>
        <p:nvSpPr>
          <p:cNvPr id="33" name="Text 31"/>
          <p:cNvSpPr/>
          <p:nvPr/>
        </p:nvSpPr>
        <p:spPr>
          <a:xfrm>
            <a:off x="1508760" y="4178808"/>
            <a:ext cx="7040880" cy="182880"/>
          </a:xfrm>
          <a:prstGeom prst="rect">
            <a:avLst/>
          </a:prstGeom>
          <a:noFill/>
          <a:ln/>
        </p:spPr>
        <p:txBody>
          <a:bodyPr wrap="square" rtlCol="0" anchor="ctr"/>
          <a:lstStyle/>
          <a:p>
            <a:pPr indent="0" marL="0">
              <a:buNone/>
            </a:pPr>
            <a:r>
              <a:rPr lang="en-US" sz="900" dirty="0">
                <a:solidFill>
                  <a:srgbClr val="888888"/>
                </a:solidFill>
                <a:latin typeface="Arial" pitchFamily="34" charset="0"/>
                <a:ea typeface="Arial" pitchFamily="34" charset="-122"/>
                <a:cs typeface="Arial" pitchFamily="34" charset="-120"/>
              </a:rPr>
              <a:t>→  VID Certificate · QR-linked · Signed · Expires 1 year</a:t>
            </a:r>
            <a:endParaRPr lang="en-US" sz="900" dirty="0"/>
          </a:p>
        </p:txBody>
      </p:sp>
      <p:sp>
        <p:nvSpPr>
          <p:cNvPr id="34" name="Text 32"/>
          <p:cNvSpPr/>
          <p:nvPr/>
        </p:nvSpPr>
        <p:spPr>
          <a:xfrm>
            <a:off x="1508760" y="4361688"/>
            <a:ext cx="7040880" cy="182880"/>
          </a:xfrm>
          <a:prstGeom prst="rect">
            <a:avLst/>
          </a:prstGeom>
          <a:noFill/>
          <a:ln/>
        </p:spPr>
        <p:txBody>
          <a:bodyPr wrap="square" rtlCol="0" anchor="ctr"/>
          <a:lstStyle/>
          <a:p>
            <a:pPr indent="0" marL="0">
              <a:buNone/>
            </a:pPr>
            <a:r>
              <a:rPr lang="en-US" sz="900" dirty="0">
                <a:solidFill>
                  <a:srgbClr val="888888"/>
                </a:solidFill>
                <a:latin typeface="Arial" pitchFamily="34" charset="0"/>
                <a:ea typeface="Arial" pitchFamily="34" charset="-122"/>
                <a:cs typeface="Arial" pitchFamily="34" charset="-120"/>
              </a:rPr>
              <a:t>→  AI trust explainer (plain language per country)</a:t>
            </a:r>
            <a:endParaRPr lang="en-US" sz="900" dirty="0"/>
          </a:p>
        </p:txBody>
      </p:sp>
      <p:sp>
        <p:nvSpPr>
          <p:cNvPr id="35" name="Text 33"/>
          <p:cNvSpPr/>
          <p:nvPr/>
        </p:nvSpPr>
        <p:spPr>
          <a:xfrm>
            <a:off x="1508760" y="4544568"/>
            <a:ext cx="7040880" cy="182880"/>
          </a:xfrm>
          <a:prstGeom prst="rect">
            <a:avLst/>
          </a:prstGeom>
          <a:noFill/>
          <a:ln/>
        </p:spPr>
        <p:txBody>
          <a:bodyPr wrap="square" rtlCol="0" anchor="ctr"/>
          <a:lstStyle/>
          <a:p>
            <a:pPr indent="0" marL="0">
              <a:buNone/>
            </a:pPr>
            <a:r>
              <a:rPr lang="en-US" sz="900" dirty="0">
                <a:solidFill>
                  <a:srgbClr val="888888"/>
                </a:solidFill>
                <a:latin typeface="Arial" pitchFamily="34" charset="0"/>
                <a:ea typeface="Arial" pitchFamily="34" charset="-122"/>
                <a:cs typeface="Arial" pitchFamily="34" charset="-120"/>
              </a:rPr>
              <a:t>→  Country config: 54 AU nations · hash-only storage</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8F6"/>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D9E75"/>
          </a:solidFill>
          <a:ln w="12700">
            <a:solidFill>
              <a:srgbClr val="1D9E75"/>
            </a:solidFill>
            <a:prstDash val="solid"/>
          </a:ln>
        </p:spPr>
      </p:sp>
      <p:sp>
        <p:nvSpPr>
          <p:cNvPr id="3" name="Shape 1"/>
          <p:cNvSpPr/>
          <p:nvPr/>
        </p:nvSpPr>
        <p:spPr>
          <a:xfrm>
            <a:off x="0" y="4983480"/>
            <a:ext cx="9144000" cy="164592"/>
          </a:xfrm>
          <a:prstGeom prst="rect">
            <a:avLst/>
          </a:prstGeom>
          <a:solidFill>
            <a:srgbClr val="085041"/>
          </a:solidFill>
          <a:ln w="12700">
            <a:solidFill>
              <a:srgbClr val="085041"/>
            </a:solidFill>
            <a:prstDash val="solid"/>
          </a:ln>
        </p:spPr>
      </p:sp>
      <p:sp>
        <p:nvSpPr>
          <p:cNvPr id="4" name="Text 2"/>
          <p:cNvSpPr/>
          <p:nvPr/>
        </p:nvSpPr>
        <p:spPr>
          <a:xfrm>
            <a:off x="274320" y="4992624"/>
            <a:ext cx="8595360" cy="146304"/>
          </a:xfrm>
          <a:prstGeom prst="rect">
            <a:avLst/>
          </a:prstGeom>
          <a:noFill/>
          <a:ln/>
        </p:spPr>
        <p:txBody>
          <a:bodyPr wrap="square" rtlCol="0" anchor="ctr"/>
          <a:lstStyle/>
          <a:p>
            <a:pPr algn="ctr" indent="0" marL="0">
              <a:buNone/>
            </a:pPr>
            <a:r>
              <a:rPr lang="en-US" sz="700" dirty="0">
                <a:solidFill>
                  <a:srgbClr val="5DCAA5"/>
                </a:solidFill>
                <a:latin typeface="Arial" pitchFamily="34" charset="0"/>
                <a:ea typeface="Arial" pitchFamily="34" charset="-122"/>
                <a:cs typeface="Arial" pitchFamily="34" charset="-120"/>
              </a:rPr>
              <a:t>VID · Virtual ID · Africa Ignite Hackathon 2026</a:t>
            </a:r>
            <a:endParaRPr lang="en-US" sz="700" dirty="0"/>
          </a:p>
        </p:txBody>
      </p:sp>
      <p:sp>
        <p:nvSpPr>
          <p:cNvPr id="5" name="Shape 3"/>
          <p:cNvSpPr/>
          <p:nvPr/>
        </p:nvSpPr>
        <p:spPr>
          <a:xfrm>
            <a:off x="411480" y="256032"/>
            <a:ext cx="1197864" cy="228600"/>
          </a:xfrm>
          <a:prstGeom prst="roundRect">
            <a:avLst>
              <a:gd name="adj" fmla="val 20000"/>
            </a:avLst>
          </a:prstGeom>
          <a:solidFill>
            <a:srgbClr val="1D9E75"/>
          </a:solidFill>
          <a:ln w="12700">
            <a:solidFill>
              <a:srgbClr val="1D9E75"/>
            </a:solidFill>
            <a:prstDash val="solid"/>
          </a:ln>
        </p:spPr>
      </p:sp>
      <p:sp>
        <p:nvSpPr>
          <p:cNvPr id="6" name="Text 4"/>
          <p:cNvSpPr/>
          <p:nvPr/>
        </p:nvSpPr>
        <p:spPr>
          <a:xfrm>
            <a:off x="411480" y="256032"/>
            <a:ext cx="1197864" cy="228600"/>
          </a:xfrm>
          <a:prstGeom prst="rect">
            <a:avLst/>
          </a:prstGeom>
          <a:noFill/>
          <a:ln/>
        </p:spPr>
        <p:txBody>
          <a:bodyPr wrap="square" rtlCol="0" anchor="ctr"/>
          <a:lstStyle/>
          <a:p>
            <a:pPr algn="ctr" indent="0" marL="0">
              <a:buNone/>
            </a:pPr>
            <a:r>
              <a:rPr lang="en-US" sz="800" b="1" spc="100" kern="0" dirty="0">
                <a:solidFill>
                  <a:srgbClr val="FFFFFF"/>
                </a:solidFill>
                <a:latin typeface="Arial" pitchFamily="34" charset="0"/>
                <a:ea typeface="Arial" pitchFamily="34" charset="-122"/>
                <a:cs typeface="Arial" pitchFamily="34" charset="-120"/>
              </a:rPr>
              <a:t>API STACK</a:t>
            </a:r>
            <a:endParaRPr lang="en-US" sz="800" dirty="0"/>
          </a:p>
        </p:txBody>
      </p:sp>
      <p:sp>
        <p:nvSpPr>
          <p:cNvPr id="7" name="Text 5"/>
          <p:cNvSpPr/>
          <p:nvPr/>
        </p:nvSpPr>
        <p:spPr>
          <a:xfrm>
            <a:off x="411480" y="566928"/>
            <a:ext cx="8321040" cy="411480"/>
          </a:xfrm>
          <a:prstGeom prst="rect">
            <a:avLst/>
          </a:prstGeom>
          <a:noFill/>
          <a:ln/>
        </p:spPr>
        <p:txBody>
          <a:bodyPr wrap="square" rtlCol="0" anchor="ctr"/>
          <a:lstStyle/>
          <a:p>
            <a:pPr indent="0" marL="0">
              <a:buNone/>
            </a:pPr>
            <a:r>
              <a:rPr lang="en-US" sz="2000" b="1" dirty="0">
                <a:solidFill>
                  <a:srgbClr val="1A1A1A"/>
                </a:solidFill>
                <a:latin typeface="Arial" pitchFamily="34" charset="0"/>
                <a:ea typeface="Arial" pitchFamily="34" charset="-122"/>
                <a:cs typeface="Arial" pitchFamily="34" charset="-120"/>
              </a:rPr>
              <a:t>5 CAMARA APIs — Each Has a Logical Necessity</a:t>
            </a:r>
            <a:endParaRPr lang="en-US" sz="2000" dirty="0"/>
          </a:p>
        </p:txBody>
      </p:sp>
      <p:sp>
        <p:nvSpPr>
          <p:cNvPr id="8" name="Text 6"/>
          <p:cNvSpPr/>
          <p:nvPr/>
        </p:nvSpPr>
        <p:spPr>
          <a:xfrm>
            <a:off x="411480" y="1005840"/>
            <a:ext cx="8321040" cy="256032"/>
          </a:xfrm>
          <a:prstGeom prst="rect">
            <a:avLst/>
          </a:prstGeom>
          <a:noFill/>
          <a:ln/>
        </p:spPr>
        <p:txBody>
          <a:bodyPr wrap="square" rtlCol="0" anchor="ctr"/>
          <a:lstStyle/>
          <a:p>
            <a:pPr indent="0" marL="0">
              <a:buNone/>
            </a:pPr>
            <a:r>
              <a:rPr lang="en-US" sz="1000" i="1" dirty="0">
                <a:solidFill>
                  <a:srgbClr val="888888"/>
                </a:solidFill>
                <a:latin typeface="Arial" pitchFamily="34" charset="0"/>
                <a:ea typeface="Arial" pitchFamily="34" charset="-122"/>
                <a:cs typeface="Arial" pitchFamily="34" charset="-120"/>
              </a:rPr>
              <a:t>We are not stuffing APIs to score points. Each API serves a specific, irreplaceable role in building identity confidence.</a:t>
            </a:r>
            <a:endParaRPr lang="en-US" sz="1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11480" y="1316736"/>
          <a:ext cx="8321040" cy="3383280"/>
        </p:xfrm>
        <a:graphic>
          <a:graphicData uri="http://schemas.openxmlformats.org/drawingml/2006/table">
            <a:tbl>
              <a:tblPr/>
              <a:tblGrid>
                <a:gridCol w="1463040"/>
                <a:gridCol w="2194560"/>
                <a:gridCol w="3749040"/>
                <a:gridCol w="914400"/>
              </a:tblGrid>
              <a:tr h="566928">
                <a:tc>
                  <a:txBody>
                    <a:bodyPr/>
                    <a:lstStyle/>
                    <a:p>
                      <a:pPr indent="0" marL="0">
                        <a:buNone/>
                      </a:pPr>
                      <a:r>
                        <a:rPr lang="en-US" sz="1000" b="1" dirty="0">
                          <a:solidFill>
                            <a:srgbClr val="FFFFFF"/>
                          </a:solidFill>
                        </a:rPr>
                        <a:t>API</a:t>
                      </a:r>
                      <a:endParaRPr lang="en-US" sz="100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085041"/>
                    </a:solidFill>
                  </a:tcPr>
                </a:tc>
                <a:tc>
                  <a:txBody>
                    <a:bodyPr/>
                    <a:lstStyle/>
                    <a:p>
                      <a:pPr indent="0" marL="0">
                        <a:buNone/>
                      </a:pPr>
                      <a:r>
                        <a:rPr lang="en-US" sz="1000" b="1" dirty="0">
                          <a:solidFill>
                            <a:srgbClr val="FFFFFF"/>
                          </a:solidFill>
                        </a:rPr>
                        <a:t>Question asked</a:t>
                      </a:r>
                      <a:endParaRPr lang="en-US" sz="100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085041"/>
                    </a:solidFill>
                  </a:tcPr>
                </a:tc>
                <a:tc>
                  <a:txBody>
                    <a:bodyPr/>
                    <a:lstStyle/>
                    <a:p>
                      <a:pPr indent="0" marL="0">
                        <a:buNone/>
                      </a:pPr>
                      <a:r>
                        <a:rPr lang="en-US" sz="1000" b="1" dirty="0">
                          <a:solidFill>
                            <a:srgbClr val="FFFFFF"/>
                          </a:solidFill>
                        </a:rPr>
                        <a:t>Why it matters for identity</a:t>
                      </a:r>
                      <a:endParaRPr lang="en-US" sz="100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085041"/>
                    </a:solidFill>
                  </a:tcPr>
                </a:tc>
                <a:tc>
                  <a:txBody>
                    <a:bodyPr/>
                    <a:lstStyle/>
                    <a:p>
                      <a:pPr indent="0" marL="0">
                        <a:buNone/>
                      </a:pPr>
                      <a:r>
                        <a:rPr lang="en-US" sz="1000" b="1" dirty="0">
                          <a:solidFill>
                            <a:srgbClr val="FFFFFF"/>
                          </a:solidFill>
                        </a:rPr>
                        <a:t>Weight</a:t>
                      </a:r>
                      <a:endParaRPr lang="en-US" sz="100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085041"/>
                    </a:solidFill>
                  </a:tcPr>
                </a:tc>
              </a:tr>
              <a:tr h="566928">
                <a:tc>
                  <a:txBody>
                    <a:bodyPr/>
                    <a:lstStyle/>
                    <a:p>
                      <a:pPr indent="0" marL="0">
                        <a:buNone/>
                      </a:pPr>
                      <a:r>
                        <a:rPr lang="en-US" sz="1000" b="1" dirty="0">
                          <a:solidFill>
                            <a:srgbClr val="D85A30"/>
                          </a:solidFill>
                        </a:rPr>
                        <a:t>SIM Swap</a:t>
                      </a:r>
                      <a:endParaRPr lang="en-US" sz="100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950" i="1" dirty="0">
                          <a:solidFill>
                            <a:srgbClr val="1A1A1A"/>
                          </a:solidFill>
                        </a:rPr>
                        <a:t>Has SIM been swapped recently?</a:t>
                      </a:r>
                      <a:endParaRPr lang="en-US" sz="95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900" dirty="0">
                          <a:solidFill>
                            <a:srgbClr val="444444"/>
                          </a:solidFill>
                        </a:rPr>
                        <a:t>Strongest fraud signal. Recent swap = identity instability.</a:t>
                      </a:r>
                      <a:endParaRPr lang="en-US" sz="90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b="1" dirty="0">
                          <a:solidFill>
                            <a:srgbClr val="D85A30"/>
                          </a:solidFill>
                        </a:rPr>
                        <a:t>35%</a:t>
                      </a:r>
                      <a:endParaRPr lang="en-US" sz="110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566928">
                <a:tc>
                  <a:txBody>
                    <a:bodyPr/>
                    <a:lstStyle/>
                    <a:p>
                      <a:pPr indent="0" marL="0">
                        <a:buNone/>
                      </a:pPr>
                      <a:r>
                        <a:rPr lang="en-US" sz="1000" b="1" dirty="0">
                          <a:solidFill>
                            <a:srgbClr val="3C3489"/>
                          </a:solidFill>
                        </a:rPr>
                        <a:t>Number Verification</a:t>
                      </a:r>
                      <a:endParaRPr lang="en-US" sz="100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950" i="1" dirty="0">
                          <a:solidFill>
                            <a:srgbClr val="1A1A1A"/>
                          </a:solidFill>
                        </a:rPr>
                        <a:t>Is this number real and active?</a:t>
                      </a:r>
                      <a:endParaRPr lang="en-US" sz="95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900" dirty="0">
                          <a:solidFill>
                            <a:srgbClr val="444444"/>
                          </a:solidFill>
                        </a:rPr>
                        <a:t>Eliminates ghost numbers before any scoring begins.</a:t>
                      </a:r>
                      <a:endParaRPr lang="en-US" sz="90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b="1" dirty="0">
                          <a:solidFill>
                            <a:srgbClr val="3C3489"/>
                          </a:solidFill>
                        </a:rPr>
                        <a:t>20%</a:t>
                      </a:r>
                      <a:endParaRPr lang="en-US" sz="110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566928">
                <a:tc>
                  <a:txBody>
                    <a:bodyPr/>
                    <a:lstStyle/>
                    <a:p>
                      <a:pPr indent="0" marL="0">
                        <a:buNone/>
                      </a:pPr>
                      <a:r>
                        <a:rPr lang="en-US" sz="1000" b="1" dirty="0">
                          <a:solidFill>
                            <a:srgbClr val="BA7517"/>
                          </a:solidFill>
                        </a:rPr>
                        <a:t>KYC Match</a:t>
                      </a:r>
                      <a:endParaRPr lang="en-US" sz="100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950" i="1" dirty="0">
                          <a:solidFill>
                            <a:srgbClr val="1A1A1A"/>
                          </a:solidFill>
                        </a:rPr>
                        <a:t>Does subscriber profile match across SIMs?</a:t>
                      </a:r>
                      <a:endParaRPr lang="en-US" sz="95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900" dirty="0">
                          <a:solidFill>
                            <a:srgbClr val="444444"/>
                          </a:solidFill>
                        </a:rPr>
                        <a:t>Cross-SIM consistency — same name on 3 networks = strong signal.</a:t>
                      </a:r>
                      <a:endParaRPr lang="en-US" sz="90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b="1" dirty="0">
                          <a:solidFill>
                            <a:srgbClr val="BA7517"/>
                          </a:solidFill>
                        </a:rPr>
                        <a:t>20%</a:t>
                      </a:r>
                      <a:endParaRPr lang="en-US" sz="110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566928">
                <a:tc>
                  <a:txBody>
                    <a:bodyPr/>
                    <a:lstStyle/>
                    <a:p>
                      <a:pPr indent="0" marL="0">
                        <a:buNone/>
                      </a:pPr>
                      <a:r>
                        <a:rPr lang="en-US" sz="1000" b="1" dirty="0">
                          <a:solidFill>
                            <a:srgbClr val="0F6E56"/>
                          </a:solidFill>
                        </a:rPr>
                        <a:t>Location Verification</a:t>
                      </a:r>
                      <a:endParaRPr lang="en-US" sz="100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950" i="1" dirty="0">
                          <a:solidFill>
                            <a:srgbClr val="1A1A1A"/>
                          </a:solidFill>
                        </a:rPr>
                        <a:t>Is device consistently in declared region?</a:t>
                      </a:r>
                      <a:endParaRPr lang="en-US" sz="95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900" dirty="0">
                          <a:solidFill>
                            <a:srgbClr val="444444"/>
                          </a:solidFill>
                        </a:rPr>
                        <a:t>Proves physical residency pattern — harder to fake than any document.</a:t>
                      </a:r>
                      <a:endParaRPr lang="en-US" sz="90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b="1" dirty="0">
                          <a:solidFill>
                            <a:srgbClr val="0F6E56"/>
                          </a:solidFill>
                        </a:rPr>
                        <a:t>15%</a:t>
                      </a:r>
                      <a:endParaRPr lang="en-US" sz="110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566928">
                <a:tc>
                  <a:txBody>
                    <a:bodyPr/>
                    <a:lstStyle/>
                    <a:p>
                      <a:pPr indent="0" marL="0">
                        <a:buNone/>
                      </a:pPr>
                      <a:r>
                        <a:rPr lang="en-US" sz="1000" b="1" dirty="0">
                          <a:solidFill>
                            <a:srgbClr val="185FA5"/>
                          </a:solidFill>
                        </a:rPr>
                        <a:t>Device Status</a:t>
                      </a:r>
                      <a:endParaRPr lang="en-US" sz="100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950" i="1" dirty="0">
                          <a:solidFill>
                            <a:srgbClr val="1A1A1A"/>
                          </a:solidFill>
                        </a:rPr>
                        <a:t>Is this device active and reachable?</a:t>
                      </a:r>
                      <a:endParaRPr lang="en-US" sz="95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900" dirty="0">
                          <a:solidFill>
                            <a:srgbClr val="444444"/>
                          </a:solidFill>
                        </a:rPr>
                        <a:t>Detects borrowed/loaned phones used for proxy enrollment.</a:t>
                      </a:r>
                      <a:endParaRPr lang="en-US" sz="90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1100" b="1" dirty="0">
                          <a:solidFill>
                            <a:srgbClr val="185FA5"/>
                          </a:solidFill>
                        </a:rPr>
                        <a:t>10%</a:t>
                      </a:r>
                      <a:endParaRPr lang="en-US" sz="110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8F6"/>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D9E75"/>
          </a:solidFill>
          <a:ln w="12700">
            <a:solidFill>
              <a:srgbClr val="1D9E75"/>
            </a:solidFill>
            <a:prstDash val="solid"/>
          </a:ln>
        </p:spPr>
      </p:sp>
      <p:sp>
        <p:nvSpPr>
          <p:cNvPr id="3" name="Shape 1"/>
          <p:cNvSpPr/>
          <p:nvPr/>
        </p:nvSpPr>
        <p:spPr>
          <a:xfrm>
            <a:off x="0" y="4983480"/>
            <a:ext cx="9144000" cy="164592"/>
          </a:xfrm>
          <a:prstGeom prst="rect">
            <a:avLst/>
          </a:prstGeom>
          <a:solidFill>
            <a:srgbClr val="085041"/>
          </a:solidFill>
          <a:ln w="12700">
            <a:solidFill>
              <a:srgbClr val="085041"/>
            </a:solidFill>
            <a:prstDash val="solid"/>
          </a:ln>
        </p:spPr>
      </p:sp>
      <p:sp>
        <p:nvSpPr>
          <p:cNvPr id="4" name="Text 2"/>
          <p:cNvSpPr/>
          <p:nvPr/>
        </p:nvSpPr>
        <p:spPr>
          <a:xfrm>
            <a:off x="274320" y="4992624"/>
            <a:ext cx="8595360" cy="146304"/>
          </a:xfrm>
          <a:prstGeom prst="rect">
            <a:avLst/>
          </a:prstGeom>
          <a:noFill/>
          <a:ln/>
        </p:spPr>
        <p:txBody>
          <a:bodyPr wrap="square" rtlCol="0" anchor="ctr"/>
          <a:lstStyle/>
          <a:p>
            <a:pPr algn="ctr" indent="0" marL="0">
              <a:buNone/>
            </a:pPr>
            <a:r>
              <a:rPr lang="en-US" sz="700" dirty="0">
                <a:solidFill>
                  <a:srgbClr val="5DCAA5"/>
                </a:solidFill>
                <a:latin typeface="Arial" pitchFamily="34" charset="0"/>
                <a:ea typeface="Arial" pitchFamily="34" charset="-122"/>
                <a:cs typeface="Arial" pitchFamily="34" charset="-120"/>
              </a:rPr>
              <a:t>VID · Virtual ID · Africa Ignite Hackathon 2026</a:t>
            </a:r>
            <a:endParaRPr lang="en-US" sz="700" dirty="0"/>
          </a:p>
        </p:txBody>
      </p:sp>
      <p:sp>
        <p:nvSpPr>
          <p:cNvPr id="5" name="Shape 3"/>
          <p:cNvSpPr/>
          <p:nvPr/>
        </p:nvSpPr>
        <p:spPr>
          <a:xfrm>
            <a:off x="411480" y="256032"/>
            <a:ext cx="1856232" cy="228600"/>
          </a:xfrm>
          <a:prstGeom prst="roundRect">
            <a:avLst>
              <a:gd name="adj" fmla="val 20000"/>
            </a:avLst>
          </a:prstGeom>
          <a:solidFill>
            <a:srgbClr val="1D9E75"/>
          </a:solidFill>
          <a:ln w="12700">
            <a:solidFill>
              <a:srgbClr val="1D9E75"/>
            </a:solidFill>
            <a:prstDash val="solid"/>
          </a:ln>
        </p:spPr>
      </p:sp>
      <p:sp>
        <p:nvSpPr>
          <p:cNvPr id="6" name="Text 4"/>
          <p:cNvSpPr/>
          <p:nvPr/>
        </p:nvSpPr>
        <p:spPr>
          <a:xfrm>
            <a:off x="411480" y="256032"/>
            <a:ext cx="1856232" cy="228600"/>
          </a:xfrm>
          <a:prstGeom prst="rect">
            <a:avLst/>
          </a:prstGeom>
          <a:noFill/>
          <a:ln/>
        </p:spPr>
        <p:txBody>
          <a:bodyPr wrap="square" rtlCol="0" anchor="ctr"/>
          <a:lstStyle/>
          <a:p>
            <a:pPr algn="ctr" indent="0" marL="0">
              <a:buNone/>
            </a:pPr>
            <a:r>
              <a:rPr lang="en-US" sz="800" b="1" spc="100" kern="0" dirty="0">
                <a:solidFill>
                  <a:srgbClr val="FFFFFF"/>
                </a:solidFill>
                <a:latin typeface="Arial" pitchFamily="34" charset="0"/>
                <a:ea typeface="Arial" pitchFamily="34" charset="-122"/>
                <a:cs typeface="Arial" pitchFamily="34" charset="-120"/>
              </a:rPr>
              <a:t>PAN-AFRICAN SCOPE</a:t>
            </a:r>
            <a:endParaRPr lang="en-US" sz="800" dirty="0"/>
          </a:p>
        </p:txBody>
      </p:sp>
      <p:sp>
        <p:nvSpPr>
          <p:cNvPr id="7" name="Text 5"/>
          <p:cNvSpPr/>
          <p:nvPr/>
        </p:nvSpPr>
        <p:spPr>
          <a:xfrm>
            <a:off x="411480" y="566928"/>
            <a:ext cx="8321040" cy="411480"/>
          </a:xfrm>
          <a:prstGeom prst="rect">
            <a:avLst/>
          </a:prstGeom>
          <a:noFill/>
          <a:ln/>
        </p:spPr>
        <p:txBody>
          <a:bodyPr wrap="square" rtlCol="0" anchor="ctr"/>
          <a:lstStyle/>
          <a:p>
            <a:pPr indent="0" marL="0">
              <a:buNone/>
            </a:pPr>
            <a:r>
              <a:rPr lang="en-US" sz="2000" b="1" dirty="0">
                <a:solidFill>
                  <a:srgbClr val="1A1A1A"/>
                </a:solidFill>
                <a:latin typeface="Arial" pitchFamily="34" charset="0"/>
                <a:ea typeface="Arial" pitchFamily="34" charset="-122"/>
                <a:cs typeface="Arial" pitchFamily="34" charset="-120"/>
              </a:rPr>
              <a:t>Continental Coverage — 54 AU Nations from Day One</a:t>
            </a:r>
            <a:endParaRPr lang="en-US" sz="2000" dirty="0"/>
          </a:p>
        </p:txBody>
      </p:sp>
      <p:sp>
        <p:nvSpPr>
          <p:cNvPr id="8" name="Text 6"/>
          <p:cNvSpPr/>
          <p:nvPr/>
        </p:nvSpPr>
        <p:spPr>
          <a:xfrm>
            <a:off x="411480" y="1005840"/>
            <a:ext cx="8321040" cy="256032"/>
          </a:xfrm>
          <a:prstGeom prst="rect">
            <a:avLst/>
          </a:prstGeom>
          <a:noFill/>
          <a:ln/>
        </p:spPr>
        <p:txBody>
          <a:bodyPr wrap="square" rtlCol="0" anchor="ctr"/>
          <a:lstStyle/>
          <a:p>
            <a:pPr indent="0" marL="0">
              <a:buNone/>
            </a:pPr>
            <a:r>
              <a:rPr lang="en-US" sz="1000" b="1" dirty="0">
                <a:solidFill>
                  <a:srgbClr val="0F6E56"/>
                </a:solidFill>
                <a:latin typeface="Arial" pitchFamily="34" charset="0"/>
                <a:ea typeface="Arial" pitchFamily="34" charset="-122"/>
                <a:cs typeface="Arial" pitchFamily="34" charset="-120"/>
              </a:rPr>
              <a:t>Adding a new country = one JSON entry. No code changes required.</a:t>
            </a:r>
            <a:endParaRPr lang="en-US" sz="1000" dirty="0"/>
          </a:p>
        </p:txBody>
      </p:sp>
      <p:sp>
        <p:nvSpPr>
          <p:cNvPr id="9" name="Shape 7"/>
          <p:cNvSpPr/>
          <p:nvPr/>
        </p:nvSpPr>
        <p:spPr>
          <a:xfrm>
            <a:off x="411480" y="1325880"/>
            <a:ext cx="2651760" cy="1536192"/>
          </a:xfrm>
          <a:prstGeom prst="roundRect">
            <a:avLst>
              <a:gd name="adj" fmla="val 4762"/>
            </a:avLst>
          </a:prstGeom>
          <a:solidFill>
            <a:srgbClr val="FFFFFF"/>
          </a:solidFill>
          <a:ln w="6350">
            <a:solidFill>
              <a:srgbClr val="DDDDDD"/>
            </a:solidFill>
            <a:prstDash val="solid"/>
          </a:ln>
          <a:effectLst>
            <a:outerShdw sx="100000" sy="100000" kx="0" ky="0" algn="bl" rotWithShape="0" blurRad="50800" dist="12700" dir="8100000">
              <a:srgbClr val="000000">
                <a:alpha val="7000"/>
              </a:srgbClr>
            </a:outerShdw>
          </a:effectLst>
        </p:spPr>
      </p:sp>
      <p:sp>
        <p:nvSpPr>
          <p:cNvPr id="10" name="Shape 8"/>
          <p:cNvSpPr/>
          <p:nvPr/>
        </p:nvSpPr>
        <p:spPr>
          <a:xfrm>
            <a:off x="411480" y="1325880"/>
            <a:ext cx="2651760" cy="347472"/>
          </a:xfrm>
          <a:prstGeom prst="roundRect">
            <a:avLst>
              <a:gd name="adj" fmla="val 21053"/>
            </a:avLst>
          </a:prstGeom>
          <a:solidFill>
            <a:srgbClr val="0F6E56"/>
          </a:solidFill>
          <a:ln w="12700">
            <a:solidFill>
              <a:srgbClr val="0F6E56"/>
            </a:solidFill>
            <a:prstDash val="solid"/>
          </a:ln>
        </p:spPr>
      </p:sp>
      <p:sp>
        <p:nvSpPr>
          <p:cNvPr id="11" name="Text 9"/>
          <p:cNvSpPr/>
          <p:nvPr/>
        </p:nvSpPr>
        <p:spPr>
          <a:xfrm>
            <a:off x="521208" y="1325880"/>
            <a:ext cx="1645920" cy="347472"/>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Nigeria</a:t>
            </a:r>
            <a:endParaRPr lang="en-US" sz="1200" dirty="0"/>
          </a:p>
        </p:txBody>
      </p:sp>
      <p:sp>
        <p:nvSpPr>
          <p:cNvPr id="12" name="Text 10"/>
          <p:cNvSpPr/>
          <p:nvPr/>
        </p:nvSpPr>
        <p:spPr>
          <a:xfrm>
            <a:off x="2148840" y="1325880"/>
            <a:ext cx="804672" cy="347472"/>
          </a:xfrm>
          <a:prstGeom prst="rect">
            <a:avLst/>
          </a:prstGeom>
          <a:noFill/>
          <a:ln/>
        </p:spPr>
        <p:txBody>
          <a:bodyPr wrap="square" rtlCol="0" anchor="ctr"/>
          <a:lstStyle/>
          <a:p>
            <a:pPr algn="r" indent="0" marL="0">
              <a:buNone/>
            </a:pPr>
            <a:r>
              <a:rPr lang="en-US" sz="1000" dirty="0">
                <a:solidFill>
                  <a:srgbClr val="9FE1CB"/>
                </a:solidFill>
                <a:latin typeface="Arial" pitchFamily="34" charset="0"/>
                <a:ea typeface="Arial" pitchFamily="34" charset="-122"/>
                <a:cs typeface="Arial" pitchFamily="34" charset="-120"/>
              </a:rPr>
              <a:t>+234</a:t>
            </a:r>
            <a:endParaRPr lang="en-US" sz="1000" dirty="0"/>
          </a:p>
        </p:txBody>
      </p:sp>
      <p:sp>
        <p:nvSpPr>
          <p:cNvPr id="13" name="Text 11"/>
          <p:cNvSpPr/>
          <p:nvPr/>
        </p:nvSpPr>
        <p:spPr>
          <a:xfrm>
            <a:off x="521208" y="1728216"/>
            <a:ext cx="2468880" cy="182880"/>
          </a:xfrm>
          <a:prstGeom prst="rect">
            <a:avLst/>
          </a:prstGeom>
          <a:noFill/>
          <a:ln/>
        </p:spPr>
        <p:txBody>
          <a:bodyPr wrap="square" rtlCol="0" anchor="ctr"/>
          <a:lstStyle/>
          <a:p>
            <a:pPr indent="0" marL="0">
              <a:buNone/>
            </a:pPr>
            <a:r>
              <a:rPr lang="en-US" sz="800" dirty="0">
                <a:solidFill>
                  <a:srgbClr val="888888"/>
                </a:solidFill>
                <a:latin typeface="Arial" pitchFamily="34" charset="0"/>
                <a:ea typeface="Arial" pitchFamily="34" charset="-122"/>
                <a:cs typeface="Arial" pitchFamily="34" charset="-120"/>
              </a:rPr>
              <a:t>VID type</a:t>
            </a:r>
            <a:endParaRPr lang="en-US" sz="800" dirty="0"/>
          </a:p>
        </p:txBody>
      </p:sp>
      <p:sp>
        <p:nvSpPr>
          <p:cNvPr id="14" name="Text 12"/>
          <p:cNvSpPr/>
          <p:nvPr/>
        </p:nvSpPr>
        <p:spPr>
          <a:xfrm>
            <a:off x="521208" y="1892808"/>
            <a:ext cx="2468880" cy="219456"/>
          </a:xfrm>
          <a:prstGeom prst="rect">
            <a:avLst/>
          </a:prstGeom>
          <a:noFill/>
          <a:ln/>
        </p:spPr>
        <p:txBody>
          <a:bodyPr wrap="square" rtlCol="0" anchor="ctr"/>
          <a:lstStyle/>
          <a:p>
            <a:pPr indent="0" marL="0">
              <a:buNone/>
            </a:pPr>
            <a:r>
              <a:rPr lang="en-US" sz="1000" b="1" dirty="0">
                <a:solidFill>
                  <a:srgbClr val="0F6E56"/>
                </a:solidFill>
                <a:latin typeface="Arial" pitchFamily="34" charset="0"/>
                <a:ea typeface="Arial" pitchFamily="34" charset="-122"/>
                <a:cs typeface="Arial" pitchFamily="34" charset="-120"/>
              </a:rPr>
              <a:t>Virtual NIN</a:t>
            </a:r>
            <a:endParaRPr lang="en-US" sz="1000" dirty="0"/>
          </a:p>
        </p:txBody>
      </p:sp>
      <p:sp>
        <p:nvSpPr>
          <p:cNvPr id="15" name="Text 13"/>
          <p:cNvSpPr/>
          <p:nvPr/>
        </p:nvSpPr>
        <p:spPr>
          <a:xfrm>
            <a:off x="521208" y="2148840"/>
            <a:ext cx="1645920" cy="182880"/>
          </a:xfrm>
          <a:prstGeom prst="rect">
            <a:avLst/>
          </a:prstGeom>
          <a:noFill/>
          <a:ln/>
        </p:spPr>
        <p:txBody>
          <a:bodyPr wrap="square" rtlCol="0" anchor="ctr"/>
          <a:lstStyle/>
          <a:p>
            <a:pPr indent="0" marL="0">
              <a:buNone/>
            </a:pPr>
            <a:r>
              <a:rPr lang="en-US" sz="850" dirty="0">
                <a:solidFill>
                  <a:srgbClr val="888888"/>
                </a:solidFill>
                <a:latin typeface="Arial" pitchFamily="34" charset="0"/>
                <a:ea typeface="Arial" pitchFamily="34" charset="-122"/>
                <a:cs typeface="Arial" pitchFamily="34" charset="-120"/>
              </a:rPr>
              <a:t>West Africa</a:t>
            </a:r>
            <a:endParaRPr lang="en-US" sz="850" dirty="0"/>
          </a:p>
        </p:txBody>
      </p:sp>
      <p:sp>
        <p:nvSpPr>
          <p:cNvPr id="16" name="Text 14"/>
          <p:cNvSpPr/>
          <p:nvPr/>
        </p:nvSpPr>
        <p:spPr>
          <a:xfrm>
            <a:off x="521208" y="2350008"/>
            <a:ext cx="1371600" cy="182880"/>
          </a:xfrm>
          <a:prstGeom prst="rect">
            <a:avLst/>
          </a:prstGeom>
          <a:noFill/>
          <a:ln/>
        </p:spPr>
        <p:txBody>
          <a:bodyPr wrap="square" rtlCol="0" anchor="ctr"/>
          <a:lstStyle/>
          <a:p>
            <a:pPr indent="0" marL="0">
              <a:buNone/>
            </a:pPr>
            <a:r>
              <a:rPr lang="en-US" sz="800" dirty="0">
                <a:solidFill>
                  <a:srgbClr val="888888"/>
                </a:solidFill>
                <a:latin typeface="Arial" pitchFamily="34" charset="0"/>
                <a:ea typeface="Arial" pitchFamily="34" charset="-122"/>
                <a:cs typeface="Arial" pitchFamily="34" charset="-120"/>
              </a:rPr>
              <a:t>Score example</a:t>
            </a:r>
            <a:endParaRPr lang="en-US" sz="800" dirty="0"/>
          </a:p>
        </p:txBody>
      </p:sp>
      <p:sp>
        <p:nvSpPr>
          <p:cNvPr id="17" name="Text 15"/>
          <p:cNvSpPr/>
          <p:nvPr/>
        </p:nvSpPr>
        <p:spPr>
          <a:xfrm>
            <a:off x="1874520" y="2331720"/>
            <a:ext cx="1078992" cy="219456"/>
          </a:xfrm>
          <a:prstGeom prst="rect">
            <a:avLst/>
          </a:prstGeom>
          <a:noFill/>
          <a:ln/>
        </p:spPr>
        <p:txBody>
          <a:bodyPr wrap="square" rtlCol="0" anchor="ctr"/>
          <a:lstStyle/>
          <a:p>
            <a:pPr algn="r" indent="0" marL="0">
              <a:buNone/>
            </a:pPr>
            <a:r>
              <a:rPr lang="en-US" sz="1300" b="1" dirty="0">
                <a:solidFill>
                  <a:srgbClr val="1D9E75"/>
                </a:solidFill>
                <a:latin typeface="Arial" pitchFamily="34" charset="0"/>
                <a:ea typeface="Arial" pitchFamily="34" charset="-122"/>
                <a:cs typeface="Arial" pitchFamily="34" charset="-120"/>
              </a:rPr>
              <a:t>94/100</a:t>
            </a:r>
            <a:endParaRPr lang="en-US" sz="1300" dirty="0"/>
          </a:p>
        </p:txBody>
      </p:sp>
      <p:sp>
        <p:nvSpPr>
          <p:cNvPr id="18" name="Shape 16"/>
          <p:cNvSpPr/>
          <p:nvPr/>
        </p:nvSpPr>
        <p:spPr>
          <a:xfrm>
            <a:off x="3246120" y="1325880"/>
            <a:ext cx="2651760" cy="1536192"/>
          </a:xfrm>
          <a:prstGeom prst="roundRect">
            <a:avLst>
              <a:gd name="adj" fmla="val 4762"/>
            </a:avLst>
          </a:prstGeom>
          <a:solidFill>
            <a:srgbClr val="FFFFFF"/>
          </a:solidFill>
          <a:ln w="6350">
            <a:solidFill>
              <a:srgbClr val="DDDDDD"/>
            </a:solidFill>
            <a:prstDash val="solid"/>
          </a:ln>
          <a:effectLst>
            <a:outerShdw sx="100000" sy="100000" kx="0" ky="0" algn="bl" rotWithShape="0" blurRad="50800" dist="12700" dir="8100000">
              <a:srgbClr val="000000">
                <a:alpha val="7000"/>
              </a:srgbClr>
            </a:outerShdw>
          </a:effectLst>
        </p:spPr>
      </p:sp>
      <p:sp>
        <p:nvSpPr>
          <p:cNvPr id="19" name="Shape 17"/>
          <p:cNvSpPr/>
          <p:nvPr/>
        </p:nvSpPr>
        <p:spPr>
          <a:xfrm>
            <a:off x="3246120" y="1325880"/>
            <a:ext cx="2651760" cy="347472"/>
          </a:xfrm>
          <a:prstGeom prst="roundRect">
            <a:avLst>
              <a:gd name="adj" fmla="val 21053"/>
            </a:avLst>
          </a:prstGeom>
          <a:solidFill>
            <a:srgbClr val="0F6E56"/>
          </a:solidFill>
          <a:ln w="12700">
            <a:solidFill>
              <a:srgbClr val="0F6E56"/>
            </a:solidFill>
            <a:prstDash val="solid"/>
          </a:ln>
        </p:spPr>
      </p:sp>
      <p:sp>
        <p:nvSpPr>
          <p:cNvPr id="20" name="Text 18"/>
          <p:cNvSpPr/>
          <p:nvPr/>
        </p:nvSpPr>
        <p:spPr>
          <a:xfrm>
            <a:off x="3355848" y="1325880"/>
            <a:ext cx="1645920" cy="347472"/>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Kenya</a:t>
            </a:r>
            <a:endParaRPr lang="en-US" sz="1200" dirty="0"/>
          </a:p>
        </p:txBody>
      </p:sp>
      <p:sp>
        <p:nvSpPr>
          <p:cNvPr id="21" name="Text 19"/>
          <p:cNvSpPr/>
          <p:nvPr/>
        </p:nvSpPr>
        <p:spPr>
          <a:xfrm>
            <a:off x="4983480" y="1325880"/>
            <a:ext cx="804672" cy="347472"/>
          </a:xfrm>
          <a:prstGeom prst="rect">
            <a:avLst/>
          </a:prstGeom>
          <a:noFill/>
          <a:ln/>
        </p:spPr>
        <p:txBody>
          <a:bodyPr wrap="square" rtlCol="0" anchor="ctr"/>
          <a:lstStyle/>
          <a:p>
            <a:pPr algn="r" indent="0" marL="0">
              <a:buNone/>
            </a:pPr>
            <a:r>
              <a:rPr lang="en-US" sz="1000" dirty="0">
                <a:solidFill>
                  <a:srgbClr val="9FE1CB"/>
                </a:solidFill>
                <a:latin typeface="Arial" pitchFamily="34" charset="0"/>
                <a:ea typeface="Arial" pitchFamily="34" charset="-122"/>
                <a:cs typeface="Arial" pitchFamily="34" charset="-120"/>
              </a:rPr>
              <a:t>+254</a:t>
            </a:r>
            <a:endParaRPr lang="en-US" sz="1000" dirty="0"/>
          </a:p>
        </p:txBody>
      </p:sp>
      <p:sp>
        <p:nvSpPr>
          <p:cNvPr id="22" name="Text 20"/>
          <p:cNvSpPr/>
          <p:nvPr/>
        </p:nvSpPr>
        <p:spPr>
          <a:xfrm>
            <a:off x="3355848" y="1728216"/>
            <a:ext cx="2468880" cy="182880"/>
          </a:xfrm>
          <a:prstGeom prst="rect">
            <a:avLst/>
          </a:prstGeom>
          <a:noFill/>
          <a:ln/>
        </p:spPr>
        <p:txBody>
          <a:bodyPr wrap="square" rtlCol="0" anchor="ctr"/>
          <a:lstStyle/>
          <a:p>
            <a:pPr indent="0" marL="0">
              <a:buNone/>
            </a:pPr>
            <a:r>
              <a:rPr lang="en-US" sz="800" dirty="0">
                <a:solidFill>
                  <a:srgbClr val="888888"/>
                </a:solidFill>
                <a:latin typeface="Arial" pitchFamily="34" charset="0"/>
                <a:ea typeface="Arial" pitchFamily="34" charset="-122"/>
                <a:cs typeface="Arial" pitchFamily="34" charset="-120"/>
              </a:rPr>
              <a:t>VID type</a:t>
            </a:r>
            <a:endParaRPr lang="en-US" sz="800" dirty="0"/>
          </a:p>
        </p:txBody>
      </p:sp>
      <p:sp>
        <p:nvSpPr>
          <p:cNvPr id="23" name="Text 21"/>
          <p:cNvSpPr/>
          <p:nvPr/>
        </p:nvSpPr>
        <p:spPr>
          <a:xfrm>
            <a:off x="3355848" y="1892808"/>
            <a:ext cx="2468880" cy="219456"/>
          </a:xfrm>
          <a:prstGeom prst="rect">
            <a:avLst/>
          </a:prstGeom>
          <a:noFill/>
          <a:ln/>
        </p:spPr>
        <p:txBody>
          <a:bodyPr wrap="square" rtlCol="0" anchor="ctr"/>
          <a:lstStyle/>
          <a:p>
            <a:pPr indent="0" marL="0">
              <a:buNone/>
            </a:pPr>
            <a:r>
              <a:rPr lang="en-US" sz="1000" b="1" dirty="0">
                <a:solidFill>
                  <a:srgbClr val="0F6E56"/>
                </a:solidFill>
                <a:latin typeface="Arial" pitchFamily="34" charset="0"/>
                <a:ea typeface="Arial" pitchFamily="34" charset="-122"/>
                <a:cs typeface="Arial" pitchFamily="34" charset="-120"/>
              </a:rPr>
              <a:t>Virtual Huduma Namba</a:t>
            </a:r>
            <a:endParaRPr lang="en-US" sz="1000" dirty="0"/>
          </a:p>
        </p:txBody>
      </p:sp>
      <p:sp>
        <p:nvSpPr>
          <p:cNvPr id="24" name="Text 22"/>
          <p:cNvSpPr/>
          <p:nvPr/>
        </p:nvSpPr>
        <p:spPr>
          <a:xfrm>
            <a:off x="3355848" y="2148840"/>
            <a:ext cx="1645920" cy="182880"/>
          </a:xfrm>
          <a:prstGeom prst="rect">
            <a:avLst/>
          </a:prstGeom>
          <a:noFill/>
          <a:ln/>
        </p:spPr>
        <p:txBody>
          <a:bodyPr wrap="square" rtlCol="0" anchor="ctr"/>
          <a:lstStyle/>
          <a:p>
            <a:pPr indent="0" marL="0">
              <a:buNone/>
            </a:pPr>
            <a:r>
              <a:rPr lang="en-US" sz="850" dirty="0">
                <a:solidFill>
                  <a:srgbClr val="888888"/>
                </a:solidFill>
                <a:latin typeface="Arial" pitchFamily="34" charset="0"/>
                <a:ea typeface="Arial" pitchFamily="34" charset="-122"/>
                <a:cs typeface="Arial" pitchFamily="34" charset="-120"/>
              </a:rPr>
              <a:t>East Africa</a:t>
            </a:r>
            <a:endParaRPr lang="en-US" sz="850" dirty="0"/>
          </a:p>
        </p:txBody>
      </p:sp>
      <p:sp>
        <p:nvSpPr>
          <p:cNvPr id="25" name="Text 23"/>
          <p:cNvSpPr/>
          <p:nvPr/>
        </p:nvSpPr>
        <p:spPr>
          <a:xfrm>
            <a:off x="3355848" y="2350008"/>
            <a:ext cx="1371600" cy="182880"/>
          </a:xfrm>
          <a:prstGeom prst="rect">
            <a:avLst/>
          </a:prstGeom>
          <a:noFill/>
          <a:ln/>
        </p:spPr>
        <p:txBody>
          <a:bodyPr wrap="square" rtlCol="0" anchor="ctr"/>
          <a:lstStyle/>
          <a:p>
            <a:pPr indent="0" marL="0">
              <a:buNone/>
            </a:pPr>
            <a:r>
              <a:rPr lang="en-US" sz="800" dirty="0">
                <a:solidFill>
                  <a:srgbClr val="888888"/>
                </a:solidFill>
                <a:latin typeface="Arial" pitchFamily="34" charset="0"/>
                <a:ea typeface="Arial" pitchFamily="34" charset="-122"/>
                <a:cs typeface="Arial" pitchFamily="34" charset="-120"/>
              </a:rPr>
              <a:t>Score example</a:t>
            </a:r>
            <a:endParaRPr lang="en-US" sz="800" dirty="0"/>
          </a:p>
        </p:txBody>
      </p:sp>
      <p:sp>
        <p:nvSpPr>
          <p:cNvPr id="26" name="Text 24"/>
          <p:cNvSpPr/>
          <p:nvPr/>
        </p:nvSpPr>
        <p:spPr>
          <a:xfrm>
            <a:off x="4709160" y="2331720"/>
            <a:ext cx="1078992" cy="219456"/>
          </a:xfrm>
          <a:prstGeom prst="rect">
            <a:avLst/>
          </a:prstGeom>
          <a:noFill/>
          <a:ln/>
        </p:spPr>
        <p:txBody>
          <a:bodyPr wrap="square" rtlCol="0" anchor="ctr"/>
          <a:lstStyle/>
          <a:p>
            <a:pPr algn="r" indent="0" marL="0">
              <a:buNone/>
            </a:pPr>
            <a:r>
              <a:rPr lang="en-US" sz="1300" b="1" dirty="0">
                <a:solidFill>
                  <a:srgbClr val="1D9E75"/>
                </a:solidFill>
                <a:latin typeface="Arial" pitchFamily="34" charset="0"/>
                <a:ea typeface="Arial" pitchFamily="34" charset="-122"/>
                <a:cs typeface="Arial" pitchFamily="34" charset="-120"/>
              </a:rPr>
              <a:t>89/100</a:t>
            </a:r>
            <a:endParaRPr lang="en-US" sz="1300" dirty="0"/>
          </a:p>
        </p:txBody>
      </p:sp>
      <p:sp>
        <p:nvSpPr>
          <p:cNvPr id="27" name="Shape 25"/>
          <p:cNvSpPr/>
          <p:nvPr/>
        </p:nvSpPr>
        <p:spPr>
          <a:xfrm>
            <a:off x="6080760" y="1325880"/>
            <a:ext cx="2651760" cy="1536192"/>
          </a:xfrm>
          <a:prstGeom prst="roundRect">
            <a:avLst>
              <a:gd name="adj" fmla="val 4762"/>
            </a:avLst>
          </a:prstGeom>
          <a:solidFill>
            <a:srgbClr val="FFFFFF"/>
          </a:solidFill>
          <a:ln w="6350">
            <a:solidFill>
              <a:srgbClr val="DDDDDD"/>
            </a:solidFill>
            <a:prstDash val="solid"/>
          </a:ln>
          <a:effectLst>
            <a:outerShdw sx="100000" sy="100000" kx="0" ky="0" algn="bl" rotWithShape="0" blurRad="50800" dist="12700" dir="8100000">
              <a:srgbClr val="000000">
                <a:alpha val="7000"/>
              </a:srgbClr>
            </a:outerShdw>
          </a:effectLst>
        </p:spPr>
      </p:sp>
      <p:sp>
        <p:nvSpPr>
          <p:cNvPr id="28" name="Shape 26"/>
          <p:cNvSpPr/>
          <p:nvPr/>
        </p:nvSpPr>
        <p:spPr>
          <a:xfrm>
            <a:off x="6080760" y="1325880"/>
            <a:ext cx="2651760" cy="347472"/>
          </a:xfrm>
          <a:prstGeom prst="roundRect">
            <a:avLst>
              <a:gd name="adj" fmla="val 21053"/>
            </a:avLst>
          </a:prstGeom>
          <a:solidFill>
            <a:srgbClr val="0F6E56"/>
          </a:solidFill>
          <a:ln w="12700">
            <a:solidFill>
              <a:srgbClr val="0F6E56"/>
            </a:solidFill>
            <a:prstDash val="solid"/>
          </a:ln>
        </p:spPr>
      </p:sp>
      <p:sp>
        <p:nvSpPr>
          <p:cNvPr id="29" name="Text 27"/>
          <p:cNvSpPr/>
          <p:nvPr/>
        </p:nvSpPr>
        <p:spPr>
          <a:xfrm>
            <a:off x="6190488" y="1325880"/>
            <a:ext cx="1645920" cy="347472"/>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Ghana</a:t>
            </a:r>
            <a:endParaRPr lang="en-US" sz="1200" dirty="0"/>
          </a:p>
        </p:txBody>
      </p:sp>
      <p:sp>
        <p:nvSpPr>
          <p:cNvPr id="30" name="Text 28"/>
          <p:cNvSpPr/>
          <p:nvPr/>
        </p:nvSpPr>
        <p:spPr>
          <a:xfrm>
            <a:off x="7818120" y="1325880"/>
            <a:ext cx="804672" cy="347472"/>
          </a:xfrm>
          <a:prstGeom prst="rect">
            <a:avLst/>
          </a:prstGeom>
          <a:noFill/>
          <a:ln/>
        </p:spPr>
        <p:txBody>
          <a:bodyPr wrap="square" rtlCol="0" anchor="ctr"/>
          <a:lstStyle/>
          <a:p>
            <a:pPr algn="r" indent="0" marL="0">
              <a:buNone/>
            </a:pPr>
            <a:r>
              <a:rPr lang="en-US" sz="1000" dirty="0">
                <a:solidFill>
                  <a:srgbClr val="9FE1CB"/>
                </a:solidFill>
                <a:latin typeface="Arial" pitchFamily="34" charset="0"/>
                <a:ea typeface="Arial" pitchFamily="34" charset="-122"/>
                <a:cs typeface="Arial" pitchFamily="34" charset="-120"/>
              </a:rPr>
              <a:t>+233</a:t>
            </a:r>
            <a:endParaRPr lang="en-US" sz="1000" dirty="0"/>
          </a:p>
        </p:txBody>
      </p:sp>
      <p:sp>
        <p:nvSpPr>
          <p:cNvPr id="31" name="Text 29"/>
          <p:cNvSpPr/>
          <p:nvPr/>
        </p:nvSpPr>
        <p:spPr>
          <a:xfrm>
            <a:off x="6190488" y="1728216"/>
            <a:ext cx="2468880" cy="182880"/>
          </a:xfrm>
          <a:prstGeom prst="rect">
            <a:avLst/>
          </a:prstGeom>
          <a:noFill/>
          <a:ln/>
        </p:spPr>
        <p:txBody>
          <a:bodyPr wrap="square" rtlCol="0" anchor="ctr"/>
          <a:lstStyle/>
          <a:p>
            <a:pPr indent="0" marL="0">
              <a:buNone/>
            </a:pPr>
            <a:r>
              <a:rPr lang="en-US" sz="800" dirty="0">
                <a:solidFill>
                  <a:srgbClr val="888888"/>
                </a:solidFill>
                <a:latin typeface="Arial" pitchFamily="34" charset="0"/>
                <a:ea typeface="Arial" pitchFamily="34" charset="-122"/>
                <a:cs typeface="Arial" pitchFamily="34" charset="-120"/>
              </a:rPr>
              <a:t>VID type</a:t>
            </a:r>
            <a:endParaRPr lang="en-US" sz="800" dirty="0"/>
          </a:p>
        </p:txBody>
      </p:sp>
      <p:sp>
        <p:nvSpPr>
          <p:cNvPr id="32" name="Text 30"/>
          <p:cNvSpPr/>
          <p:nvPr/>
        </p:nvSpPr>
        <p:spPr>
          <a:xfrm>
            <a:off x="6190488" y="1892808"/>
            <a:ext cx="2468880" cy="219456"/>
          </a:xfrm>
          <a:prstGeom prst="rect">
            <a:avLst/>
          </a:prstGeom>
          <a:noFill/>
          <a:ln/>
        </p:spPr>
        <p:txBody>
          <a:bodyPr wrap="square" rtlCol="0" anchor="ctr"/>
          <a:lstStyle/>
          <a:p>
            <a:pPr indent="0" marL="0">
              <a:buNone/>
            </a:pPr>
            <a:r>
              <a:rPr lang="en-US" sz="1000" b="1" dirty="0">
                <a:solidFill>
                  <a:srgbClr val="0F6E56"/>
                </a:solidFill>
                <a:latin typeface="Arial" pitchFamily="34" charset="0"/>
                <a:ea typeface="Arial" pitchFamily="34" charset="-122"/>
                <a:cs typeface="Arial" pitchFamily="34" charset="-120"/>
              </a:rPr>
              <a:t>Virtual Ghana Card</a:t>
            </a:r>
            <a:endParaRPr lang="en-US" sz="1000" dirty="0"/>
          </a:p>
        </p:txBody>
      </p:sp>
      <p:sp>
        <p:nvSpPr>
          <p:cNvPr id="33" name="Text 31"/>
          <p:cNvSpPr/>
          <p:nvPr/>
        </p:nvSpPr>
        <p:spPr>
          <a:xfrm>
            <a:off x="6190488" y="2148840"/>
            <a:ext cx="1645920" cy="182880"/>
          </a:xfrm>
          <a:prstGeom prst="rect">
            <a:avLst/>
          </a:prstGeom>
          <a:noFill/>
          <a:ln/>
        </p:spPr>
        <p:txBody>
          <a:bodyPr wrap="square" rtlCol="0" anchor="ctr"/>
          <a:lstStyle/>
          <a:p>
            <a:pPr indent="0" marL="0">
              <a:buNone/>
            </a:pPr>
            <a:r>
              <a:rPr lang="en-US" sz="850" dirty="0">
                <a:solidFill>
                  <a:srgbClr val="888888"/>
                </a:solidFill>
                <a:latin typeface="Arial" pitchFamily="34" charset="0"/>
                <a:ea typeface="Arial" pitchFamily="34" charset="-122"/>
                <a:cs typeface="Arial" pitchFamily="34" charset="-120"/>
              </a:rPr>
              <a:t>West Africa</a:t>
            </a:r>
            <a:endParaRPr lang="en-US" sz="850" dirty="0"/>
          </a:p>
        </p:txBody>
      </p:sp>
      <p:sp>
        <p:nvSpPr>
          <p:cNvPr id="34" name="Text 32"/>
          <p:cNvSpPr/>
          <p:nvPr/>
        </p:nvSpPr>
        <p:spPr>
          <a:xfrm>
            <a:off x="6190488" y="2350008"/>
            <a:ext cx="1371600" cy="182880"/>
          </a:xfrm>
          <a:prstGeom prst="rect">
            <a:avLst/>
          </a:prstGeom>
          <a:noFill/>
          <a:ln/>
        </p:spPr>
        <p:txBody>
          <a:bodyPr wrap="square" rtlCol="0" anchor="ctr"/>
          <a:lstStyle/>
          <a:p>
            <a:pPr indent="0" marL="0">
              <a:buNone/>
            </a:pPr>
            <a:r>
              <a:rPr lang="en-US" sz="800" dirty="0">
                <a:solidFill>
                  <a:srgbClr val="888888"/>
                </a:solidFill>
                <a:latin typeface="Arial" pitchFamily="34" charset="0"/>
                <a:ea typeface="Arial" pitchFamily="34" charset="-122"/>
                <a:cs typeface="Arial" pitchFamily="34" charset="-120"/>
              </a:rPr>
              <a:t>Score example</a:t>
            </a:r>
            <a:endParaRPr lang="en-US" sz="800" dirty="0"/>
          </a:p>
        </p:txBody>
      </p:sp>
      <p:sp>
        <p:nvSpPr>
          <p:cNvPr id="35" name="Text 33"/>
          <p:cNvSpPr/>
          <p:nvPr/>
        </p:nvSpPr>
        <p:spPr>
          <a:xfrm>
            <a:off x="7543800" y="2331720"/>
            <a:ext cx="1078992" cy="219456"/>
          </a:xfrm>
          <a:prstGeom prst="rect">
            <a:avLst/>
          </a:prstGeom>
          <a:noFill/>
          <a:ln/>
        </p:spPr>
        <p:txBody>
          <a:bodyPr wrap="square" rtlCol="0" anchor="ctr"/>
          <a:lstStyle/>
          <a:p>
            <a:pPr algn="r" indent="0" marL="0">
              <a:buNone/>
            </a:pPr>
            <a:r>
              <a:rPr lang="en-US" sz="1300" b="1" dirty="0">
                <a:solidFill>
                  <a:srgbClr val="1D9E75"/>
                </a:solidFill>
                <a:latin typeface="Arial" pitchFamily="34" charset="0"/>
                <a:ea typeface="Arial" pitchFamily="34" charset="-122"/>
                <a:cs typeface="Arial" pitchFamily="34" charset="-120"/>
              </a:rPr>
              <a:t>91/100</a:t>
            </a:r>
            <a:endParaRPr lang="en-US" sz="1300" dirty="0"/>
          </a:p>
        </p:txBody>
      </p:sp>
      <p:sp>
        <p:nvSpPr>
          <p:cNvPr id="36" name="Shape 34"/>
          <p:cNvSpPr/>
          <p:nvPr/>
        </p:nvSpPr>
        <p:spPr>
          <a:xfrm>
            <a:off x="411480" y="3017520"/>
            <a:ext cx="2651760" cy="1536192"/>
          </a:xfrm>
          <a:prstGeom prst="roundRect">
            <a:avLst>
              <a:gd name="adj" fmla="val 4762"/>
            </a:avLst>
          </a:prstGeom>
          <a:solidFill>
            <a:srgbClr val="FFFFFF"/>
          </a:solidFill>
          <a:ln w="6350">
            <a:solidFill>
              <a:srgbClr val="DDDDDD"/>
            </a:solidFill>
            <a:prstDash val="solid"/>
          </a:ln>
          <a:effectLst>
            <a:outerShdw sx="100000" sy="100000" kx="0" ky="0" algn="bl" rotWithShape="0" blurRad="50800" dist="12700" dir="8100000">
              <a:srgbClr val="000000">
                <a:alpha val="7000"/>
              </a:srgbClr>
            </a:outerShdw>
          </a:effectLst>
        </p:spPr>
      </p:sp>
      <p:sp>
        <p:nvSpPr>
          <p:cNvPr id="37" name="Shape 35"/>
          <p:cNvSpPr/>
          <p:nvPr/>
        </p:nvSpPr>
        <p:spPr>
          <a:xfrm>
            <a:off x="411480" y="3017520"/>
            <a:ext cx="2651760" cy="347472"/>
          </a:xfrm>
          <a:prstGeom prst="roundRect">
            <a:avLst>
              <a:gd name="adj" fmla="val 21053"/>
            </a:avLst>
          </a:prstGeom>
          <a:solidFill>
            <a:srgbClr val="0F6E56"/>
          </a:solidFill>
          <a:ln w="12700">
            <a:solidFill>
              <a:srgbClr val="0F6E56"/>
            </a:solidFill>
            <a:prstDash val="solid"/>
          </a:ln>
        </p:spPr>
      </p:sp>
      <p:sp>
        <p:nvSpPr>
          <p:cNvPr id="38" name="Text 36"/>
          <p:cNvSpPr/>
          <p:nvPr/>
        </p:nvSpPr>
        <p:spPr>
          <a:xfrm>
            <a:off x="521208" y="3017520"/>
            <a:ext cx="1645920" cy="347472"/>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South Africa</a:t>
            </a:r>
            <a:endParaRPr lang="en-US" sz="1200" dirty="0"/>
          </a:p>
        </p:txBody>
      </p:sp>
      <p:sp>
        <p:nvSpPr>
          <p:cNvPr id="39" name="Text 37"/>
          <p:cNvSpPr/>
          <p:nvPr/>
        </p:nvSpPr>
        <p:spPr>
          <a:xfrm>
            <a:off x="2148840" y="3017520"/>
            <a:ext cx="804672" cy="347472"/>
          </a:xfrm>
          <a:prstGeom prst="rect">
            <a:avLst/>
          </a:prstGeom>
          <a:noFill/>
          <a:ln/>
        </p:spPr>
        <p:txBody>
          <a:bodyPr wrap="square" rtlCol="0" anchor="ctr"/>
          <a:lstStyle/>
          <a:p>
            <a:pPr algn="r" indent="0" marL="0">
              <a:buNone/>
            </a:pPr>
            <a:r>
              <a:rPr lang="en-US" sz="1000" dirty="0">
                <a:solidFill>
                  <a:srgbClr val="9FE1CB"/>
                </a:solidFill>
                <a:latin typeface="Arial" pitchFamily="34" charset="0"/>
                <a:ea typeface="Arial" pitchFamily="34" charset="-122"/>
                <a:cs typeface="Arial" pitchFamily="34" charset="-120"/>
              </a:rPr>
              <a:t>+27</a:t>
            </a:r>
            <a:endParaRPr lang="en-US" sz="1000" dirty="0"/>
          </a:p>
        </p:txBody>
      </p:sp>
      <p:sp>
        <p:nvSpPr>
          <p:cNvPr id="40" name="Text 38"/>
          <p:cNvSpPr/>
          <p:nvPr/>
        </p:nvSpPr>
        <p:spPr>
          <a:xfrm>
            <a:off x="521208" y="3419856"/>
            <a:ext cx="2468880" cy="182880"/>
          </a:xfrm>
          <a:prstGeom prst="rect">
            <a:avLst/>
          </a:prstGeom>
          <a:noFill/>
          <a:ln/>
        </p:spPr>
        <p:txBody>
          <a:bodyPr wrap="square" rtlCol="0" anchor="ctr"/>
          <a:lstStyle/>
          <a:p>
            <a:pPr indent="0" marL="0">
              <a:buNone/>
            </a:pPr>
            <a:r>
              <a:rPr lang="en-US" sz="800" dirty="0">
                <a:solidFill>
                  <a:srgbClr val="888888"/>
                </a:solidFill>
                <a:latin typeface="Arial" pitchFamily="34" charset="0"/>
                <a:ea typeface="Arial" pitchFamily="34" charset="-122"/>
                <a:cs typeface="Arial" pitchFamily="34" charset="-120"/>
              </a:rPr>
              <a:t>VID type</a:t>
            </a:r>
            <a:endParaRPr lang="en-US" sz="800" dirty="0"/>
          </a:p>
        </p:txBody>
      </p:sp>
      <p:sp>
        <p:nvSpPr>
          <p:cNvPr id="41" name="Text 39"/>
          <p:cNvSpPr/>
          <p:nvPr/>
        </p:nvSpPr>
        <p:spPr>
          <a:xfrm>
            <a:off x="521208" y="3584448"/>
            <a:ext cx="2468880" cy="219456"/>
          </a:xfrm>
          <a:prstGeom prst="rect">
            <a:avLst/>
          </a:prstGeom>
          <a:noFill/>
          <a:ln/>
        </p:spPr>
        <p:txBody>
          <a:bodyPr wrap="square" rtlCol="0" anchor="ctr"/>
          <a:lstStyle/>
          <a:p>
            <a:pPr indent="0" marL="0">
              <a:buNone/>
            </a:pPr>
            <a:r>
              <a:rPr lang="en-US" sz="1000" b="1" dirty="0">
                <a:solidFill>
                  <a:srgbClr val="0F6E56"/>
                </a:solidFill>
                <a:latin typeface="Arial" pitchFamily="34" charset="0"/>
                <a:ea typeface="Arial" pitchFamily="34" charset="-122"/>
                <a:cs typeface="Arial" pitchFamily="34" charset="-120"/>
              </a:rPr>
              <a:t>Virtual SA ID</a:t>
            </a:r>
            <a:endParaRPr lang="en-US" sz="1000" dirty="0"/>
          </a:p>
        </p:txBody>
      </p:sp>
      <p:sp>
        <p:nvSpPr>
          <p:cNvPr id="42" name="Text 40"/>
          <p:cNvSpPr/>
          <p:nvPr/>
        </p:nvSpPr>
        <p:spPr>
          <a:xfrm>
            <a:off x="521208" y="3840480"/>
            <a:ext cx="1645920" cy="182880"/>
          </a:xfrm>
          <a:prstGeom prst="rect">
            <a:avLst/>
          </a:prstGeom>
          <a:noFill/>
          <a:ln/>
        </p:spPr>
        <p:txBody>
          <a:bodyPr wrap="square" rtlCol="0" anchor="ctr"/>
          <a:lstStyle/>
          <a:p>
            <a:pPr indent="0" marL="0">
              <a:buNone/>
            </a:pPr>
            <a:r>
              <a:rPr lang="en-US" sz="850" dirty="0">
                <a:solidFill>
                  <a:srgbClr val="888888"/>
                </a:solidFill>
                <a:latin typeface="Arial" pitchFamily="34" charset="0"/>
                <a:ea typeface="Arial" pitchFamily="34" charset="-122"/>
                <a:cs typeface="Arial" pitchFamily="34" charset="-120"/>
              </a:rPr>
              <a:t>Southern Africa</a:t>
            </a:r>
            <a:endParaRPr lang="en-US" sz="850" dirty="0"/>
          </a:p>
        </p:txBody>
      </p:sp>
      <p:sp>
        <p:nvSpPr>
          <p:cNvPr id="43" name="Text 41"/>
          <p:cNvSpPr/>
          <p:nvPr/>
        </p:nvSpPr>
        <p:spPr>
          <a:xfrm>
            <a:off x="521208" y="4041648"/>
            <a:ext cx="1371600" cy="182880"/>
          </a:xfrm>
          <a:prstGeom prst="rect">
            <a:avLst/>
          </a:prstGeom>
          <a:noFill/>
          <a:ln/>
        </p:spPr>
        <p:txBody>
          <a:bodyPr wrap="square" rtlCol="0" anchor="ctr"/>
          <a:lstStyle/>
          <a:p>
            <a:pPr indent="0" marL="0">
              <a:buNone/>
            </a:pPr>
            <a:r>
              <a:rPr lang="en-US" sz="800" dirty="0">
                <a:solidFill>
                  <a:srgbClr val="888888"/>
                </a:solidFill>
                <a:latin typeface="Arial" pitchFamily="34" charset="0"/>
                <a:ea typeface="Arial" pitchFamily="34" charset="-122"/>
                <a:cs typeface="Arial" pitchFamily="34" charset="-120"/>
              </a:rPr>
              <a:t>Score example</a:t>
            </a:r>
            <a:endParaRPr lang="en-US" sz="800" dirty="0"/>
          </a:p>
        </p:txBody>
      </p:sp>
      <p:sp>
        <p:nvSpPr>
          <p:cNvPr id="44" name="Text 42"/>
          <p:cNvSpPr/>
          <p:nvPr/>
        </p:nvSpPr>
        <p:spPr>
          <a:xfrm>
            <a:off x="1874520" y="4023360"/>
            <a:ext cx="1078992" cy="219456"/>
          </a:xfrm>
          <a:prstGeom prst="rect">
            <a:avLst/>
          </a:prstGeom>
          <a:noFill/>
          <a:ln/>
        </p:spPr>
        <p:txBody>
          <a:bodyPr wrap="square" rtlCol="0" anchor="ctr"/>
          <a:lstStyle/>
          <a:p>
            <a:pPr algn="r" indent="0" marL="0">
              <a:buNone/>
            </a:pPr>
            <a:r>
              <a:rPr lang="en-US" sz="1300" b="1" dirty="0">
                <a:solidFill>
                  <a:srgbClr val="1D9E75"/>
                </a:solidFill>
                <a:latin typeface="Arial" pitchFamily="34" charset="0"/>
                <a:ea typeface="Arial" pitchFamily="34" charset="-122"/>
                <a:cs typeface="Arial" pitchFamily="34" charset="-120"/>
              </a:rPr>
              <a:t>96/100</a:t>
            </a:r>
            <a:endParaRPr lang="en-US" sz="1300" dirty="0"/>
          </a:p>
        </p:txBody>
      </p:sp>
      <p:sp>
        <p:nvSpPr>
          <p:cNvPr id="45" name="Shape 43"/>
          <p:cNvSpPr/>
          <p:nvPr/>
        </p:nvSpPr>
        <p:spPr>
          <a:xfrm>
            <a:off x="3246120" y="3017520"/>
            <a:ext cx="2651760" cy="1536192"/>
          </a:xfrm>
          <a:prstGeom prst="roundRect">
            <a:avLst>
              <a:gd name="adj" fmla="val 4762"/>
            </a:avLst>
          </a:prstGeom>
          <a:solidFill>
            <a:srgbClr val="FFFFFF"/>
          </a:solidFill>
          <a:ln w="6350">
            <a:solidFill>
              <a:srgbClr val="DDDDDD"/>
            </a:solidFill>
            <a:prstDash val="solid"/>
          </a:ln>
          <a:effectLst>
            <a:outerShdw sx="100000" sy="100000" kx="0" ky="0" algn="bl" rotWithShape="0" blurRad="50800" dist="12700" dir="8100000">
              <a:srgbClr val="000000">
                <a:alpha val="7000"/>
              </a:srgbClr>
            </a:outerShdw>
          </a:effectLst>
        </p:spPr>
      </p:sp>
      <p:sp>
        <p:nvSpPr>
          <p:cNvPr id="46" name="Shape 44"/>
          <p:cNvSpPr/>
          <p:nvPr/>
        </p:nvSpPr>
        <p:spPr>
          <a:xfrm>
            <a:off x="3246120" y="3017520"/>
            <a:ext cx="2651760" cy="347472"/>
          </a:xfrm>
          <a:prstGeom prst="roundRect">
            <a:avLst>
              <a:gd name="adj" fmla="val 21053"/>
            </a:avLst>
          </a:prstGeom>
          <a:solidFill>
            <a:srgbClr val="0F6E56"/>
          </a:solidFill>
          <a:ln w="12700">
            <a:solidFill>
              <a:srgbClr val="0F6E56"/>
            </a:solidFill>
            <a:prstDash val="solid"/>
          </a:ln>
        </p:spPr>
      </p:sp>
      <p:sp>
        <p:nvSpPr>
          <p:cNvPr id="47" name="Text 45"/>
          <p:cNvSpPr/>
          <p:nvPr/>
        </p:nvSpPr>
        <p:spPr>
          <a:xfrm>
            <a:off x="3355848" y="3017520"/>
            <a:ext cx="1645920" cy="347472"/>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Ethiopia</a:t>
            </a:r>
            <a:endParaRPr lang="en-US" sz="1200" dirty="0"/>
          </a:p>
        </p:txBody>
      </p:sp>
      <p:sp>
        <p:nvSpPr>
          <p:cNvPr id="48" name="Text 46"/>
          <p:cNvSpPr/>
          <p:nvPr/>
        </p:nvSpPr>
        <p:spPr>
          <a:xfrm>
            <a:off x="4983480" y="3017520"/>
            <a:ext cx="804672" cy="347472"/>
          </a:xfrm>
          <a:prstGeom prst="rect">
            <a:avLst/>
          </a:prstGeom>
          <a:noFill/>
          <a:ln/>
        </p:spPr>
        <p:txBody>
          <a:bodyPr wrap="square" rtlCol="0" anchor="ctr"/>
          <a:lstStyle/>
          <a:p>
            <a:pPr algn="r" indent="0" marL="0">
              <a:buNone/>
            </a:pPr>
            <a:r>
              <a:rPr lang="en-US" sz="1000" dirty="0">
                <a:solidFill>
                  <a:srgbClr val="9FE1CB"/>
                </a:solidFill>
                <a:latin typeface="Arial" pitchFamily="34" charset="0"/>
                <a:ea typeface="Arial" pitchFamily="34" charset="-122"/>
                <a:cs typeface="Arial" pitchFamily="34" charset="-120"/>
              </a:rPr>
              <a:t>+251</a:t>
            </a:r>
            <a:endParaRPr lang="en-US" sz="1000" dirty="0"/>
          </a:p>
        </p:txBody>
      </p:sp>
      <p:sp>
        <p:nvSpPr>
          <p:cNvPr id="49" name="Text 47"/>
          <p:cNvSpPr/>
          <p:nvPr/>
        </p:nvSpPr>
        <p:spPr>
          <a:xfrm>
            <a:off x="3355848" y="3419856"/>
            <a:ext cx="2468880" cy="182880"/>
          </a:xfrm>
          <a:prstGeom prst="rect">
            <a:avLst/>
          </a:prstGeom>
          <a:noFill/>
          <a:ln/>
        </p:spPr>
        <p:txBody>
          <a:bodyPr wrap="square" rtlCol="0" anchor="ctr"/>
          <a:lstStyle/>
          <a:p>
            <a:pPr indent="0" marL="0">
              <a:buNone/>
            </a:pPr>
            <a:r>
              <a:rPr lang="en-US" sz="800" dirty="0">
                <a:solidFill>
                  <a:srgbClr val="888888"/>
                </a:solidFill>
                <a:latin typeface="Arial" pitchFamily="34" charset="0"/>
                <a:ea typeface="Arial" pitchFamily="34" charset="-122"/>
                <a:cs typeface="Arial" pitchFamily="34" charset="-120"/>
              </a:rPr>
              <a:t>VID type</a:t>
            </a:r>
            <a:endParaRPr lang="en-US" sz="800" dirty="0"/>
          </a:p>
        </p:txBody>
      </p:sp>
      <p:sp>
        <p:nvSpPr>
          <p:cNvPr id="50" name="Text 48"/>
          <p:cNvSpPr/>
          <p:nvPr/>
        </p:nvSpPr>
        <p:spPr>
          <a:xfrm>
            <a:off x="3355848" y="3584448"/>
            <a:ext cx="2468880" cy="219456"/>
          </a:xfrm>
          <a:prstGeom prst="rect">
            <a:avLst/>
          </a:prstGeom>
          <a:noFill/>
          <a:ln/>
        </p:spPr>
        <p:txBody>
          <a:bodyPr wrap="square" rtlCol="0" anchor="ctr"/>
          <a:lstStyle/>
          <a:p>
            <a:pPr indent="0" marL="0">
              <a:buNone/>
            </a:pPr>
            <a:r>
              <a:rPr lang="en-US" sz="1000" b="1" dirty="0">
                <a:solidFill>
                  <a:srgbClr val="0F6E56"/>
                </a:solidFill>
                <a:latin typeface="Arial" pitchFamily="34" charset="0"/>
                <a:ea typeface="Arial" pitchFamily="34" charset="-122"/>
                <a:cs typeface="Arial" pitchFamily="34" charset="-120"/>
              </a:rPr>
              <a:t>Virtual Fayda ID</a:t>
            </a:r>
            <a:endParaRPr lang="en-US" sz="1000" dirty="0"/>
          </a:p>
        </p:txBody>
      </p:sp>
      <p:sp>
        <p:nvSpPr>
          <p:cNvPr id="51" name="Text 49"/>
          <p:cNvSpPr/>
          <p:nvPr/>
        </p:nvSpPr>
        <p:spPr>
          <a:xfrm>
            <a:off x="3355848" y="3840480"/>
            <a:ext cx="1645920" cy="182880"/>
          </a:xfrm>
          <a:prstGeom prst="rect">
            <a:avLst/>
          </a:prstGeom>
          <a:noFill/>
          <a:ln/>
        </p:spPr>
        <p:txBody>
          <a:bodyPr wrap="square" rtlCol="0" anchor="ctr"/>
          <a:lstStyle/>
          <a:p>
            <a:pPr indent="0" marL="0">
              <a:buNone/>
            </a:pPr>
            <a:r>
              <a:rPr lang="en-US" sz="850" dirty="0">
                <a:solidFill>
                  <a:srgbClr val="888888"/>
                </a:solidFill>
                <a:latin typeface="Arial" pitchFamily="34" charset="0"/>
                <a:ea typeface="Arial" pitchFamily="34" charset="-122"/>
                <a:cs typeface="Arial" pitchFamily="34" charset="-120"/>
              </a:rPr>
              <a:t>East Africa</a:t>
            </a:r>
            <a:endParaRPr lang="en-US" sz="850" dirty="0"/>
          </a:p>
        </p:txBody>
      </p:sp>
      <p:sp>
        <p:nvSpPr>
          <p:cNvPr id="52" name="Text 50"/>
          <p:cNvSpPr/>
          <p:nvPr/>
        </p:nvSpPr>
        <p:spPr>
          <a:xfrm>
            <a:off x="3355848" y="4041648"/>
            <a:ext cx="1371600" cy="182880"/>
          </a:xfrm>
          <a:prstGeom prst="rect">
            <a:avLst/>
          </a:prstGeom>
          <a:noFill/>
          <a:ln/>
        </p:spPr>
        <p:txBody>
          <a:bodyPr wrap="square" rtlCol="0" anchor="ctr"/>
          <a:lstStyle/>
          <a:p>
            <a:pPr indent="0" marL="0">
              <a:buNone/>
            </a:pPr>
            <a:r>
              <a:rPr lang="en-US" sz="800" dirty="0">
                <a:solidFill>
                  <a:srgbClr val="888888"/>
                </a:solidFill>
                <a:latin typeface="Arial" pitchFamily="34" charset="0"/>
                <a:ea typeface="Arial" pitchFamily="34" charset="-122"/>
                <a:cs typeface="Arial" pitchFamily="34" charset="-120"/>
              </a:rPr>
              <a:t>Score example</a:t>
            </a:r>
            <a:endParaRPr lang="en-US" sz="800" dirty="0"/>
          </a:p>
        </p:txBody>
      </p:sp>
      <p:sp>
        <p:nvSpPr>
          <p:cNvPr id="53" name="Text 51"/>
          <p:cNvSpPr/>
          <p:nvPr/>
        </p:nvSpPr>
        <p:spPr>
          <a:xfrm>
            <a:off x="4709160" y="4023360"/>
            <a:ext cx="1078992" cy="219456"/>
          </a:xfrm>
          <a:prstGeom prst="rect">
            <a:avLst/>
          </a:prstGeom>
          <a:noFill/>
          <a:ln/>
        </p:spPr>
        <p:txBody>
          <a:bodyPr wrap="square" rtlCol="0" anchor="ctr"/>
          <a:lstStyle/>
          <a:p>
            <a:pPr algn="r" indent="0" marL="0">
              <a:buNone/>
            </a:pPr>
            <a:r>
              <a:rPr lang="en-US" sz="1300" b="1" dirty="0">
                <a:solidFill>
                  <a:srgbClr val="1D9E75"/>
                </a:solidFill>
                <a:latin typeface="Arial" pitchFamily="34" charset="0"/>
                <a:ea typeface="Arial" pitchFamily="34" charset="-122"/>
                <a:cs typeface="Arial" pitchFamily="34" charset="-120"/>
              </a:rPr>
              <a:t>78/100</a:t>
            </a:r>
            <a:endParaRPr lang="en-US" sz="1300" dirty="0"/>
          </a:p>
        </p:txBody>
      </p:sp>
      <p:sp>
        <p:nvSpPr>
          <p:cNvPr id="54" name="Shape 52"/>
          <p:cNvSpPr/>
          <p:nvPr/>
        </p:nvSpPr>
        <p:spPr>
          <a:xfrm>
            <a:off x="6080760" y="3017520"/>
            <a:ext cx="2651760" cy="1536192"/>
          </a:xfrm>
          <a:prstGeom prst="roundRect">
            <a:avLst>
              <a:gd name="adj" fmla="val 4762"/>
            </a:avLst>
          </a:prstGeom>
          <a:solidFill>
            <a:srgbClr val="FFFFFF"/>
          </a:solidFill>
          <a:ln w="6350">
            <a:solidFill>
              <a:srgbClr val="DDDDDD"/>
            </a:solidFill>
            <a:prstDash val="solid"/>
          </a:ln>
          <a:effectLst>
            <a:outerShdw sx="100000" sy="100000" kx="0" ky="0" algn="bl" rotWithShape="0" blurRad="50800" dist="12700" dir="8100000">
              <a:srgbClr val="000000">
                <a:alpha val="7000"/>
              </a:srgbClr>
            </a:outerShdw>
          </a:effectLst>
        </p:spPr>
      </p:sp>
      <p:sp>
        <p:nvSpPr>
          <p:cNvPr id="55" name="Shape 53"/>
          <p:cNvSpPr/>
          <p:nvPr/>
        </p:nvSpPr>
        <p:spPr>
          <a:xfrm>
            <a:off x="6080760" y="3017520"/>
            <a:ext cx="2651760" cy="347472"/>
          </a:xfrm>
          <a:prstGeom prst="roundRect">
            <a:avLst>
              <a:gd name="adj" fmla="val 21053"/>
            </a:avLst>
          </a:prstGeom>
          <a:solidFill>
            <a:srgbClr val="0F6E56"/>
          </a:solidFill>
          <a:ln w="12700">
            <a:solidFill>
              <a:srgbClr val="0F6E56"/>
            </a:solidFill>
            <a:prstDash val="solid"/>
          </a:ln>
        </p:spPr>
      </p:sp>
      <p:sp>
        <p:nvSpPr>
          <p:cNvPr id="56" name="Text 54"/>
          <p:cNvSpPr/>
          <p:nvPr/>
        </p:nvSpPr>
        <p:spPr>
          <a:xfrm>
            <a:off x="6190488" y="3017520"/>
            <a:ext cx="1645920" cy="347472"/>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Tanzania</a:t>
            </a:r>
            <a:endParaRPr lang="en-US" sz="1200" dirty="0"/>
          </a:p>
        </p:txBody>
      </p:sp>
      <p:sp>
        <p:nvSpPr>
          <p:cNvPr id="57" name="Text 55"/>
          <p:cNvSpPr/>
          <p:nvPr/>
        </p:nvSpPr>
        <p:spPr>
          <a:xfrm>
            <a:off x="7818120" y="3017520"/>
            <a:ext cx="804672" cy="347472"/>
          </a:xfrm>
          <a:prstGeom prst="rect">
            <a:avLst/>
          </a:prstGeom>
          <a:noFill/>
          <a:ln/>
        </p:spPr>
        <p:txBody>
          <a:bodyPr wrap="square" rtlCol="0" anchor="ctr"/>
          <a:lstStyle/>
          <a:p>
            <a:pPr algn="r" indent="0" marL="0">
              <a:buNone/>
            </a:pPr>
            <a:r>
              <a:rPr lang="en-US" sz="1000" dirty="0">
                <a:solidFill>
                  <a:srgbClr val="9FE1CB"/>
                </a:solidFill>
                <a:latin typeface="Arial" pitchFamily="34" charset="0"/>
                <a:ea typeface="Arial" pitchFamily="34" charset="-122"/>
                <a:cs typeface="Arial" pitchFamily="34" charset="-120"/>
              </a:rPr>
              <a:t>+255</a:t>
            </a:r>
            <a:endParaRPr lang="en-US" sz="1000" dirty="0"/>
          </a:p>
        </p:txBody>
      </p:sp>
      <p:sp>
        <p:nvSpPr>
          <p:cNvPr id="58" name="Text 56"/>
          <p:cNvSpPr/>
          <p:nvPr/>
        </p:nvSpPr>
        <p:spPr>
          <a:xfrm>
            <a:off x="6190488" y="3419856"/>
            <a:ext cx="2468880" cy="182880"/>
          </a:xfrm>
          <a:prstGeom prst="rect">
            <a:avLst/>
          </a:prstGeom>
          <a:noFill/>
          <a:ln/>
        </p:spPr>
        <p:txBody>
          <a:bodyPr wrap="square" rtlCol="0" anchor="ctr"/>
          <a:lstStyle/>
          <a:p>
            <a:pPr indent="0" marL="0">
              <a:buNone/>
            </a:pPr>
            <a:r>
              <a:rPr lang="en-US" sz="800" dirty="0">
                <a:solidFill>
                  <a:srgbClr val="888888"/>
                </a:solidFill>
                <a:latin typeface="Arial" pitchFamily="34" charset="0"/>
                <a:ea typeface="Arial" pitchFamily="34" charset="-122"/>
                <a:cs typeface="Arial" pitchFamily="34" charset="-120"/>
              </a:rPr>
              <a:t>VID type</a:t>
            </a:r>
            <a:endParaRPr lang="en-US" sz="800" dirty="0"/>
          </a:p>
        </p:txBody>
      </p:sp>
      <p:sp>
        <p:nvSpPr>
          <p:cNvPr id="59" name="Text 57"/>
          <p:cNvSpPr/>
          <p:nvPr/>
        </p:nvSpPr>
        <p:spPr>
          <a:xfrm>
            <a:off x="6190488" y="3584448"/>
            <a:ext cx="2468880" cy="219456"/>
          </a:xfrm>
          <a:prstGeom prst="rect">
            <a:avLst/>
          </a:prstGeom>
          <a:noFill/>
          <a:ln/>
        </p:spPr>
        <p:txBody>
          <a:bodyPr wrap="square" rtlCol="0" anchor="ctr"/>
          <a:lstStyle/>
          <a:p>
            <a:pPr indent="0" marL="0">
              <a:buNone/>
            </a:pPr>
            <a:r>
              <a:rPr lang="en-US" sz="1000" b="1" dirty="0">
                <a:solidFill>
                  <a:srgbClr val="0F6E56"/>
                </a:solidFill>
                <a:latin typeface="Arial" pitchFamily="34" charset="0"/>
                <a:ea typeface="Arial" pitchFamily="34" charset="-122"/>
                <a:cs typeface="Arial" pitchFamily="34" charset="-120"/>
              </a:rPr>
              <a:t>Virtual NIDA</a:t>
            </a:r>
            <a:endParaRPr lang="en-US" sz="1000" dirty="0"/>
          </a:p>
        </p:txBody>
      </p:sp>
      <p:sp>
        <p:nvSpPr>
          <p:cNvPr id="60" name="Text 58"/>
          <p:cNvSpPr/>
          <p:nvPr/>
        </p:nvSpPr>
        <p:spPr>
          <a:xfrm>
            <a:off x="6190488" y="3840480"/>
            <a:ext cx="1645920" cy="182880"/>
          </a:xfrm>
          <a:prstGeom prst="rect">
            <a:avLst/>
          </a:prstGeom>
          <a:noFill/>
          <a:ln/>
        </p:spPr>
        <p:txBody>
          <a:bodyPr wrap="square" rtlCol="0" anchor="ctr"/>
          <a:lstStyle/>
          <a:p>
            <a:pPr indent="0" marL="0">
              <a:buNone/>
            </a:pPr>
            <a:r>
              <a:rPr lang="en-US" sz="850" dirty="0">
                <a:solidFill>
                  <a:srgbClr val="888888"/>
                </a:solidFill>
                <a:latin typeface="Arial" pitchFamily="34" charset="0"/>
                <a:ea typeface="Arial" pitchFamily="34" charset="-122"/>
                <a:cs typeface="Arial" pitchFamily="34" charset="-120"/>
              </a:rPr>
              <a:t>East Africa</a:t>
            </a:r>
            <a:endParaRPr lang="en-US" sz="850" dirty="0"/>
          </a:p>
        </p:txBody>
      </p:sp>
      <p:sp>
        <p:nvSpPr>
          <p:cNvPr id="61" name="Text 59"/>
          <p:cNvSpPr/>
          <p:nvPr/>
        </p:nvSpPr>
        <p:spPr>
          <a:xfrm>
            <a:off x="6190488" y="4041648"/>
            <a:ext cx="1371600" cy="182880"/>
          </a:xfrm>
          <a:prstGeom prst="rect">
            <a:avLst/>
          </a:prstGeom>
          <a:noFill/>
          <a:ln/>
        </p:spPr>
        <p:txBody>
          <a:bodyPr wrap="square" rtlCol="0" anchor="ctr"/>
          <a:lstStyle/>
          <a:p>
            <a:pPr indent="0" marL="0">
              <a:buNone/>
            </a:pPr>
            <a:r>
              <a:rPr lang="en-US" sz="800" dirty="0">
                <a:solidFill>
                  <a:srgbClr val="888888"/>
                </a:solidFill>
                <a:latin typeface="Arial" pitchFamily="34" charset="0"/>
                <a:ea typeface="Arial" pitchFamily="34" charset="-122"/>
                <a:cs typeface="Arial" pitchFamily="34" charset="-120"/>
              </a:rPr>
              <a:t>Score example</a:t>
            </a:r>
            <a:endParaRPr lang="en-US" sz="800" dirty="0"/>
          </a:p>
        </p:txBody>
      </p:sp>
      <p:sp>
        <p:nvSpPr>
          <p:cNvPr id="62" name="Text 60"/>
          <p:cNvSpPr/>
          <p:nvPr/>
        </p:nvSpPr>
        <p:spPr>
          <a:xfrm>
            <a:off x="7543800" y="4023360"/>
            <a:ext cx="1078992" cy="219456"/>
          </a:xfrm>
          <a:prstGeom prst="rect">
            <a:avLst/>
          </a:prstGeom>
          <a:noFill/>
          <a:ln/>
        </p:spPr>
        <p:txBody>
          <a:bodyPr wrap="square" rtlCol="0" anchor="ctr"/>
          <a:lstStyle/>
          <a:p>
            <a:pPr algn="r" indent="0" marL="0">
              <a:buNone/>
            </a:pPr>
            <a:r>
              <a:rPr lang="en-US" sz="1300" b="1" dirty="0">
                <a:solidFill>
                  <a:srgbClr val="1D9E75"/>
                </a:solidFill>
                <a:latin typeface="Arial" pitchFamily="34" charset="0"/>
                <a:ea typeface="Arial" pitchFamily="34" charset="-122"/>
                <a:cs typeface="Arial" pitchFamily="34" charset="-120"/>
              </a:rPr>
              <a:t>—</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8F6"/>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BA7517"/>
          </a:solidFill>
          <a:ln w="12700">
            <a:solidFill>
              <a:srgbClr val="BA7517"/>
            </a:solidFill>
            <a:prstDash val="solid"/>
          </a:ln>
        </p:spPr>
      </p:sp>
      <p:sp>
        <p:nvSpPr>
          <p:cNvPr id="3" name="Shape 1"/>
          <p:cNvSpPr/>
          <p:nvPr/>
        </p:nvSpPr>
        <p:spPr>
          <a:xfrm>
            <a:off x="0" y="4983480"/>
            <a:ext cx="9144000" cy="164592"/>
          </a:xfrm>
          <a:prstGeom prst="rect">
            <a:avLst/>
          </a:prstGeom>
          <a:solidFill>
            <a:srgbClr val="085041"/>
          </a:solidFill>
          <a:ln w="12700">
            <a:solidFill>
              <a:srgbClr val="085041"/>
            </a:solidFill>
            <a:prstDash val="solid"/>
          </a:ln>
        </p:spPr>
      </p:sp>
      <p:sp>
        <p:nvSpPr>
          <p:cNvPr id="4" name="Text 2"/>
          <p:cNvSpPr/>
          <p:nvPr/>
        </p:nvSpPr>
        <p:spPr>
          <a:xfrm>
            <a:off x="274320" y="4992624"/>
            <a:ext cx="8595360" cy="146304"/>
          </a:xfrm>
          <a:prstGeom prst="rect">
            <a:avLst/>
          </a:prstGeom>
          <a:noFill/>
          <a:ln/>
        </p:spPr>
        <p:txBody>
          <a:bodyPr wrap="square" rtlCol="0" anchor="ctr"/>
          <a:lstStyle/>
          <a:p>
            <a:pPr algn="ctr" indent="0" marL="0">
              <a:buNone/>
            </a:pPr>
            <a:r>
              <a:rPr lang="en-US" sz="700" dirty="0">
                <a:solidFill>
                  <a:srgbClr val="5DCAA5"/>
                </a:solidFill>
                <a:latin typeface="Arial" pitchFamily="34" charset="0"/>
                <a:ea typeface="Arial" pitchFamily="34" charset="-122"/>
                <a:cs typeface="Arial" pitchFamily="34" charset="-120"/>
              </a:rPr>
              <a:t>VID · Virtual ID · Africa Ignite Hackathon 2026</a:t>
            </a:r>
            <a:endParaRPr lang="en-US" sz="700" dirty="0"/>
          </a:p>
        </p:txBody>
      </p:sp>
      <p:sp>
        <p:nvSpPr>
          <p:cNvPr id="5" name="Shape 3"/>
          <p:cNvSpPr/>
          <p:nvPr/>
        </p:nvSpPr>
        <p:spPr>
          <a:xfrm>
            <a:off x="411480" y="256032"/>
            <a:ext cx="2103120" cy="228600"/>
          </a:xfrm>
          <a:prstGeom prst="roundRect">
            <a:avLst>
              <a:gd name="adj" fmla="val 20000"/>
            </a:avLst>
          </a:prstGeom>
          <a:solidFill>
            <a:srgbClr val="BA7517"/>
          </a:solidFill>
          <a:ln w="12700">
            <a:solidFill>
              <a:srgbClr val="BA7517"/>
            </a:solidFill>
            <a:prstDash val="solid"/>
          </a:ln>
        </p:spPr>
      </p:sp>
      <p:sp>
        <p:nvSpPr>
          <p:cNvPr id="6" name="Text 4"/>
          <p:cNvSpPr/>
          <p:nvPr/>
        </p:nvSpPr>
        <p:spPr>
          <a:xfrm>
            <a:off x="411480" y="256032"/>
            <a:ext cx="2103120" cy="228600"/>
          </a:xfrm>
          <a:prstGeom prst="rect">
            <a:avLst/>
          </a:prstGeom>
          <a:noFill/>
          <a:ln/>
        </p:spPr>
        <p:txBody>
          <a:bodyPr wrap="square" rtlCol="0" anchor="ctr"/>
          <a:lstStyle/>
          <a:p>
            <a:pPr algn="ctr" indent="0" marL="0">
              <a:buNone/>
            </a:pPr>
            <a:r>
              <a:rPr lang="en-US" sz="800" b="1" spc="100" kern="0" dirty="0">
                <a:solidFill>
                  <a:srgbClr val="FFFFFF"/>
                </a:solidFill>
                <a:latin typeface="Arial" pitchFamily="34" charset="0"/>
                <a:ea typeface="Arial" pitchFamily="34" charset="-122"/>
                <a:cs typeface="Arial" pitchFamily="34" charset="-120"/>
              </a:rPr>
              <a:t>CURRENT BUILD STATUS</a:t>
            </a:r>
            <a:endParaRPr lang="en-US" sz="800" dirty="0"/>
          </a:p>
        </p:txBody>
      </p:sp>
      <p:sp>
        <p:nvSpPr>
          <p:cNvPr id="7" name="Text 5"/>
          <p:cNvSpPr/>
          <p:nvPr/>
        </p:nvSpPr>
        <p:spPr>
          <a:xfrm>
            <a:off x="411480" y="566928"/>
            <a:ext cx="8321040" cy="411480"/>
          </a:xfrm>
          <a:prstGeom prst="rect">
            <a:avLst/>
          </a:prstGeom>
          <a:noFill/>
          <a:ln/>
        </p:spPr>
        <p:txBody>
          <a:bodyPr wrap="square" rtlCol="0" anchor="ctr"/>
          <a:lstStyle/>
          <a:p>
            <a:pPr indent="0" marL="0">
              <a:buNone/>
            </a:pPr>
            <a:r>
              <a:rPr lang="en-US" sz="2000" b="1" dirty="0">
                <a:solidFill>
                  <a:srgbClr val="1A1A1A"/>
                </a:solidFill>
                <a:latin typeface="Arial" pitchFamily="34" charset="0"/>
                <a:ea typeface="Arial" pitchFamily="34" charset="-122"/>
                <a:cs typeface="Arial" pitchFamily="34" charset="-120"/>
              </a:rPr>
              <a:t>Where We Are Right Now</a:t>
            </a:r>
            <a:endParaRPr lang="en-US" sz="2000" dirty="0"/>
          </a:p>
        </p:txBody>
      </p:sp>
      <p:sp>
        <p:nvSpPr>
          <p:cNvPr id="8" name="Text 6"/>
          <p:cNvSpPr/>
          <p:nvPr/>
        </p:nvSpPr>
        <p:spPr>
          <a:xfrm>
            <a:off x="411480" y="1005840"/>
            <a:ext cx="8321040" cy="256032"/>
          </a:xfrm>
          <a:prstGeom prst="rect">
            <a:avLst/>
          </a:prstGeom>
          <a:noFill/>
          <a:ln/>
        </p:spPr>
        <p:txBody>
          <a:bodyPr wrap="square" rtlCol="0" anchor="ctr"/>
          <a:lstStyle/>
          <a:p>
            <a:pPr indent="0" marL="0">
              <a:buNone/>
            </a:pPr>
            <a:r>
              <a:rPr lang="en-US" sz="1000" i="1" dirty="0">
                <a:solidFill>
                  <a:srgbClr val="888888"/>
                </a:solidFill>
                <a:latin typeface="Arial" pitchFamily="34" charset="0"/>
                <a:ea typeface="Arial" pitchFamily="34" charset="-122"/>
                <a:cs typeface="Arial" pitchFamily="34" charset="-120"/>
              </a:rPr>
              <a:t>Prototype phase opened 24 April. This is our honest status entering the mentorship session.</a:t>
            </a:r>
            <a:endParaRPr lang="en-US" sz="1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11480" y="1316736"/>
          <a:ext cx="8321040" cy="3456432"/>
        </p:xfrm>
        <a:graphic>
          <a:graphicData uri="http://schemas.openxmlformats.org/drawingml/2006/table">
            <a:tbl>
              <a:tblPr/>
              <a:tblGrid>
                <a:gridCol w="6583680"/>
                <a:gridCol w="1737360"/>
              </a:tblGrid>
              <a:tr h="374904">
                <a:tc>
                  <a:txBody>
                    <a:bodyPr/>
                    <a:lstStyle/>
                    <a:p>
                      <a:pPr indent="0" marL="0">
                        <a:buNone/>
                      </a:pPr>
                      <a:r>
                        <a:rPr lang="en-US" sz="1000" b="1" dirty="0">
                          <a:solidFill>
                            <a:srgbClr val="FFFFFF"/>
                          </a:solidFill>
                        </a:rPr>
                        <a:t>Feature / Module</a:t>
                      </a:r>
                      <a:endParaRPr lang="en-US" sz="100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BA7517"/>
                    </a:solidFill>
                  </a:tcPr>
                </a:tc>
                <a:tc>
                  <a:txBody>
                    <a:bodyPr/>
                    <a:lstStyle/>
                    <a:p>
                      <a:pPr indent="0" marL="0">
                        <a:buNone/>
                      </a:pPr>
                      <a:r>
                        <a:rPr lang="en-US" sz="1000" b="1" dirty="0">
                          <a:solidFill>
                            <a:srgbClr val="FFFFFF"/>
                          </a:solidFill>
                        </a:rPr>
                        <a:t>Status</a:t>
                      </a:r>
                      <a:endParaRPr lang="en-US" sz="100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BA7517"/>
                    </a:solidFill>
                  </a:tcPr>
                </a:tc>
              </a:tr>
              <a:tr h="374904">
                <a:tc>
                  <a:txBody>
                    <a:bodyPr/>
                    <a:lstStyle/>
                    <a:p>
                      <a:pPr indent="0" marL="0">
                        <a:buNone/>
                      </a:pPr>
                      <a:r>
                        <a:rPr lang="en-US" sz="950" dirty="0">
                          <a:solidFill>
                            <a:srgbClr val="1A1A1A"/>
                          </a:solidFill>
                        </a:rPr>
                        <a:t>GitHub repo + Railway backend + Vercel frontend</a:t>
                      </a:r>
                      <a:endParaRPr lang="en-US" sz="95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950" b="1" dirty="0">
                          <a:solidFill>
                            <a:srgbClr val="1D9E75"/>
                          </a:solidFill>
                        </a:rPr>
                        <a:t>Complete</a:t>
                      </a:r>
                      <a:endParaRPr lang="en-US" sz="95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F5EE"/>
                    </a:solidFill>
                  </a:tcPr>
                </a:tc>
              </a:tr>
              <a:tr h="374904">
                <a:tc>
                  <a:txBody>
                    <a:bodyPr/>
                    <a:lstStyle/>
                    <a:p>
                      <a:pPr indent="0" marL="0">
                        <a:buNone/>
                      </a:pPr>
                      <a:r>
                        <a:rPr lang="en-US" sz="950" dirty="0">
                          <a:solidFill>
                            <a:srgbClr val="1A1A1A"/>
                          </a:solidFill>
                        </a:rPr>
                        <a:t>Nokia NaC sandbox access confirmed</a:t>
                      </a:r>
                      <a:endParaRPr lang="en-US" sz="95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950" b="1" dirty="0">
                          <a:solidFill>
                            <a:srgbClr val="1D9E75"/>
                          </a:solidFill>
                        </a:rPr>
                        <a:t>Complete</a:t>
                      </a:r>
                      <a:endParaRPr lang="en-US" sz="95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1F5EE"/>
                    </a:solidFill>
                  </a:tcPr>
                </a:tc>
              </a:tr>
              <a:tr h="374904">
                <a:tc>
                  <a:txBody>
                    <a:bodyPr/>
                    <a:lstStyle/>
                    <a:p>
                      <a:pPr indent="0" marL="0">
                        <a:buNone/>
                      </a:pPr>
                      <a:r>
                        <a:rPr lang="en-US" sz="950" dirty="0">
                          <a:solidFill>
                            <a:srgbClr val="1A1A1A"/>
                          </a:solidFill>
                        </a:rPr>
                        <a:t>POST /enroll endpoint — SIM Swap + Number Verify integrated</a:t>
                      </a:r>
                      <a:endParaRPr lang="en-US" sz="95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950" b="1" dirty="0">
                          <a:solidFill>
                            <a:srgbClr val="BA7517"/>
                          </a:solidFill>
                        </a:rPr>
                        <a:t>In Progress</a:t>
                      </a:r>
                      <a:endParaRPr lang="en-US" sz="95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EEDA"/>
                    </a:solidFill>
                  </a:tcPr>
                </a:tc>
              </a:tr>
              <a:tr h="374904">
                <a:tc>
                  <a:txBody>
                    <a:bodyPr/>
                    <a:lstStyle/>
                    <a:p>
                      <a:pPr indent="0" marL="0">
                        <a:buNone/>
                      </a:pPr>
                      <a:r>
                        <a:rPr lang="en-US" sz="950" dirty="0">
                          <a:solidFill>
                            <a:srgbClr val="1A1A1A"/>
                          </a:solidFill>
                        </a:rPr>
                        <a:t>KYC Match + Location Verification + Device Status integration</a:t>
                      </a:r>
                      <a:endParaRPr lang="en-US" sz="95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950" b="1" dirty="0">
                          <a:solidFill>
                            <a:srgbClr val="BA7517"/>
                          </a:solidFill>
                        </a:rPr>
                        <a:t>In Progress</a:t>
                      </a:r>
                      <a:endParaRPr lang="en-US" sz="95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EEDA"/>
                    </a:solidFill>
                  </a:tcPr>
                </a:tc>
              </a:tr>
              <a:tr h="374904">
                <a:tc>
                  <a:txBody>
                    <a:bodyPr/>
                    <a:lstStyle/>
                    <a:p>
                      <a:pPr indent="0" marL="0">
                        <a:buNone/>
                      </a:pPr>
                      <a:r>
                        <a:rPr lang="en-US" sz="950" dirty="0">
                          <a:solidFill>
                            <a:srgbClr val="1A1A1A"/>
                          </a:solidFill>
                        </a:rPr>
                        <a:t>AI trust scoring engine (weighted 0–100)</a:t>
                      </a:r>
                      <a:endParaRPr lang="en-US" sz="95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950" b="1" dirty="0">
                          <a:solidFill>
                            <a:srgbClr val="BA7517"/>
                          </a:solidFill>
                        </a:rPr>
                        <a:t>In Progress</a:t>
                      </a:r>
                      <a:endParaRPr lang="en-US" sz="95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EEDA"/>
                    </a:solidFill>
                  </a:tcPr>
                </a:tc>
              </a:tr>
              <a:tr h="374904">
                <a:tc>
                  <a:txBody>
                    <a:bodyPr/>
                    <a:lstStyle/>
                    <a:p>
                      <a:pPr indent="0" marL="0">
                        <a:buNone/>
                      </a:pPr>
                      <a:r>
                        <a:rPr lang="en-US" sz="950" dirty="0">
                          <a:solidFill>
                            <a:srgbClr val="1A1A1A"/>
                          </a:solidFill>
                        </a:rPr>
                        <a:t>Enrollment form + Trust score UI (React)</a:t>
                      </a:r>
                      <a:endParaRPr lang="en-US" sz="95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950" b="1" dirty="0">
                          <a:solidFill>
                            <a:srgbClr val="BA7517"/>
                          </a:solidFill>
                        </a:rPr>
                        <a:t>In Progress</a:t>
                      </a:r>
                      <a:endParaRPr lang="en-US" sz="95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AEEDA"/>
                    </a:solidFill>
                  </a:tcPr>
                </a:tc>
              </a:tr>
              <a:tr h="374904">
                <a:tc>
                  <a:txBody>
                    <a:bodyPr/>
                    <a:lstStyle/>
                    <a:p>
                      <a:pPr indent="0" marL="0">
                        <a:buNone/>
                      </a:pPr>
                      <a:r>
                        <a:rPr lang="en-US" sz="950" dirty="0">
                          <a:solidFill>
                            <a:srgbClr val="1A1A1A"/>
                          </a:solidFill>
                        </a:rPr>
                        <a:t>VID certificate renderer + QR generation</a:t>
                      </a:r>
                      <a:endParaRPr lang="en-US" sz="95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950" b="1" dirty="0">
                          <a:solidFill>
                            <a:srgbClr val="888888"/>
                          </a:solidFill>
                        </a:rPr>
                        <a:t>Planned</a:t>
                      </a:r>
                      <a:endParaRPr lang="en-US" sz="95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1EE"/>
                    </a:solidFill>
                  </a:tcPr>
                </a:tc>
              </a:tr>
              <a:tr h="374904">
                <a:tc>
                  <a:txBody>
                    <a:bodyPr/>
                    <a:lstStyle/>
                    <a:p>
                      <a:pPr indent="0" marL="0">
                        <a:buNone/>
                      </a:pPr>
                      <a:r>
                        <a:rPr lang="en-US" sz="950" dirty="0">
                          <a:solidFill>
                            <a:srgbClr val="1A1A1A"/>
                          </a:solidFill>
                        </a:rPr>
                        <a:t>Third-party verifier screen</a:t>
                      </a:r>
                      <a:endParaRPr lang="en-US" sz="95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950" b="1" dirty="0">
                          <a:solidFill>
                            <a:srgbClr val="888888"/>
                          </a:solidFill>
                        </a:rPr>
                        <a:t>Planned</a:t>
                      </a:r>
                      <a:endParaRPr lang="en-US" sz="95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1EE"/>
                    </a:solidFill>
                  </a:tcPr>
                </a:tc>
              </a:tr>
              <a:tr h="374904">
                <a:tc>
                  <a:txBody>
                    <a:bodyPr/>
                    <a:lstStyle/>
                    <a:p>
                      <a:pPr indent="0" marL="0">
                        <a:buNone/>
                      </a:pPr>
                      <a:r>
                        <a:rPr lang="en-US" sz="950" dirty="0">
                          <a:solidFill>
                            <a:srgbClr val="1A1A1A"/>
                          </a:solidFill>
                        </a:rPr>
                        <a:t>54-nation country config + AI explainer</a:t>
                      </a:r>
                      <a:endParaRPr lang="en-US" sz="95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950" b="1" dirty="0">
                          <a:solidFill>
                            <a:srgbClr val="888888"/>
                          </a:solidFill>
                        </a:rPr>
                        <a:t>Planned</a:t>
                      </a:r>
                      <a:endParaRPr lang="en-US" sz="95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1EE"/>
                    </a:solid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8F6"/>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D85A30"/>
          </a:solidFill>
          <a:ln w="12700">
            <a:solidFill>
              <a:srgbClr val="D85A30"/>
            </a:solidFill>
            <a:prstDash val="solid"/>
          </a:ln>
        </p:spPr>
      </p:sp>
      <p:sp>
        <p:nvSpPr>
          <p:cNvPr id="3" name="Shape 1"/>
          <p:cNvSpPr/>
          <p:nvPr/>
        </p:nvSpPr>
        <p:spPr>
          <a:xfrm>
            <a:off x="0" y="4983480"/>
            <a:ext cx="9144000" cy="164592"/>
          </a:xfrm>
          <a:prstGeom prst="rect">
            <a:avLst/>
          </a:prstGeom>
          <a:solidFill>
            <a:srgbClr val="085041"/>
          </a:solidFill>
          <a:ln w="12700">
            <a:solidFill>
              <a:srgbClr val="085041"/>
            </a:solidFill>
            <a:prstDash val="solid"/>
          </a:ln>
        </p:spPr>
      </p:sp>
      <p:sp>
        <p:nvSpPr>
          <p:cNvPr id="4" name="Text 2"/>
          <p:cNvSpPr/>
          <p:nvPr/>
        </p:nvSpPr>
        <p:spPr>
          <a:xfrm>
            <a:off x="274320" y="4992624"/>
            <a:ext cx="8595360" cy="146304"/>
          </a:xfrm>
          <a:prstGeom prst="rect">
            <a:avLst/>
          </a:prstGeom>
          <a:noFill/>
          <a:ln/>
        </p:spPr>
        <p:txBody>
          <a:bodyPr wrap="square" rtlCol="0" anchor="ctr"/>
          <a:lstStyle/>
          <a:p>
            <a:pPr algn="ctr" indent="0" marL="0">
              <a:buNone/>
            </a:pPr>
            <a:r>
              <a:rPr lang="en-US" sz="700" dirty="0">
                <a:solidFill>
                  <a:srgbClr val="5DCAA5"/>
                </a:solidFill>
                <a:latin typeface="Arial" pitchFamily="34" charset="0"/>
                <a:ea typeface="Arial" pitchFamily="34" charset="-122"/>
                <a:cs typeface="Arial" pitchFamily="34" charset="-120"/>
              </a:rPr>
              <a:t>VID · Virtual ID · Africa Ignite Hackathon 2026</a:t>
            </a:r>
            <a:endParaRPr lang="en-US" sz="700" dirty="0"/>
          </a:p>
        </p:txBody>
      </p:sp>
      <p:sp>
        <p:nvSpPr>
          <p:cNvPr id="5" name="Shape 3"/>
          <p:cNvSpPr/>
          <p:nvPr/>
        </p:nvSpPr>
        <p:spPr>
          <a:xfrm>
            <a:off x="411480" y="256032"/>
            <a:ext cx="3008376" cy="228600"/>
          </a:xfrm>
          <a:prstGeom prst="roundRect">
            <a:avLst>
              <a:gd name="adj" fmla="val 20000"/>
            </a:avLst>
          </a:prstGeom>
          <a:solidFill>
            <a:srgbClr val="D85A30"/>
          </a:solidFill>
          <a:ln w="12700">
            <a:solidFill>
              <a:srgbClr val="D85A30"/>
            </a:solidFill>
            <a:prstDash val="solid"/>
          </a:ln>
        </p:spPr>
      </p:sp>
      <p:sp>
        <p:nvSpPr>
          <p:cNvPr id="6" name="Text 4"/>
          <p:cNvSpPr/>
          <p:nvPr/>
        </p:nvSpPr>
        <p:spPr>
          <a:xfrm>
            <a:off x="411480" y="256032"/>
            <a:ext cx="3008376" cy="228600"/>
          </a:xfrm>
          <a:prstGeom prst="rect">
            <a:avLst/>
          </a:prstGeom>
          <a:noFill/>
          <a:ln/>
        </p:spPr>
        <p:txBody>
          <a:bodyPr wrap="square" rtlCol="0" anchor="ctr"/>
          <a:lstStyle/>
          <a:p>
            <a:pPr algn="ctr" indent="0" marL="0">
              <a:buNone/>
            </a:pPr>
            <a:r>
              <a:rPr lang="en-US" sz="800" b="1" spc="100" kern="0" dirty="0">
                <a:solidFill>
                  <a:srgbClr val="FFFFFF"/>
                </a:solidFill>
                <a:latin typeface="Arial" pitchFamily="34" charset="0"/>
                <a:ea typeface="Arial" pitchFamily="34" charset="-122"/>
                <a:cs typeface="Arial" pitchFamily="34" charset="-120"/>
              </a:rPr>
              <a:t>QUESTION 1 — BUILD COMPLETENESS</a:t>
            </a:r>
            <a:endParaRPr lang="en-US" sz="800" dirty="0"/>
          </a:p>
        </p:txBody>
      </p:sp>
      <p:sp>
        <p:nvSpPr>
          <p:cNvPr id="7" name="Text 5"/>
          <p:cNvSpPr/>
          <p:nvPr/>
        </p:nvSpPr>
        <p:spPr>
          <a:xfrm>
            <a:off x="411480" y="566928"/>
            <a:ext cx="8321040" cy="457200"/>
          </a:xfrm>
          <a:prstGeom prst="rect">
            <a:avLst/>
          </a:prstGeom>
          <a:noFill/>
          <a:ln/>
        </p:spPr>
        <p:txBody>
          <a:bodyPr wrap="square" rtlCol="0" anchor="ctr"/>
          <a:lstStyle/>
          <a:p>
            <a:pPr indent="0" marL="0">
              <a:buNone/>
            </a:pPr>
            <a:r>
              <a:rPr lang="en-US" sz="1800" b="1" dirty="0">
                <a:solidFill>
                  <a:srgbClr val="1A1A1A"/>
                </a:solidFill>
                <a:latin typeface="Arial" pitchFamily="34" charset="0"/>
                <a:ea typeface="Arial" pitchFamily="34" charset="-122"/>
                <a:cs typeface="Arial" pitchFamily="34" charset="-120"/>
              </a:rPr>
              <a:t>If We Are Not 100% Finished — What Matters Most?</a:t>
            </a:r>
            <a:endParaRPr lang="en-US" sz="1800" dirty="0"/>
          </a:p>
        </p:txBody>
      </p:sp>
      <p:sp>
        <p:nvSpPr>
          <p:cNvPr id="8" name="Shape 6"/>
          <p:cNvSpPr/>
          <p:nvPr/>
        </p:nvSpPr>
        <p:spPr>
          <a:xfrm>
            <a:off x="411480" y="1097280"/>
            <a:ext cx="8321040" cy="1234440"/>
          </a:xfrm>
          <a:prstGeom prst="roundRect">
            <a:avLst>
              <a:gd name="adj" fmla="val 5926"/>
            </a:avLst>
          </a:prstGeom>
          <a:solidFill>
            <a:srgbClr val="FAECE7"/>
          </a:solidFill>
          <a:ln w="6350">
            <a:solidFill>
              <a:srgbClr val="DDDDDD"/>
            </a:solidFill>
            <a:prstDash val="solid"/>
          </a:ln>
          <a:effectLst>
            <a:outerShdw sx="100000" sy="100000" kx="0" ky="0" algn="bl" rotWithShape="0" blurRad="50800" dist="12700" dir="8100000">
              <a:srgbClr val="000000">
                <a:alpha val="7000"/>
              </a:srgbClr>
            </a:outerShdw>
          </a:effectLst>
        </p:spPr>
      </p:sp>
      <p:sp>
        <p:nvSpPr>
          <p:cNvPr id="9" name="Text 7"/>
          <p:cNvSpPr/>
          <p:nvPr/>
        </p:nvSpPr>
        <p:spPr>
          <a:xfrm>
            <a:off x="594360" y="1170432"/>
            <a:ext cx="7955280" cy="274320"/>
          </a:xfrm>
          <a:prstGeom prst="rect">
            <a:avLst/>
          </a:prstGeom>
          <a:noFill/>
          <a:ln/>
        </p:spPr>
        <p:txBody>
          <a:bodyPr wrap="square" rtlCol="0" anchor="ctr"/>
          <a:lstStyle/>
          <a:p>
            <a:pPr indent="0" marL="0">
              <a:buNone/>
            </a:pPr>
            <a:r>
              <a:rPr lang="en-US" sz="1100" b="1" dirty="0">
                <a:solidFill>
                  <a:srgbClr val="D85A30"/>
                </a:solidFill>
                <a:latin typeface="Arial" pitchFamily="34" charset="0"/>
                <a:ea typeface="Arial" pitchFamily="34" charset="-122"/>
                <a:cs typeface="Arial" pitchFamily="34" charset="-120"/>
              </a:rPr>
              <a:t>Our Question to You</a:t>
            </a:r>
            <a:endParaRPr lang="en-US" sz="1100" dirty="0"/>
          </a:p>
        </p:txBody>
      </p:sp>
      <p:sp>
        <p:nvSpPr>
          <p:cNvPr id="10" name="Text 8"/>
          <p:cNvSpPr/>
          <p:nvPr/>
        </p:nvSpPr>
        <p:spPr>
          <a:xfrm>
            <a:off x="594360" y="1463040"/>
            <a:ext cx="7955280" cy="777240"/>
          </a:xfrm>
          <a:prstGeom prst="rect">
            <a:avLst/>
          </a:prstGeom>
          <a:noFill/>
          <a:ln/>
        </p:spPr>
        <p:txBody>
          <a:bodyPr wrap="square" rtlCol="0" anchor="ctr"/>
          <a:lstStyle/>
          <a:p>
            <a:pPr indent="0" marL="0">
              <a:buNone/>
            </a:pPr>
            <a:r>
              <a:rPr lang="en-US" sz="1000" i="1" dirty="0">
                <a:solidFill>
                  <a:srgbClr val="1A1A1A"/>
                </a:solidFill>
                <a:latin typeface="Arial" pitchFamily="34" charset="0"/>
                <a:ea typeface="Arial" pitchFamily="34" charset="-122"/>
                <a:cs typeface="Arial" pitchFamily="34" charset="-120"/>
              </a:rPr>
              <a:t>If the core and major features of VID work end-to-end — enrollment, CAMARA API calls, trust score, and certificate issuance — but some secondary features (e.g. the third-party verifier screen, the full 54-nation config, or the agentic monitoring layer) are not yet complete, will an incomplete build be a red flag for our chances of winning? Or will the judges weight the quality and innovation of what is working, combined with a clearly evidenced architecture for what remains?</a:t>
            </a:r>
            <a:endParaRPr lang="en-US" sz="1000" dirty="0"/>
          </a:p>
        </p:txBody>
      </p:sp>
      <p:sp>
        <p:nvSpPr>
          <p:cNvPr id="11" name="Shape 9"/>
          <p:cNvSpPr/>
          <p:nvPr/>
        </p:nvSpPr>
        <p:spPr>
          <a:xfrm>
            <a:off x="411480" y="2423160"/>
            <a:ext cx="4023360" cy="2240280"/>
          </a:xfrm>
          <a:prstGeom prst="roundRect">
            <a:avLst>
              <a:gd name="adj" fmla="val 3265"/>
            </a:avLst>
          </a:prstGeom>
          <a:solidFill>
            <a:srgbClr val="FFFFFF"/>
          </a:solidFill>
          <a:ln w="6350">
            <a:solidFill>
              <a:srgbClr val="DDDDDD"/>
            </a:solidFill>
            <a:prstDash val="solid"/>
          </a:ln>
          <a:effectLst>
            <a:outerShdw sx="100000" sy="100000" kx="0" ky="0" algn="bl" rotWithShape="0" blurRad="50800" dist="12700" dir="8100000">
              <a:srgbClr val="000000">
                <a:alpha val="7000"/>
              </a:srgbClr>
            </a:outerShdw>
          </a:effectLst>
        </p:spPr>
      </p:sp>
      <p:sp>
        <p:nvSpPr>
          <p:cNvPr id="12" name="Text 10"/>
          <p:cNvSpPr/>
          <p:nvPr/>
        </p:nvSpPr>
        <p:spPr>
          <a:xfrm>
            <a:off x="594360" y="2496312"/>
            <a:ext cx="3657600" cy="274320"/>
          </a:xfrm>
          <a:prstGeom prst="rect">
            <a:avLst/>
          </a:prstGeom>
          <a:noFill/>
          <a:ln/>
        </p:spPr>
        <p:txBody>
          <a:bodyPr wrap="square" rtlCol="0" anchor="ctr"/>
          <a:lstStyle/>
          <a:p>
            <a:pPr indent="0" marL="0">
              <a:buNone/>
            </a:pPr>
            <a:r>
              <a:rPr lang="en-US" sz="1100" b="1" dirty="0">
                <a:solidFill>
                  <a:srgbClr val="0F6E56"/>
                </a:solidFill>
                <a:latin typeface="Arial" pitchFamily="34" charset="0"/>
                <a:ea typeface="Arial" pitchFamily="34" charset="-122"/>
                <a:cs typeface="Arial" pitchFamily="34" charset="-120"/>
              </a:rPr>
              <a:t>What we will have working</a:t>
            </a:r>
            <a:endParaRPr lang="en-US" sz="1100" dirty="0"/>
          </a:p>
        </p:txBody>
      </p:sp>
      <p:sp>
        <p:nvSpPr>
          <p:cNvPr id="13" name="Shape 11"/>
          <p:cNvSpPr/>
          <p:nvPr/>
        </p:nvSpPr>
        <p:spPr>
          <a:xfrm>
            <a:off x="594360" y="2852928"/>
            <a:ext cx="109728" cy="109728"/>
          </a:xfrm>
          <a:prstGeom prst="ellipse">
            <a:avLst/>
          </a:prstGeom>
          <a:solidFill>
            <a:srgbClr val="1D9E75"/>
          </a:solidFill>
          <a:ln w="12700">
            <a:solidFill>
              <a:srgbClr val="1D9E75"/>
            </a:solidFill>
            <a:prstDash val="solid"/>
          </a:ln>
        </p:spPr>
      </p:sp>
      <p:sp>
        <p:nvSpPr>
          <p:cNvPr id="14" name="Text 12"/>
          <p:cNvSpPr/>
          <p:nvPr/>
        </p:nvSpPr>
        <p:spPr>
          <a:xfrm>
            <a:off x="768096" y="2798064"/>
            <a:ext cx="3474720" cy="292608"/>
          </a:xfrm>
          <a:prstGeom prst="rect">
            <a:avLst/>
          </a:prstGeom>
          <a:noFill/>
          <a:ln/>
        </p:spPr>
        <p:txBody>
          <a:bodyPr wrap="square" rtlCol="0" anchor="ctr"/>
          <a:lstStyle/>
          <a:p>
            <a:pPr indent="0" marL="0">
              <a:buNone/>
            </a:pPr>
            <a:r>
              <a:rPr lang="en-US" sz="950" dirty="0">
                <a:solidFill>
                  <a:srgbClr val="1A1A1A"/>
                </a:solidFill>
                <a:latin typeface="Arial" pitchFamily="34" charset="0"/>
                <a:ea typeface="Arial" pitchFamily="34" charset="-122"/>
                <a:cs typeface="Arial" pitchFamily="34" charset="-120"/>
              </a:rPr>
              <a:t>Full enrollment flow (phone → consent → CAMARA calls → score)</a:t>
            </a:r>
            <a:endParaRPr lang="en-US" sz="950" dirty="0"/>
          </a:p>
        </p:txBody>
      </p:sp>
      <p:sp>
        <p:nvSpPr>
          <p:cNvPr id="15" name="Shape 13"/>
          <p:cNvSpPr/>
          <p:nvPr/>
        </p:nvSpPr>
        <p:spPr>
          <a:xfrm>
            <a:off x="594360" y="3200400"/>
            <a:ext cx="109728" cy="109728"/>
          </a:xfrm>
          <a:prstGeom prst="ellipse">
            <a:avLst/>
          </a:prstGeom>
          <a:solidFill>
            <a:srgbClr val="1D9E75"/>
          </a:solidFill>
          <a:ln w="12700">
            <a:solidFill>
              <a:srgbClr val="1D9E75"/>
            </a:solidFill>
            <a:prstDash val="solid"/>
          </a:ln>
        </p:spPr>
      </p:sp>
      <p:sp>
        <p:nvSpPr>
          <p:cNvPr id="16" name="Text 14"/>
          <p:cNvSpPr/>
          <p:nvPr/>
        </p:nvSpPr>
        <p:spPr>
          <a:xfrm>
            <a:off x="768096" y="3145536"/>
            <a:ext cx="3474720" cy="292608"/>
          </a:xfrm>
          <a:prstGeom prst="rect">
            <a:avLst/>
          </a:prstGeom>
          <a:noFill/>
          <a:ln/>
        </p:spPr>
        <p:txBody>
          <a:bodyPr wrap="square" rtlCol="0" anchor="ctr"/>
          <a:lstStyle/>
          <a:p>
            <a:pPr indent="0" marL="0">
              <a:buNone/>
            </a:pPr>
            <a:r>
              <a:rPr lang="en-US" sz="950" dirty="0">
                <a:solidFill>
                  <a:srgbClr val="1A1A1A"/>
                </a:solidFill>
                <a:latin typeface="Arial" pitchFamily="34" charset="0"/>
                <a:ea typeface="Arial" pitchFamily="34" charset="-122"/>
                <a:cs typeface="Arial" pitchFamily="34" charset="-120"/>
              </a:rPr>
              <a:t>All 5 CAMARA APIs integrated and returning results</a:t>
            </a:r>
            <a:endParaRPr lang="en-US" sz="950" dirty="0"/>
          </a:p>
        </p:txBody>
      </p:sp>
      <p:sp>
        <p:nvSpPr>
          <p:cNvPr id="17" name="Shape 15"/>
          <p:cNvSpPr/>
          <p:nvPr/>
        </p:nvSpPr>
        <p:spPr>
          <a:xfrm>
            <a:off x="594360" y="3547872"/>
            <a:ext cx="109728" cy="109728"/>
          </a:xfrm>
          <a:prstGeom prst="ellipse">
            <a:avLst/>
          </a:prstGeom>
          <a:solidFill>
            <a:srgbClr val="1D9E75"/>
          </a:solidFill>
          <a:ln w="12700">
            <a:solidFill>
              <a:srgbClr val="1D9E75"/>
            </a:solidFill>
            <a:prstDash val="solid"/>
          </a:ln>
        </p:spPr>
      </p:sp>
      <p:sp>
        <p:nvSpPr>
          <p:cNvPr id="18" name="Text 16"/>
          <p:cNvSpPr/>
          <p:nvPr/>
        </p:nvSpPr>
        <p:spPr>
          <a:xfrm>
            <a:off x="768096" y="3493008"/>
            <a:ext cx="3474720" cy="292608"/>
          </a:xfrm>
          <a:prstGeom prst="rect">
            <a:avLst/>
          </a:prstGeom>
          <a:noFill/>
          <a:ln/>
        </p:spPr>
        <p:txBody>
          <a:bodyPr wrap="square" rtlCol="0" anchor="ctr"/>
          <a:lstStyle/>
          <a:p>
            <a:pPr indent="0" marL="0">
              <a:buNone/>
            </a:pPr>
            <a:r>
              <a:rPr lang="en-US" sz="950" dirty="0">
                <a:solidFill>
                  <a:srgbClr val="1A1A1A"/>
                </a:solidFill>
                <a:latin typeface="Arial" pitchFamily="34" charset="0"/>
                <a:ea typeface="Arial" pitchFamily="34" charset="-122"/>
                <a:cs typeface="Arial" pitchFamily="34" charset="-120"/>
              </a:rPr>
              <a:t>Trust scoring engine with weighted breakdown</a:t>
            </a:r>
            <a:endParaRPr lang="en-US" sz="950" dirty="0"/>
          </a:p>
        </p:txBody>
      </p:sp>
      <p:sp>
        <p:nvSpPr>
          <p:cNvPr id="19" name="Shape 17"/>
          <p:cNvSpPr/>
          <p:nvPr/>
        </p:nvSpPr>
        <p:spPr>
          <a:xfrm>
            <a:off x="594360" y="3895344"/>
            <a:ext cx="109728" cy="109728"/>
          </a:xfrm>
          <a:prstGeom prst="ellipse">
            <a:avLst/>
          </a:prstGeom>
          <a:solidFill>
            <a:srgbClr val="1D9E75"/>
          </a:solidFill>
          <a:ln w="12700">
            <a:solidFill>
              <a:srgbClr val="1D9E75"/>
            </a:solidFill>
            <a:prstDash val="solid"/>
          </a:ln>
        </p:spPr>
      </p:sp>
      <p:sp>
        <p:nvSpPr>
          <p:cNvPr id="20" name="Text 18"/>
          <p:cNvSpPr/>
          <p:nvPr/>
        </p:nvSpPr>
        <p:spPr>
          <a:xfrm>
            <a:off x="768096" y="3840480"/>
            <a:ext cx="3474720" cy="292608"/>
          </a:xfrm>
          <a:prstGeom prst="rect">
            <a:avLst/>
          </a:prstGeom>
          <a:noFill/>
          <a:ln/>
        </p:spPr>
        <p:txBody>
          <a:bodyPr wrap="square" rtlCol="0" anchor="ctr"/>
          <a:lstStyle/>
          <a:p>
            <a:pPr indent="0" marL="0">
              <a:buNone/>
            </a:pPr>
            <a:r>
              <a:rPr lang="en-US" sz="950" dirty="0">
                <a:solidFill>
                  <a:srgbClr val="1A1A1A"/>
                </a:solidFill>
                <a:latin typeface="Arial" pitchFamily="34" charset="0"/>
                <a:ea typeface="Arial" pitchFamily="34" charset="-122"/>
                <a:cs typeface="Arial" pitchFamily="34" charset="-120"/>
              </a:rPr>
              <a:t>VID certificate rendered with QR code</a:t>
            </a:r>
            <a:endParaRPr lang="en-US" sz="950" dirty="0"/>
          </a:p>
        </p:txBody>
      </p:sp>
      <p:sp>
        <p:nvSpPr>
          <p:cNvPr id="21" name="Shape 19"/>
          <p:cNvSpPr/>
          <p:nvPr/>
        </p:nvSpPr>
        <p:spPr>
          <a:xfrm>
            <a:off x="594360" y="4242816"/>
            <a:ext cx="109728" cy="109728"/>
          </a:xfrm>
          <a:prstGeom prst="ellipse">
            <a:avLst/>
          </a:prstGeom>
          <a:solidFill>
            <a:srgbClr val="1D9E75"/>
          </a:solidFill>
          <a:ln w="12700">
            <a:solidFill>
              <a:srgbClr val="1D9E75"/>
            </a:solidFill>
            <a:prstDash val="solid"/>
          </a:ln>
        </p:spPr>
      </p:sp>
      <p:sp>
        <p:nvSpPr>
          <p:cNvPr id="22" name="Text 20"/>
          <p:cNvSpPr/>
          <p:nvPr/>
        </p:nvSpPr>
        <p:spPr>
          <a:xfrm>
            <a:off x="768096" y="4187952"/>
            <a:ext cx="3474720" cy="292608"/>
          </a:xfrm>
          <a:prstGeom prst="rect">
            <a:avLst/>
          </a:prstGeom>
          <a:noFill/>
          <a:ln/>
        </p:spPr>
        <p:txBody>
          <a:bodyPr wrap="square" rtlCol="0" anchor="ctr"/>
          <a:lstStyle/>
          <a:p>
            <a:pPr indent="0" marL="0">
              <a:buNone/>
            </a:pPr>
            <a:r>
              <a:rPr lang="en-US" sz="950" dirty="0">
                <a:solidFill>
                  <a:srgbClr val="1A1A1A"/>
                </a:solidFill>
                <a:latin typeface="Arial" pitchFamily="34" charset="0"/>
                <a:ea typeface="Arial" pitchFamily="34" charset="-122"/>
                <a:cs typeface="Arial" pitchFamily="34" charset="-120"/>
              </a:rPr>
              <a:t>At least 5 countries in config (NG, KE, GH, ZA, ET)</a:t>
            </a:r>
            <a:endParaRPr lang="en-US" sz="950" dirty="0"/>
          </a:p>
        </p:txBody>
      </p:sp>
      <p:sp>
        <p:nvSpPr>
          <p:cNvPr id="23" name="Shape 21"/>
          <p:cNvSpPr/>
          <p:nvPr/>
        </p:nvSpPr>
        <p:spPr>
          <a:xfrm>
            <a:off x="4709160" y="2423160"/>
            <a:ext cx="4023360" cy="2240280"/>
          </a:xfrm>
          <a:prstGeom prst="roundRect">
            <a:avLst>
              <a:gd name="adj" fmla="val 3265"/>
            </a:avLst>
          </a:prstGeom>
          <a:solidFill>
            <a:srgbClr val="FFFFFF"/>
          </a:solidFill>
          <a:ln w="6350">
            <a:solidFill>
              <a:srgbClr val="DDDDDD"/>
            </a:solidFill>
            <a:prstDash val="solid"/>
          </a:ln>
          <a:effectLst>
            <a:outerShdw sx="100000" sy="100000" kx="0" ky="0" algn="bl" rotWithShape="0" blurRad="50800" dist="12700" dir="8100000">
              <a:srgbClr val="000000">
                <a:alpha val="7000"/>
              </a:srgbClr>
            </a:outerShdw>
          </a:effectLst>
        </p:spPr>
      </p:sp>
      <p:sp>
        <p:nvSpPr>
          <p:cNvPr id="24" name="Text 22"/>
          <p:cNvSpPr/>
          <p:nvPr/>
        </p:nvSpPr>
        <p:spPr>
          <a:xfrm>
            <a:off x="4892040" y="2496312"/>
            <a:ext cx="3657600" cy="274320"/>
          </a:xfrm>
          <a:prstGeom prst="rect">
            <a:avLst/>
          </a:prstGeom>
          <a:noFill/>
          <a:ln/>
        </p:spPr>
        <p:txBody>
          <a:bodyPr wrap="square" rtlCol="0" anchor="ctr"/>
          <a:lstStyle/>
          <a:p>
            <a:pPr indent="0" marL="0">
              <a:buNone/>
            </a:pPr>
            <a:r>
              <a:rPr lang="en-US" sz="1100" b="1" dirty="0">
                <a:solidFill>
                  <a:srgbClr val="D85A30"/>
                </a:solidFill>
                <a:latin typeface="Arial" pitchFamily="34" charset="0"/>
                <a:ea typeface="Arial" pitchFamily="34" charset="-122"/>
                <a:cs typeface="Arial" pitchFamily="34" charset="-120"/>
              </a:rPr>
              <a:t>What may not be complete</a:t>
            </a:r>
            <a:endParaRPr lang="en-US" sz="1100" dirty="0"/>
          </a:p>
        </p:txBody>
      </p:sp>
      <p:sp>
        <p:nvSpPr>
          <p:cNvPr id="25" name="Shape 23"/>
          <p:cNvSpPr/>
          <p:nvPr/>
        </p:nvSpPr>
        <p:spPr>
          <a:xfrm>
            <a:off x="4892040" y="2852928"/>
            <a:ext cx="109728" cy="109728"/>
          </a:xfrm>
          <a:prstGeom prst="ellipse">
            <a:avLst/>
          </a:prstGeom>
          <a:solidFill>
            <a:srgbClr val="D85A30"/>
          </a:solidFill>
          <a:ln w="12700">
            <a:solidFill>
              <a:srgbClr val="D85A30"/>
            </a:solidFill>
            <a:prstDash val="solid"/>
          </a:ln>
        </p:spPr>
      </p:sp>
      <p:sp>
        <p:nvSpPr>
          <p:cNvPr id="26" name="Text 24"/>
          <p:cNvSpPr/>
          <p:nvPr/>
        </p:nvSpPr>
        <p:spPr>
          <a:xfrm>
            <a:off x="5065776" y="2798064"/>
            <a:ext cx="3474720" cy="292608"/>
          </a:xfrm>
          <a:prstGeom prst="rect">
            <a:avLst/>
          </a:prstGeom>
          <a:noFill/>
          <a:ln/>
        </p:spPr>
        <p:txBody>
          <a:bodyPr wrap="square" rtlCol="0" anchor="ctr"/>
          <a:lstStyle/>
          <a:p>
            <a:pPr indent="0" marL="0">
              <a:buNone/>
            </a:pPr>
            <a:r>
              <a:rPr lang="en-US" sz="950" dirty="0">
                <a:solidFill>
                  <a:srgbClr val="1A1A1A"/>
                </a:solidFill>
                <a:latin typeface="Arial" pitchFamily="34" charset="0"/>
                <a:ea typeface="Arial" pitchFamily="34" charset="-122"/>
                <a:cs typeface="Arial" pitchFamily="34" charset="-120"/>
              </a:rPr>
              <a:t>Third-party QR verifier screen (UI only)</a:t>
            </a:r>
            <a:endParaRPr lang="en-US" sz="950" dirty="0"/>
          </a:p>
        </p:txBody>
      </p:sp>
      <p:sp>
        <p:nvSpPr>
          <p:cNvPr id="27" name="Shape 25"/>
          <p:cNvSpPr/>
          <p:nvPr/>
        </p:nvSpPr>
        <p:spPr>
          <a:xfrm>
            <a:off x="4892040" y="3200400"/>
            <a:ext cx="109728" cy="109728"/>
          </a:xfrm>
          <a:prstGeom prst="ellipse">
            <a:avLst/>
          </a:prstGeom>
          <a:solidFill>
            <a:srgbClr val="D85A30"/>
          </a:solidFill>
          <a:ln w="12700">
            <a:solidFill>
              <a:srgbClr val="D85A30"/>
            </a:solidFill>
            <a:prstDash val="solid"/>
          </a:ln>
        </p:spPr>
      </p:sp>
      <p:sp>
        <p:nvSpPr>
          <p:cNvPr id="28" name="Text 26"/>
          <p:cNvSpPr/>
          <p:nvPr/>
        </p:nvSpPr>
        <p:spPr>
          <a:xfrm>
            <a:off x="5065776" y="3145536"/>
            <a:ext cx="3474720" cy="292608"/>
          </a:xfrm>
          <a:prstGeom prst="rect">
            <a:avLst/>
          </a:prstGeom>
          <a:noFill/>
          <a:ln/>
        </p:spPr>
        <p:txBody>
          <a:bodyPr wrap="square" rtlCol="0" anchor="ctr"/>
          <a:lstStyle/>
          <a:p>
            <a:pPr indent="0" marL="0">
              <a:buNone/>
            </a:pPr>
            <a:r>
              <a:rPr lang="en-US" sz="950" dirty="0">
                <a:solidFill>
                  <a:srgbClr val="1A1A1A"/>
                </a:solidFill>
                <a:latin typeface="Arial" pitchFamily="34" charset="0"/>
                <a:ea typeface="Arial" pitchFamily="34" charset="-122"/>
                <a:cs typeface="Arial" pitchFamily="34" charset="-120"/>
              </a:rPr>
              <a:t>All 54-nation country config (core 10 confirmed)</a:t>
            </a:r>
            <a:endParaRPr lang="en-US" sz="950" dirty="0"/>
          </a:p>
        </p:txBody>
      </p:sp>
      <p:sp>
        <p:nvSpPr>
          <p:cNvPr id="29" name="Shape 27"/>
          <p:cNvSpPr/>
          <p:nvPr/>
        </p:nvSpPr>
        <p:spPr>
          <a:xfrm>
            <a:off x="4892040" y="3547872"/>
            <a:ext cx="109728" cy="109728"/>
          </a:xfrm>
          <a:prstGeom prst="ellipse">
            <a:avLst/>
          </a:prstGeom>
          <a:solidFill>
            <a:srgbClr val="D85A30"/>
          </a:solidFill>
          <a:ln w="12700">
            <a:solidFill>
              <a:srgbClr val="D85A30"/>
            </a:solidFill>
            <a:prstDash val="solid"/>
          </a:ln>
        </p:spPr>
      </p:sp>
      <p:sp>
        <p:nvSpPr>
          <p:cNvPr id="30" name="Text 28"/>
          <p:cNvSpPr/>
          <p:nvPr/>
        </p:nvSpPr>
        <p:spPr>
          <a:xfrm>
            <a:off x="5065776" y="3493008"/>
            <a:ext cx="3474720" cy="292608"/>
          </a:xfrm>
          <a:prstGeom prst="rect">
            <a:avLst/>
          </a:prstGeom>
          <a:noFill/>
          <a:ln/>
        </p:spPr>
        <p:txBody>
          <a:bodyPr wrap="square" rtlCol="0" anchor="ctr"/>
          <a:lstStyle/>
          <a:p>
            <a:pPr indent="0" marL="0">
              <a:buNone/>
            </a:pPr>
            <a:r>
              <a:rPr lang="en-US" sz="950" dirty="0">
                <a:solidFill>
                  <a:srgbClr val="1A1A1A"/>
                </a:solidFill>
                <a:latin typeface="Arial" pitchFamily="34" charset="0"/>
                <a:ea typeface="Arial" pitchFamily="34" charset="-122"/>
                <a:cs typeface="Arial" pitchFamily="34" charset="-120"/>
              </a:rPr>
              <a:t>Agentic real-time revocation monitor (stub exists)</a:t>
            </a:r>
            <a:endParaRPr lang="en-US" sz="950" dirty="0"/>
          </a:p>
        </p:txBody>
      </p:sp>
      <p:sp>
        <p:nvSpPr>
          <p:cNvPr id="31" name="Shape 29"/>
          <p:cNvSpPr/>
          <p:nvPr/>
        </p:nvSpPr>
        <p:spPr>
          <a:xfrm>
            <a:off x="4892040" y="3895344"/>
            <a:ext cx="109728" cy="109728"/>
          </a:xfrm>
          <a:prstGeom prst="ellipse">
            <a:avLst/>
          </a:prstGeom>
          <a:solidFill>
            <a:srgbClr val="D85A30"/>
          </a:solidFill>
          <a:ln w="12700">
            <a:solidFill>
              <a:srgbClr val="D85A30"/>
            </a:solidFill>
            <a:prstDash val="solid"/>
          </a:ln>
        </p:spPr>
      </p:sp>
      <p:sp>
        <p:nvSpPr>
          <p:cNvPr id="32" name="Text 30"/>
          <p:cNvSpPr/>
          <p:nvPr/>
        </p:nvSpPr>
        <p:spPr>
          <a:xfrm>
            <a:off x="5065776" y="3840480"/>
            <a:ext cx="3474720" cy="292608"/>
          </a:xfrm>
          <a:prstGeom prst="rect">
            <a:avLst/>
          </a:prstGeom>
          <a:noFill/>
          <a:ln/>
        </p:spPr>
        <p:txBody>
          <a:bodyPr wrap="square" rtlCol="0" anchor="ctr"/>
          <a:lstStyle/>
          <a:p>
            <a:pPr indent="0" marL="0">
              <a:buNone/>
            </a:pPr>
            <a:r>
              <a:rPr lang="en-US" sz="950" dirty="0">
                <a:solidFill>
                  <a:srgbClr val="1A1A1A"/>
                </a:solidFill>
                <a:latin typeface="Arial" pitchFamily="34" charset="0"/>
                <a:ea typeface="Arial" pitchFamily="34" charset="-122"/>
                <a:cs typeface="Arial" pitchFamily="34" charset="-120"/>
              </a:rPr>
              <a:t>Full offline QR verification</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8F6"/>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3C3489"/>
          </a:solidFill>
          <a:ln w="12700">
            <a:solidFill>
              <a:srgbClr val="3C3489"/>
            </a:solidFill>
            <a:prstDash val="solid"/>
          </a:ln>
        </p:spPr>
      </p:sp>
      <p:sp>
        <p:nvSpPr>
          <p:cNvPr id="3" name="Shape 1"/>
          <p:cNvSpPr/>
          <p:nvPr/>
        </p:nvSpPr>
        <p:spPr>
          <a:xfrm>
            <a:off x="0" y="4983480"/>
            <a:ext cx="9144000" cy="164592"/>
          </a:xfrm>
          <a:prstGeom prst="rect">
            <a:avLst/>
          </a:prstGeom>
          <a:solidFill>
            <a:srgbClr val="085041"/>
          </a:solidFill>
          <a:ln w="12700">
            <a:solidFill>
              <a:srgbClr val="085041"/>
            </a:solidFill>
            <a:prstDash val="solid"/>
          </a:ln>
        </p:spPr>
      </p:sp>
      <p:sp>
        <p:nvSpPr>
          <p:cNvPr id="4" name="Text 2"/>
          <p:cNvSpPr/>
          <p:nvPr/>
        </p:nvSpPr>
        <p:spPr>
          <a:xfrm>
            <a:off x="274320" y="4992624"/>
            <a:ext cx="8595360" cy="146304"/>
          </a:xfrm>
          <a:prstGeom prst="rect">
            <a:avLst/>
          </a:prstGeom>
          <a:noFill/>
          <a:ln/>
        </p:spPr>
        <p:txBody>
          <a:bodyPr wrap="square" rtlCol="0" anchor="ctr"/>
          <a:lstStyle/>
          <a:p>
            <a:pPr algn="ctr" indent="0" marL="0">
              <a:buNone/>
            </a:pPr>
            <a:r>
              <a:rPr lang="en-US" sz="700" dirty="0">
                <a:solidFill>
                  <a:srgbClr val="5DCAA5"/>
                </a:solidFill>
                <a:latin typeface="Arial" pitchFamily="34" charset="0"/>
                <a:ea typeface="Arial" pitchFamily="34" charset="-122"/>
                <a:cs typeface="Arial" pitchFamily="34" charset="-120"/>
              </a:rPr>
              <a:t>VID · Virtual ID · Africa Ignite Hackathon 2026</a:t>
            </a:r>
            <a:endParaRPr lang="en-US" sz="700" dirty="0"/>
          </a:p>
        </p:txBody>
      </p:sp>
      <p:sp>
        <p:nvSpPr>
          <p:cNvPr id="5" name="Shape 3"/>
          <p:cNvSpPr/>
          <p:nvPr/>
        </p:nvSpPr>
        <p:spPr>
          <a:xfrm>
            <a:off x="411480" y="256032"/>
            <a:ext cx="3008376" cy="228600"/>
          </a:xfrm>
          <a:prstGeom prst="roundRect">
            <a:avLst>
              <a:gd name="adj" fmla="val 20000"/>
            </a:avLst>
          </a:prstGeom>
          <a:solidFill>
            <a:srgbClr val="3C3489"/>
          </a:solidFill>
          <a:ln w="12700">
            <a:solidFill>
              <a:srgbClr val="3C3489"/>
            </a:solidFill>
            <a:prstDash val="solid"/>
          </a:ln>
        </p:spPr>
      </p:sp>
      <p:sp>
        <p:nvSpPr>
          <p:cNvPr id="6" name="Text 4"/>
          <p:cNvSpPr/>
          <p:nvPr/>
        </p:nvSpPr>
        <p:spPr>
          <a:xfrm>
            <a:off x="411480" y="256032"/>
            <a:ext cx="3008376" cy="228600"/>
          </a:xfrm>
          <a:prstGeom prst="rect">
            <a:avLst/>
          </a:prstGeom>
          <a:noFill/>
          <a:ln/>
        </p:spPr>
        <p:txBody>
          <a:bodyPr wrap="square" rtlCol="0" anchor="ctr"/>
          <a:lstStyle/>
          <a:p>
            <a:pPr algn="ctr" indent="0" marL="0">
              <a:buNone/>
            </a:pPr>
            <a:r>
              <a:rPr lang="en-US" sz="800" b="1" spc="100" kern="0" dirty="0">
                <a:solidFill>
                  <a:srgbClr val="FFFFFF"/>
                </a:solidFill>
                <a:latin typeface="Arial" pitchFamily="34" charset="0"/>
                <a:ea typeface="Arial" pitchFamily="34" charset="-122"/>
                <a:cs typeface="Arial" pitchFamily="34" charset="-120"/>
              </a:rPr>
              <a:t>QUESTION 2 — TEAM PARTICIPATION</a:t>
            </a:r>
            <a:endParaRPr lang="en-US" sz="800" dirty="0"/>
          </a:p>
        </p:txBody>
      </p:sp>
      <p:sp>
        <p:nvSpPr>
          <p:cNvPr id="7" name="Text 5"/>
          <p:cNvSpPr/>
          <p:nvPr/>
        </p:nvSpPr>
        <p:spPr>
          <a:xfrm>
            <a:off x="411480" y="566928"/>
            <a:ext cx="8321040" cy="411480"/>
          </a:xfrm>
          <a:prstGeom prst="rect">
            <a:avLst/>
          </a:prstGeom>
          <a:noFill/>
          <a:ln/>
        </p:spPr>
        <p:txBody>
          <a:bodyPr wrap="square" rtlCol="0" anchor="ctr"/>
          <a:lstStyle/>
          <a:p>
            <a:pPr indent="0" marL="0">
              <a:buNone/>
            </a:pPr>
            <a:r>
              <a:rPr lang="en-US" sz="1800" b="1" dirty="0">
                <a:solidFill>
                  <a:srgbClr val="1A1A1A"/>
                </a:solidFill>
                <a:latin typeface="Arial" pitchFamily="34" charset="0"/>
                <a:ea typeface="Arial" pitchFamily="34" charset="-122"/>
                <a:cs typeface="Arial" pitchFamily="34" charset="-120"/>
              </a:rPr>
              <a:t>Inactive Members — Credit, Rewards &amp; Team Integrity</a:t>
            </a:r>
            <a:endParaRPr lang="en-US" sz="1800" dirty="0"/>
          </a:p>
        </p:txBody>
      </p:sp>
      <p:sp>
        <p:nvSpPr>
          <p:cNvPr id="8" name="Shape 6"/>
          <p:cNvSpPr/>
          <p:nvPr/>
        </p:nvSpPr>
        <p:spPr>
          <a:xfrm>
            <a:off x="411480" y="1051560"/>
            <a:ext cx="8321040" cy="960120"/>
          </a:xfrm>
          <a:prstGeom prst="roundRect">
            <a:avLst>
              <a:gd name="adj" fmla="val 7619"/>
            </a:avLst>
          </a:prstGeom>
          <a:solidFill>
            <a:srgbClr val="EEEDFE"/>
          </a:solidFill>
          <a:ln w="6350">
            <a:solidFill>
              <a:srgbClr val="DDDDDD"/>
            </a:solidFill>
            <a:prstDash val="solid"/>
          </a:ln>
          <a:effectLst>
            <a:outerShdw sx="100000" sy="100000" kx="0" ky="0" algn="bl" rotWithShape="0" blurRad="50800" dist="12700" dir="8100000">
              <a:srgbClr val="000000">
                <a:alpha val="7000"/>
              </a:srgbClr>
            </a:outerShdw>
          </a:effectLst>
        </p:spPr>
      </p:sp>
      <p:sp>
        <p:nvSpPr>
          <p:cNvPr id="9" name="Text 7"/>
          <p:cNvSpPr/>
          <p:nvPr/>
        </p:nvSpPr>
        <p:spPr>
          <a:xfrm>
            <a:off x="594360" y="1115568"/>
            <a:ext cx="7955280" cy="274320"/>
          </a:xfrm>
          <a:prstGeom prst="rect">
            <a:avLst/>
          </a:prstGeom>
          <a:noFill/>
          <a:ln/>
        </p:spPr>
        <p:txBody>
          <a:bodyPr wrap="square" rtlCol="0" anchor="ctr"/>
          <a:lstStyle/>
          <a:p>
            <a:pPr indent="0" marL="0">
              <a:buNone/>
            </a:pPr>
            <a:r>
              <a:rPr lang="en-US" sz="1100" b="1" dirty="0">
                <a:solidFill>
                  <a:srgbClr val="3C3489"/>
                </a:solidFill>
                <a:latin typeface="Arial" pitchFamily="34" charset="0"/>
                <a:ea typeface="Arial" pitchFamily="34" charset="-122"/>
                <a:cs typeface="Arial" pitchFamily="34" charset="-120"/>
              </a:rPr>
              <a:t>Our Question to You</a:t>
            </a:r>
            <a:endParaRPr lang="en-US" sz="1100" dirty="0"/>
          </a:p>
        </p:txBody>
      </p:sp>
      <p:sp>
        <p:nvSpPr>
          <p:cNvPr id="10" name="Text 8"/>
          <p:cNvSpPr/>
          <p:nvPr/>
        </p:nvSpPr>
        <p:spPr>
          <a:xfrm>
            <a:off x="594360" y="1389888"/>
            <a:ext cx="7955280" cy="566928"/>
          </a:xfrm>
          <a:prstGeom prst="rect">
            <a:avLst/>
          </a:prstGeom>
          <a:noFill/>
          <a:ln/>
        </p:spPr>
        <p:txBody>
          <a:bodyPr wrap="square" rtlCol="0" anchor="ctr"/>
          <a:lstStyle/>
          <a:p>
            <a:pPr indent="0" marL="0">
              <a:buNone/>
            </a:pPr>
            <a:r>
              <a:rPr lang="en-US" sz="1000" i="1" dirty="0">
                <a:solidFill>
                  <a:srgbClr val="1A1A1A"/>
                </a:solidFill>
                <a:latin typeface="Arial" pitchFamily="34" charset="0"/>
                <a:ea typeface="Arial" pitchFamily="34" charset="-122"/>
                <a:cs typeface="Arial" pitchFamily="34" charset="-120"/>
              </a:rPr>
              <a:t>In hackathon team situations, some members get overwhelmed and step back from their assigned roles. If the remaining active members compensate and the team still performs well — what is the official stance on credit and rewards for members who registered but did not actively contribute? How should a team lead manage this situation without jeopardising the team's submission or reputation?</a:t>
            </a:r>
            <a:endParaRPr lang="en-US" sz="1000" dirty="0"/>
          </a:p>
        </p:txBody>
      </p:sp>
      <p:sp>
        <p:nvSpPr>
          <p:cNvPr id="11" name="Shape 9"/>
          <p:cNvSpPr/>
          <p:nvPr/>
        </p:nvSpPr>
        <p:spPr>
          <a:xfrm>
            <a:off x="411480" y="2084832"/>
            <a:ext cx="2651760" cy="2651760"/>
          </a:xfrm>
          <a:prstGeom prst="roundRect">
            <a:avLst>
              <a:gd name="adj" fmla="val 2759"/>
            </a:avLst>
          </a:prstGeom>
          <a:solidFill>
            <a:srgbClr val="FFFFFF"/>
          </a:solidFill>
          <a:ln w="6350">
            <a:solidFill>
              <a:srgbClr val="DDDDDD"/>
            </a:solidFill>
            <a:prstDash val="solid"/>
          </a:ln>
          <a:effectLst>
            <a:outerShdw sx="100000" sy="100000" kx="0" ky="0" algn="bl" rotWithShape="0" blurRad="50800" dist="12700" dir="8100000">
              <a:srgbClr val="000000">
                <a:alpha val="7000"/>
              </a:srgbClr>
            </a:outerShdw>
          </a:effectLst>
        </p:spPr>
      </p:sp>
      <p:sp>
        <p:nvSpPr>
          <p:cNvPr id="12" name="Shape 10"/>
          <p:cNvSpPr/>
          <p:nvPr/>
        </p:nvSpPr>
        <p:spPr>
          <a:xfrm>
            <a:off x="411480" y="2084832"/>
            <a:ext cx="2651760" cy="347472"/>
          </a:xfrm>
          <a:prstGeom prst="roundRect">
            <a:avLst>
              <a:gd name="adj" fmla="val 21053"/>
            </a:avLst>
          </a:prstGeom>
          <a:solidFill>
            <a:srgbClr val="D85A30"/>
          </a:solidFill>
          <a:ln w="12700">
            <a:solidFill>
              <a:srgbClr val="D85A30"/>
            </a:solidFill>
            <a:prstDash val="solid"/>
          </a:ln>
        </p:spPr>
      </p:sp>
      <p:sp>
        <p:nvSpPr>
          <p:cNvPr id="13" name="Text 11"/>
          <p:cNvSpPr/>
          <p:nvPr/>
        </p:nvSpPr>
        <p:spPr>
          <a:xfrm>
            <a:off x="521208" y="2084832"/>
            <a:ext cx="2468880" cy="347472"/>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The concern</a:t>
            </a:r>
            <a:endParaRPr lang="en-US" sz="1000" dirty="0"/>
          </a:p>
        </p:txBody>
      </p:sp>
      <p:sp>
        <p:nvSpPr>
          <p:cNvPr id="14" name="Shape 12"/>
          <p:cNvSpPr/>
          <p:nvPr/>
        </p:nvSpPr>
        <p:spPr>
          <a:xfrm>
            <a:off x="548640" y="2560320"/>
            <a:ext cx="91440" cy="91440"/>
          </a:xfrm>
          <a:prstGeom prst="ellipse">
            <a:avLst/>
          </a:prstGeom>
          <a:solidFill>
            <a:srgbClr val="D85A30"/>
          </a:solidFill>
          <a:ln w="12700">
            <a:solidFill>
              <a:srgbClr val="D85A30"/>
            </a:solidFill>
            <a:prstDash val="solid"/>
          </a:ln>
        </p:spPr>
      </p:sp>
      <p:sp>
        <p:nvSpPr>
          <p:cNvPr id="15" name="Text 13"/>
          <p:cNvSpPr/>
          <p:nvPr/>
        </p:nvSpPr>
        <p:spPr>
          <a:xfrm>
            <a:off x="704088" y="2496312"/>
            <a:ext cx="2240280" cy="438912"/>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A registered member becomes non-responsive mid-build</a:t>
            </a:r>
            <a:endParaRPr lang="en-US" sz="900" dirty="0"/>
          </a:p>
        </p:txBody>
      </p:sp>
      <p:sp>
        <p:nvSpPr>
          <p:cNvPr id="16" name="Shape 14"/>
          <p:cNvSpPr/>
          <p:nvPr/>
        </p:nvSpPr>
        <p:spPr>
          <a:xfrm>
            <a:off x="548640" y="3063240"/>
            <a:ext cx="91440" cy="91440"/>
          </a:xfrm>
          <a:prstGeom prst="ellipse">
            <a:avLst/>
          </a:prstGeom>
          <a:solidFill>
            <a:srgbClr val="D85A30"/>
          </a:solidFill>
          <a:ln w="12700">
            <a:solidFill>
              <a:srgbClr val="D85A30"/>
            </a:solidFill>
            <a:prstDash val="solid"/>
          </a:ln>
        </p:spPr>
      </p:sp>
      <p:sp>
        <p:nvSpPr>
          <p:cNvPr id="17" name="Text 15"/>
          <p:cNvSpPr/>
          <p:nvPr/>
        </p:nvSpPr>
        <p:spPr>
          <a:xfrm>
            <a:off x="704088" y="2999232"/>
            <a:ext cx="2240280" cy="438912"/>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Their role (e.g. frontend, backend) is absorbed by others</a:t>
            </a:r>
            <a:endParaRPr lang="en-US" sz="900" dirty="0"/>
          </a:p>
        </p:txBody>
      </p:sp>
      <p:sp>
        <p:nvSpPr>
          <p:cNvPr id="18" name="Shape 16"/>
          <p:cNvSpPr/>
          <p:nvPr/>
        </p:nvSpPr>
        <p:spPr>
          <a:xfrm>
            <a:off x="548640" y="3566160"/>
            <a:ext cx="91440" cy="91440"/>
          </a:xfrm>
          <a:prstGeom prst="ellipse">
            <a:avLst/>
          </a:prstGeom>
          <a:solidFill>
            <a:srgbClr val="D85A30"/>
          </a:solidFill>
          <a:ln w="12700">
            <a:solidFill>
              <a:srgbClr val="D85A30"/>
            </a:solidFill>
            <a:prstDash val="solid"/>
          </a:ln>
        </p:spPr>
      </p:sp>
      <p:sp>
        <p:nvSpPr>
          <p:cNvPr id="19" name="Text 17"/>
          <p:cNvSpPr/>
          <p:nvPr/>
        </p:nvSpPr>
        <p:spPr>
          <a:xfrm>
            <a:off x="704088" y="3502152"/>
            <a:ext cx="2240280" cy="438912"/>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Team still performs and submits — but with fewer active contributors</a:t>
            </a:r>
            <a:endParaRPr lang="en-US" sz="900" dirty="0"/>
          </a:p>
        </p:txBody>
      </p:sp>
      <p:sp>
        <p:nvSpPr>
          <p:cNvPr id="20" name="Shape 18"/>
          <p:cNvSpPr/>
          <p:nvPr/>
        </p:nvSpPr>
        <p:spPr>
          <a:xfrm>
            <a:off x="548640" y="4069080"/>
            <a:ext cx="91440" cy="91440"/>
          </a:xfrm>
          <a:prstGeom prst="ellipse">
            <a:avLst/>
          </a:prstGeom>
          <a:solidFill>
            <a:srgbClr val="D85A30"/>
          </a:solidFill>
          <a:ln w="12700">
            <a:solidFill>
              <a:srgbClr val="D85A30"/>
            </a:solidFill>
            <a:prstDash val="solid"/>
          </a:ln>
        </p:spPr>
      </p:sp>
      <p:sp>
        <p:nvSpPr>
          <p:cNvPr id="21" name="Text 19"/>
          <p:cNvSpPr/>
          <p:nvPr/>
        </p:nvSpPr>
        <p:spPr>
          <a:xfrm>
            <a:off x="704088" y="4005072"/>
            <a:ext cx="2240280" cy="438912"/>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If we win, do inactive members share the prize equally?</a:t>
            </a:r>
            <a:endParaRPr lang="en-US" sz="900" dirty="0"/>
          </a:p>
        </p:txBody>
      </p:sp>
      <p:sp>
        <p:nvSpPr>
          <p:cNvPr id="22" name="Shape 20"/>
          <p:cNvSpPr/>
          <p:nvPr/>
        </p:nvSpPr>
        <p:spPr>
          <a:xfrm>
            <a:off x="3246120" y="2084832"/>
            <a:ext cx="2651760" cy="2651760"/>
          </a:xfrm>
          <a:prstGeom prst="roundRect">
            <a:avLst>
              <a:gd name="adj" fmla="val 2759"/>
            </a:avLst>
          </a:prstGeom>
          <a:solidFill>
            <a:srgbClr val="FFFFFF"/>
          </a:solidFill>
          <a:ln w="6350">
            <a:solidFill>
              <a:srgbClr val="DDDDDD"/>
            </a:solidFill>
            <a:prstDash val="solid"/>
          </a:ln>
          <a:effectLst>
            <a:outerShdw sx="100000" sy="100000" kx="0" ky="0" algn="bl" rotWithShape="0" blurRad="50800" dist="12700" dir="8100000">
              <a:srgbClr val="000000">
                <a:alpha val="7000"/>
              </a:srgbClr>
            </a:outerShdw>
          </a:effectLst>
        </p:spPr>
      </p:sp>
      <p:sp>
        <p:nvSpPr>
          <p:cNvPr id="23" name="Shape 21"/>
          <p:cNvSpPr/>
          <p:nvPr/>
        </p:nvSpPr>
        <p:spPr>
          <a:xfrm>
            <a:off x="3246120" y="2084832"/>
            <a:ext cx="2651760" cy="347472"/>
          </a:xfrm>
          <a:prstGeom prst="roundRect">
            <a:avLst>
              <a:gd name="adj" fmla="val 21053"/>
            </a:avLst>
          </a:prstGeom>
          <a:solidFill>
            <a:srgbClr val="3C3489"/>
          </a:solidFill>
          <a:ln w="12700">
            <a:solidFill>
              <a:srgbClr val="3C3489"/>
            </a:solidFill>
            <a:prstDash val="solid"/>
          </a:ln>
        </p:spPr>
      </p:sp>
      <p:sp>
        <p:nvSpPr>
          <p:cNvPr id="24" name="Text 22"/>
          <p:cNvSpPr/>
          <p:nvPr/>
        </p:nvSpPr>
        <p:spPr>
          <a:xfrm>
            <a:off x="3355848" y="2084832"/>
            <a:ext cx="2468880" cy="347472"/>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What we want to know</a:t>
            </a:r>
            <a:endParaRPr lang="en-US" sz="1000" dirty="0"/>
          </a:p>
        </p:txBody>
      </p:sp>
      <p:sp>
        <p:nvSpPr>
          <p:cNvPr id="25" name="Shape 23"/>
          <p:cNvSpPr/>
          <p:nvPr/>
        </p:nvSpPr>
        <p:spPr>
          <a:xfrm>
            <a:off x="3383280" y="2560320"/>
            <a:ext cx="91440" cy="91440"/>
          </a:xfrm>
          <a:prstGeom prst="ellipse">
            <a:avLst/>
          </a:prstGeom>
          <a:solidFill>
            <a:srgbClr val="3C3489"/>
          </a:solidFill>
          <a:ln w="12700">
            <a:solidFill>
              <a:srgbClr val="3C3489"/>
            </a:solidFill>
            <a:prstDash val="solid"/>
          </a:ln>
        </p:spPr>
      </p:sp>
      <p:sp>
        <p:nvSpPr>
          <p:cNvPr id="26" name="Text 24"/>
          <p:cNvSpPr/>
          <p:nvPr/>
        </p:nvSpPr>
        <p:spPr>
          <a:xfrm>
            <a:off x="3538728" y="2496312"/>
            <a:ext cx="2240280" cy="438912"/>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Is there an official mechanism to flag non-contribution?</a:t>
            </a:r>
            <a:endParaRPr lang="en-US" sz="900" dirty="0"/>
          </a:p>
        </p:txBody>
      </p:sp>
      <p:sp>
        <p:nvSpPr>
          <p:cNvPr id="27" name="Shape 25"/>
          <p:cNvSpPr/>
          <p:nvPr/>
        </p:nvSpPr>
        <p:spPr>
          <a:xfrm>
            <a:off x="3383280" y="3063240"/>
            <a:ext cx="91440" cy="91440"/>
          </a:xfrm>
          <a:prstGeom prst="ellipse">
            <a:avLst/>
          </a:prstGeom>
          <a:solidFill>
            <a:srgbClr val="3C3489"/>
          </a:solidFill>
          <a:ln w="12700">
            <a:solidFill>
              <a:srgbClr val="3C3489"/>
            </a:solidFill>
            <a:prstDash val="solid"/>
          </a:ln>
        </p:spPr>
      </p:sp>
      <p:sp>
        <p:nvSpPr>
          <p:cNvPr id="28" name="Text 26"/>
          <p:cNvSpPr/>
          <p:nvPr/>
        </p:nvSpPr>
        <p:spPr>
          <a:xfrm>
            <a:off x="3538728" y="2999232"/>
            <a:ext cx="2240280" cy="438912"/>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Do prizes go to the team (registered members) or contributors only?</a:t>
            </a:r>
            <a:endParaRPr lang="en-US" sz="900" dirty="0"/>
          </a:p>
        </p:txBody>
      </p:sp>
      <p:sp>
        <p:nvSpPr>
          <p:cNvPr id="29" name="Shape 27"/>
          <p:cNvSpPr/>
          <p:nvPr/>
        </p:nvSpPr>
        <p:spPr>
          <a:xfrm>
            <a:off x="3383280" y="3566160"/>
            <a:ext cx="91440" cy="91440"/>
          </a:xfrm>
          <a:prstGeom prst="ellipse">
            <a:avLst/>
          </a:prstGeom>
          <a:solidFill>
            <a:srgbClr val="3C3489"/>
          </a:solidFill>
          <a:ln w="12700">
            <a:solidFill>
              <a:srgbClr val="3C3489"/>
            </a:solidFill>
            <a:prstDash val="solid"/>
          </a:ln>
        </p:spPr>
      </p:sp>
      <p:sp>
        <p:nvSpPr>
          <p:cNvPr id="30" name="Text 28"/>
          <p:cNvSpPr/>
          <p:nvPr/>
        </p:nvSpPr>
        <p:spPr>
          <a:xfrm>
            <a:off x="3538728" y="3502152"/>
            <a:ext cx="2240280" cy="438912"/>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Can we formally document who contributed what before submission?</a:t>
            </a:r>
            <a:endParaRPr lang="en-US" sz="900" dirty="0"/>
          </a:p>
        </p:txBody>
      </p:sp>
      <p:sp>
        <p:nvSpPr>
          <p:cNvPr id="31" name="Shape 29"/>
          <p:cNvSpPr/>
          <p:nvPr/>
        </p:nvSpPr>
        <p:spPr>
          <a:xfrm>
            <a:off x="3383280" y="4069080"/>
            <a:ext cx="91440" cy="91440"/>
          </a:xfrm>
          <a:prstGeom prst="ellipse">
            <a:avLst/>
          </a:prstGeom>
          <a:solidFill>
            <a:srgbClr val="3C3489"/>
          </a:solidFill>
          <a:ln w="12700">
            <a:solidFill>
              <a:srgbClr val="3C3489"/>
            </a:solidFill>
            <a:prstDash val="solid"/>
          </a:ln>
        </p:spPr>
      </p:sp>
      <p:sp>
        <p:nvSpPr>
          <p:cNvPr id="32" name="Text 30"/>
          <p:cNvSpPr/>
          <p:nvPr/>
        </p:nvSpPr>
        <p:spPr>
          <a:xfrm>
            <a:off x="3538728" y="4005072"/>
            <a:ext cx="2240280" cy="438912"/>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How do other winning teams handle this professionally?</a:t>
            </a:r>
            <a:endParaRPr lang="en-US" sz="900" dirty="0"/>
          </a:p>
        </p:txBody>
      </p:sp>
      <p:sp>
        <p:nvSpPr>
          <p:cNvPr id="33" name="Shape 31"/>
          <p:cNvSpPr/>
          <p:nvPr/>
        </p:nvSpPr>
        <p:spPr>
          <a:xfrm>
            <a:off x="6080760" y="2084832"/>
            <a:ext cx="2651760" cy="2651760"/>
          </a:xfrm>
          <a:prstGeom prst="roundRect">
            <a:avLst>
              <a:gd name="adj" fmla="val 2759"/>
            </a:avLst>
          </a:prstGeom>
          <a:solidFill>
            <a:srgbClr val="FFFFFF"/>
          </a:solidFill>
          <a:ln w="6350">
            <a:solidFill>
              <a:srgbClr val="DDDDDD"/>
            </a:solidFill>
            <a:prstDash val="solid"/>
          </a:ln>
          <a:effectLst>
            <a:outerShdw sx="100000" sy="100000" kx="0" ky="0" algn="bl" rotWithShape="0" blurRad="50800" dist="12700" dir="8100000">
              <a:srgbClr val="000000">
                <a:alpha val="7000"/>
              </a:srgbClr>
            </a:outerShdw>
          </a:effectLst>
        </p:spPr>
      </p:sp>
      <p:sp>
        <p:nvSpPr>
          <p:cNvPr id="34" name="Shape 32"/>
          <p:cNvSpPr/>
          <p:nvPr/>
        </p:nvSpPr>
        <p:spPr>
          <a:xfrm>
            <a:off x="6080760" y="2084832"/>
            <a:ext cx="2651760" cy="347472"/>
          </a:xfrm>
          <a:prstGeom prst="roundRect">
            <a:avLst>
              <a:gd name="adj" fmla="val 21053"/>
            </a:avLst>
          </a:prstGeom>
          <a:solidFill>
            <a:srgbClr val="0F6E56"/>
          </a:solidFill>
          <a:ln w="12700">
            <a:solidFill>
              <a:srgbClr val="0F6E56"/>
            </a:solidFill>
            <a:prstDash val="solid"/>
          </a:ln>
        </p:spPr>
      </p:sp>
      <p:sp>
        <p:nvSpPr>
          <p:cNvPr id="35" name="Text 33"/>
          <p:cNvSpPr/>
          <p:nvPr/>
        </p:nvSpPr>
        <p:spPr>
          <a:xfrm>
            <a:off x="6190488" y="2084832"/>
            <a:ext cx="2468880" cy="347472"/>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What we are already doing</a:t>
            </a:r>
            <a:endParaRPr lang="en-US" sz="1000" dirty="0"/>
          </a:p>
        </p:txBody>
      </p:sp>
      <p:sp>
        <p:nvSpPr>
          <p:cNvPr id="36" name="Shape 34"/>
          <p:cNvSpPr/>
          <p:nvPr/>
        </p:nvSpPr>
        <p:spPr>
          <a:xfrm>
            <a:off x="6217920" y="2560320"/>
            <a:ext cx="91440" cy="91440"/>
          </a:xfrm>
          <a:prstGeom prst="ellipse">
            <a:avLst/>
          </a:prstGeom>
          <a:solidFill>
            <a:srgbClr val="0F6E56"/>
          </a:solidFill>
          <a:ln w="12700">
            <a:solidFill>
              <a:srgbClr val="0F6E56"/>
            </a:solidFill>
            <a:prstDash val="solid"/>
          </a:ln>
        </p:spPr>
      </p:sp>
      <p:sp>
        <p:nvSpPr>
          <p:cNvPr id="37" name="Text 35"/>
          <p:cNvSpPr/>
          <p:nvPr/>
        </p:nvSpPr>
        <p:spPr>
          <a:xfrm>
            <a:off x="6373368" y="2496312"/>
            <a:ext cx="2240280" cy="438912"/>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Daily standup log — attendance and output recorded</a:t>
            </a:r>
            <a:endParaRPr lang="en-US" sz="900" dirty="0"/>
          </a:p>
        </p:txBody>
      </p:sp>
      <p:sp>
        <p:nvSpPr>
          <p:cNvPr id="38" name="Shape 36"/>
          <p:cNvSpPr/>
          <p:nvPr/>
        </p:nvSpPr>
        <p:spPr>
          <a:xfrm>
            <a:off x="6217920" y="3063240"/>
            <a:ext cx="91440" cy="91440"/>
          </a:xfrm>
          <a:prstGeom prst="ellipse">
            <a:avLst/>
          </a:prstGeom>
          <a:solidFill>
            <a:srgbClr val="0F6E56"/>
          </a:solidFill>
          <a:ln w="12700">
            <a:solidFill>
              <a:srgbClr val="0F6E56"/>
            </a:solidFill>
            <a:prstDash val="solid"/>
          </a:ln>
        </p:spPr>
      </p:sp>
      <p:sp>
        <p:nvSpPr>
          <p:cNvPr id="39" name="Text 37"/>
          <p:cNvSpPr/>
          <p:nvPr/>
        </p:nvSpPr>
        <p:spPr>
          <a:xfrm>
            <a:off x="6373368" y="2999232"/>
            <a:ext cx="2240280" cy="438912"/>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GitHub commit history shows who built what</a:t>
            </a:r>
            <a:endParaRPr lang="en-US" sz="900" dirty="0"/>
          </a:p>
        </p:txBody>
      </p:sp>
      <p:sp>
        <p:nvSpPr>
          <p:cNvPr id="40" name="Shape 38"/>
          <p:cNvSpPr/>
          <p:nvPr/>
        </p:nvSpPr>
        <p:spPr>
          <a:xfrm>
            <a:off x="6217920" y="3566160"/>
            <a:ext cx="91440" cy="91440"/>
          </a:xfrm>
          <a:prstGeom prst="ellipse">
            <a:avLst/>
          </a:prstGeom>
          <a:solidFill>
            <a:srgbClr val="0F6E56"/>
          </a:solidFill>
          <a:ln w="12700">
            <a:solidFill>
              <a:srgbClr val="0F6E56"/>
            </a:solidFill>
            <a:prstDash val="solid"/>
          </a:ln>
        </p:spPr>
      </p:sp>
      <p:sp>
        <p:nvSpPr>
          <p:cNvPr id="41" name="Text 39"/>
          <p:cNvSpPr/>
          <p:nvPr/>
        </p:nvSpPr>
        <p:spPr>
          <a:xfrm>
            <a:off x="6373368" y="3502152"/>
            <a:ext cx="2240280" cy="438912"/>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Task tracker (Google Sheet) shows assigned vs completed tasks</a:t>
            </a:r>
            <a:endParaRPr lang="en-US" sz="900" dirty="0"/>
          </a:p>
        </p:txBody>
      </p:sp>
      <p:sp>
        <p:nvSpPr>
          <p:cNvPr id="42" name="Shape 40"/>
          <p:cNvSpPr/>
          <p:nvPr/>
        </p:nvSpPr>
        <p:spPr>
          <a:xfrm>
            <a:off x="6217920" y="4069080"/>
            <a:ext cx="91440" cy="91440"/>
          </a:xfrm>
          <a:prstGeom prst="ellipse">
            <a:avLst/>
          </a:prstGeom>
          <a:solidFill>
            <a:srgbClr val="0F6E56"/>
          </a:solidFill>
          <a:ln w="12700">
            <a:solidFill>
              <a:srgbClr val="0F6E56"/>
            </a:solidFill>
            <a:prstDash val="solid"/>
          </a:ln>
        </p:spPr>
      </p:sp>
      <p:sp>
        <p:nvSpPr>
          <p:cNvPr id="43" name="Text 41"/>
          <p:cNvSpPr/>
          <p:nvPr/>
        </p:nvSpPr>
        <p:spPr>
          <a:xfrm>
            <a:off x="6373368" y="4005072"/>
            <a:ext cx="2240280" cy="438912"/>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We will document contribution in the GitHub README</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8F6"/>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D9E75"/>
          </a:solidFill>
          <a:ln w="12700">
            <a:solidFill>
              <a:srgbClr val="1D9E75"/>
            </a:solidFill>
            <a:prstDash val="solid"/>
          </a:ln>
        </p:spPr>
      </p:sp>
      <p:sp>
        <p:nvSpPr>
          <p:cNvPr id="3" name="Shape 1"/>
          <p:cNvSpPr/>
          <p:nvPr/>
        </p:nvSpPr>
        <p:spPr>
          <a:xfrm>
            <a:off x="0" y="4983480"/>
            <a:ext cx="9144000" cy="164592"/>
          </a:xfrm>
          <a:prstGeom prst="rect">
            <a:avLst/>
          </a:prstGeom>
          <a:solidFill>
            <a:srgbClr val="085041"/>
          </a:solidFill>
          <a:ln w="12700">
            <a:solidFill>
              <a:srgbClr val="085041"/>
            </a:solidFill>
            <a:prstDash val="solid"/>
          </a:ln>
        </p:spPr>
      </p:sp>
      <p:sp>
        <p:nvSpPr>
          <p:cNvPr id="4" name="Text 2"/>
          <p:cNvSpPr/>
          <p:nvPr/>
        </p:nvSpPr>
        <p:spPr>
          <a:xfrm>
            <a:off x="274320" y="4992624"/>
            <a:ext cx="8595360" cy="146304"/>
          </a:xfrm>
          <a:prstGeom prst="rect">
            <a:avLst/>
          </a:prstGeom>
          <a:noFill/>
          <a:ln/>
        </p:spPr>
        <p:txBody>
          <a:bodyPr wrap="square" rtlCol="0" anchor="ctr"/>
          <a:lstStyle/>
          <a:p>
            <a:pPr algn="ctr" indent="0" marL="0">
              <a:buNone/>
            </a:pPr>
            <a:r>
              <a:rPr lang="en-US" sz="700" dirty="0">
                <a:solidFill>
                  <a:srgbClr val="5DCAA5"/>
                </a:solidFill>
                <a:latin typeface="Arial" pitchFamily="34" charset="0"/>
                <a:ea typeface="Arial" pitchFamily="34" charset="-122"/>
                <a:cs typeface="Arial" pitchFamily="34" charset="-120"/>
              </a:rPr>
              <a:t>VID · Virtual ID · Africa Ignite Hackathon 2026</a:t>
            </a:r>
            <a:endParaRPr lang="en-US" sz="700" dirty="0"/>
          </a:p>
        </p:txBody>
      </p:sp>
      <p:sp>
        <p:nvSpPr>
          <p:cNvPr id="5" name="Shape 3"/>
          <p:cNvSpPr/>
          <p:nvPr/>
        </p:nvSpPr>
        <p:spPr>
          <a:xfrm>
            <a:off x="411480" y="256032"/>
            <a:ext cx="2843784" cy="228600"/>
          </a:xfrm>
          <a:prstGeom prst="roundRect">
            <a:avLst>
              <a:gd name="adj" fmla="val 20000"/>
            </a:avLst>
          </a:prstGeom>
          <a:solidFill>
            <a:srgbClr val="1D9E75"/>
          </a:solidFill>
          <a:ln w="12700">
            <a:solidFill>
              <a:srgbClr val="1D9E75"/>
            </a:solidFill>
            <a:prstDash val="solid"/>
          </a:ln>
        </p:spPr>
      </p:sp>
      <p:sp>
        <p:nvSpPr>
          <p:cNvPr id="6" name="Text 4"/>
          <p:cNvSpPr/>
          <p:nvPr/>
        </p:nvSpPr>
        <p:spPr>
          <a:xfrm>
            <a:off x="411480" y="256032"/>
            <a:ext cx="2843784" cy="228600"/>
          </a:xfrm>
          <a:prstGeom prst="rect">
            <a:avLst/>
          </a:prstGeom>
          <a:noFill/>
          <a:ln/>
        </p:spPr>
        <p:txBody>
          <a:bodyPr wrap="square" rtlCol="0" anchor="ctr"/>
          <a:lstStyle/>
          <a:p>
            <a:pPr algn="ctr" indent="0" marL="0">
              <a:buNone/>
            </a:pPr>
            <a:r>
              <a:rPr lang="en-US" sz="800" b="1" spc="100" kern="0" dirty="0">
                <a:solidFill>
                  <a:srgbClr val="FFFFFF"/>
                </a:solidFill>
                <a:latin typeface="Arial" pitchFamily="34" charset="0"/>
                <a:ea typeface="Arial" pitchFamily="34" charset="-122"/>
                <a:cs typeface="Arial" pitchFamily="34" charset="-120"/>
              </a:rPr>
              <a:t>QUESTION 3 — SCORING STRATEGY</a:t>
            </a:r>
            <a:endParaRPr lang="en-US" sz="800" dirty="0"/>
          </a:p>
        </p:txBody>
      </p:sp>
      <p:sp>
        <p:nvSpPr>
          <p:cNvPr id="7" name="Text 5"/>
          <p:cNvSpPr/>
          <p:nvPr/>
        </p:nvSpPr>
        <p:spPr>
          <a:xfrm>
            <a:off x="411480" y="566928"/>
            <a:ext cx="8321040" cy="411480"/>
          </a:xfrm>
          <a:prstGeom prst="rect">
            <a:avLst/>
          </a:prstGeom>
          <a:noFill/>
          <a:ln/>
        </p:spPr>
        <p:txBody>
          <a:bodyPr wrap="square" rtlCol="0" anchor="ctr"/>
          <a:lstStyle/>
          <a:p>
            <a:pPr indent="0" marL="0">
              <a:buNone/>
            </a:pPr>
            <a:r>
              <a:rPr lang="en-US" sz="1800" b="1" dirty="0">
                <a:solidFill>
                  <a:srgbClr val="1A1A1A"/>
                </a:solidFill>
                <a:latin typeface="Arial" pitchFamily="34" charset="0"/>
                <a:ea typeface="Arial" pitchFamily="34" charset="-122"/>
                <a:cs typeface="Arial" pitchFamily="34" charset="-120"/>
              </a:rPr>
              <a:t>How Do Judges Score — What Should We Prioritise?</a:t>
            </a:r>
            <a:endParaRPr lang="en-US" sz="1800" dirty="0"/>
          </a:p>
        </p:txBody>
      </p:sp>
      <p:sp>
        <p:nvSpPr>
          <p:cNvPr id="8" name="Shape 6"/>
          <p:cNvSpPr/>
          <p:nvPr/>
        </p:nvSpPr>
        <p:spPr>
          <a:xfrm>
            <a:off x="411480" y="1051560"/>
            <a:ext cx="8321040" cy="777240"/>
          </a:xfrm>
          <a:prstGeom prst="roundRect">
            <a:avLst>
              <a:gd name="adj" fmla="val 9412"/>
            </a:avLst>
          </a:prstGeom>
          <a:solidFill>
            <a:srgbClr val="E1F5EE"/>
          </a:solidFill>
          <a:ln w="6350">
            <a:solidFill>
              <a:srgbClr val="DDDDDD"/>
            </a:solidFill>
            <a:prstDash val="solid"/>
          </a:ln>
          <a:effectLst>
            <a:outerShdw sx="100000" sy="100000" kx="0" ky="0" algn="bl" rotWithShape="0" blurRad="50800" dist="12700" dir="8100000">
              <a:srgbClr val="000000">
                <a:alpha val="7000"/>
              </a:srgbClr>
            </a:outerShdw>
          </a:effectLst>
        </p:spPr>
      </p:sp>
      <p:sp>
        <p:nvSpPr>
          <p:cNvPr id="9" name="Text 7"/>
          <p:cNvSpPr/>
          <p:nvPr/>
        </p:nvSpPr>
        <p:spPr>
          <a:xfrm>
            <a:off x="594360" y="1115568"/>
            <a:ext cx="7955280" cy="256032"/>
          </a:xfrm>
          <a:prstGeom prst="rect">
            <a:avLst/>
          </a:prstGeom>
          <a:noFill/>
          <a:ln/>
        </p:spPr>
        <p:txBody>
          <a:bodyPr wrap="square" rtlCol="0" anchor="ctr"/>
          <a:lstStyle/>
          <a:p>
            <a:pPr indent="0" marL="0">
              <a:buNone/>
            </a:pPr>
            <a:r>
              <a:rPr lang="en-US" sz="1100" b="1" dirty="0">
                <a:solidFill>
                  <a:srgbClr val="0F6E56"/>
                </a:solidFill>
                <a:latin typeface="Arial" pitchFamily="34" charset="0"/>
                <a:ea typeface="Arial" pitchFamily="34" charset="-122"/>
                <a:cs typeface="Arial" pitchFamily="34" charset="-120"/>
              </a:rPr>
              <a:t>Our Question to You</a:t>
            </a:r>
            <a:endParaRPr lang="en-US" sz="1100" dirty="0"/>
          </a:p>
        </p:txBody>
      </p:sp>
      <p:sp>
        <p:nvSpPr>
          <p:cNvPr id="10" name="Text 8"/>
          <p:cNvSpPr/>
          <p:nvPr/>
        </p:nvSpPr>
        <p:spPr>
          <a:xfrm>
            <a:off x="594360" y="1371600"/>
            <a:ext cx="7955280" cy="402336"/>
          </a:xfrm>
          <a:prstGeom prst="rect">
            <a:avLst/>
          </a:prstGeom>
          <a:noFill/>
          <a:ln/>
        </p:spPr>
        <p:txBody>
          <a:bodyPr wrap="square" rtlCol="0" anchor="ctr"/>
          <a:lstStyle/>
          <a:p>
            <a:pPr indent="0" marL="0">
              <a:buNone/>
            </a:pPr>
            <a:r>
              <a:rPr lang="en-US" sz="1000" i="1" dirty="0">
                <a:solidFill>
                  <a:srgbClr val="1A1A1A"/>
                </a:solidFill>
                <a:latin typeface="Arial" pitchFamily="34" charset="0"/>
                <a:ea typeface="Arial" pitchFamily="34" charset="-122"/>
                <a:cs typeface="Arial" pitchFamily="34" charset="-120"/>
              </a:rPr>
              <a:t>Given our 5-API stack, Pan-African scope, and AI agent layer, which aspects of VID should we emphasise most heavily in our submission and demo to maximise our evaluation score? Are there specific evaluation criteria where we are currently under-presenting our strength?</a:t>
            </a:r>
            <a:endParaRPr lang="en-US" sz="1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11480" y="1901952"/>
          <a:ext cx="8321040" cy="2834640"/>
        </p:xfrm>
        <a:graphic>
          <a:graphicData uri="http://schemas.openxmlformats.org/drawingml/2006/table">
            <a:tbl>
              <a:tblPr/>
              <a:tblGrid>
                <a:gridCol w="1828800"/>
                <a:gridCol w="3291840"/>
                <a:gridCol w="3200400"/>
              </a:tblGrid>
              <a:tr h="475488">
                <a:tc>
                  <a:txBody>
                    <a:bodyPr/>
                    <a:lstStyle/>
                    <a:p>
                      <a:pPr indent="0" marL="0">
                        <a:buNone/>
                      </a:pPr>
                      <a:r>
                        <a:rPr lang="en-US" sz="1000" b="1" dirty="0">
                          <a:solidFill>
                            <a:srgbClr val="FFFFFF"/>
                          </a:solidFill>
                        </a:rPr>
                        <a:t>Evaluation criterion</a:t>
                      </a:r>
                      <a:endParaRPr lang="en-US" sz="100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085041"/>
                    </a:solidFill>
                  </a:tcPr>
                </a:tc>
                <a:tc>
                  <a:txBody>
                    <a:bodyPr/>
                    <a:lstStyle/>
                    <a:p>
                      <a:pPr indent="0" marL="0">
                        <a:buNone/>
                      </a:pPr>
                      <a:r>
                        <a:rPr lang="en-US" sz="1000" b="1" dirty="0">
                          <a:solidFill>
                            <a:srgbClr val="FFFFFF"/>
                          </a:solidFill>
                        </a:rPr>
                        <a:t>Our current position</a:t>
                      </a:r>
                      <a:endParaRPr lang="en-US" sz="100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085041"/>
                    </a:solidFill>
                  </a:tcPr>
                </a:tc>
                <a:tc>
                  <a:txBody>
                    <a:bodyPr/>
                    <a:lstStyle/>
                    <a:p>
                      <a:pPr indent="0" marL="0">
                        <a:buNone/>
                      </a:pPr>
                      <a:r>
                        <a:rPr lang="en-US" sz="1000" b="1" dirty="0">
                          <a:solidFill>
                            <a:srgbClr val="FFFFFF"/>
                          </a:solidFill>
                        </a:rPr>
                        <a:t>Question for mentor</a:t>
                      </a:r>
                      <a:endParaRPr lang="en-US" sz="100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085041"/>
                    </a:solidFill>
                  </a:tcPr>
                </a:tc>
              </a:tr>
              <a:tr h="475488">
                <a:tc>
                  <a:txBody>
                    <a:bodyPr/>
                    <a:lstStyle/>
                    <a:p>
                      <a:pPr indent="0" marL="0">
                        <a:buNone/>
                      </a:pPr>
                      <a:r>
                        <a:rPr lang="en-US" sz="1000" b="1" dirty="0">
                          <a:solidFill>
                            <a:srgbClr val="0F6E56"/>
                          </a:solidFill>
                        </a:rPr>
                        <a:t>CAMARA API usage</a:t>
                      </a:r>
                      <a:endParaRPr lang="en-US" sz="100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900" dirty="0">
                          <a:solidFill>
                            <a:srgbClr val="1A1A1A"/>
                          </a:solidFill>
                        </a:rPr>
                        <a:t>5 APIs · each logically necessary · multi-API bonus claimed</a:t>
                      </a:r>
                      <a:endParaRPr lang="en-US" sz="90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900" i="1" dirty="0">
                          <a:solidFill>
                            <a:srgbClr val="888888"/>
                          </a:solidFill>
                        </a:rPr>
                        <a:t>Are we presenting the API logic clearly enough to score max?</a:t>
                      </a:r>
                      <a:endParaRPr lang="en-US" sz="90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475488">
                <a:tc>
                  <a:txBody>
                    <a:bodyPr/>
                    <a:lstStyle/>
                    <a:p>
                      <a:pPr indent="0" marL="0">
                        <a:buNone/>
                      </a:pPr>
                      <a:r>
                        <a:rPr lang="en-US" sz="1000" b="1" dirty="0">
                          <a:solidFill>
                            <a:srgbClr val="3C3489"/>
                          </a:solidFill>
                        </a:rPr>
                        <a:t>Real-world problem fit</a:t>
                      </a:r>
                      <a:endParaRPr lang="en-US" sz="100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900" dirty="0">
                          <a:solidFill>
                            <a:srgbClr val="1A1A1A"/>
                          </a:solidFill>
                        </a:rPr>
                        <a:t>400M undocumented · Pan-African · every theme enabled</a:t>
                      </a:r>
                      <a:endParaRPr lang="en-US" sz="90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900" i="1" dirty="0">
                          <a:solidFill>
                            <a:srgbClr val="888888"/>
                          </a:solidFill>
                        </a:rPr>
                        <a:t>Is our problem framing strong enough or should we lead with data?</a:t>
                      </a:r>
                      <a:endParaRPr lang="en-US" sz="90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475488">
                <a:tc>
                  <a:txBody>
                    <a:bodyPr/>
                    <a:lstStyle/>
                    <a:p>
                      <a:pPr indent="0" marL="0">
                        <a:buNone/>
                      </a:pPr>
                      <a:r>
                        <a:rPr lang="en-US" sz="1000" b="1" dirty="0">
                          <a:solidFill>
                            <a:srgbClr val="BA7517"/>
                          </a:solidFill>
                        </a:rPr>
                        <a:t>Innovation</a:t>
                      </a:r>
                      <a:endParaRPr lang="en-US" sz="100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900" dirty="0">
                          <a:solidFill>
                            <a:srgbClr val="1A1A1A"/>
                          </a:solidFill>
                        </a:rPr>
                        <a:t>SIM-as-identity-oracle · no hardware · no biometrics · novel</a:t>
                      </a:r>
                      <a:endParaRPr lang="en-US" sz="90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900" i="1" dirty="0">
                          <a:solidFill>
                            <a:srgbClr val="888888"/>
                          </a:solidFill>
                        </a:rPr>
                        <a:t>How do we best contrast ourselves from digital wallet approaches?</a:t>
                      </a:r>
                      <a:endParaRPr lang="en-US" sz="90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475488">
                <a:tc>
                  <a:txBody>
                    <a:bodyPr/>
                    <a:lstStyle/>
                    <a:p>
                      <a:pPr indent="0" marL="0">
                        <a:buNone/>
                      </a:pPr>
                      <a:r>
                        <a:rPr lang="en-US" sz="1000" b="1" dirty="0">
                          <a:solidFill>
                            <a:srgbClr val="D85A30"/>
                          </a:solidFill>
                        </a:rPr>
                        <a:t>Scalability</a:t>
                      </a:r>
                      <a:endParaRPr lang="en-US" sz="100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900" dirty="0">
                          <a:solidFill>
                            <a:srgbClr val="1A1A1A"/>
                          </a:solidFill>
                        </a:rPr>
                        <a:t>JSON config · 54 nations · no code change per country</a:t>
                      </a:r>
                      <a:endParaRPr lang="en-US" sz="90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900" i="1" dirty="0">
                          <a:solidFill>
                            <a:srgbClr val="888888"/>
                          </a:solidFill>
                        </a:rPr>
                        <a:t>Should we demo the config file or describe it — what impresses more?</a:t>
                      </a:r>
                      <a:endParaRPr lang="en-US" sz="90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475488">
                <a:tc>
                  <a:txBody>
                    <a:bodyPr/>
                    <a:lstStyle/>
                    <a:p>
                      <a:pPr indent="0" marL="0">
                        <a:buNone/>
                      </a:pPr>
                      <a:r>
                        <a:rPr lang="en-US" sz="1000" b="1" dirty="0">
                          <a:solidFill>
                            <a:srgbClr val="185FA5"/>
                          </a:solidFill>
                        </a:rPr>
                        <a:t>Agentic AI bonus</a:t>
                      </a:r>
                      <a:endParaRPr lang="en-US" sz="100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900" dirty="0">
                          <a:solidFill>
                            <a:srgbClr val="1A1A1A"/>
                          </a:solidFill>
                        </a:rPr>
                        <a:t>Real-time revocation agent · plain-language explainer per country</a:t>
                      </a:r>
                      <a:endParaRPr lang="en-US" sz="90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900" i="1" dirty="0">
                          <a:solidFill>
                            <a:srgbClr val="888888"/>
                          </a:solidFill>
                        </a:rPr>
                        <a:t>How complete does the AI layer need to be to claim full bonus points?</a:t>
                      </a:r>
                      <a:endParaRPr lang="en-US" sz="90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8F6"/>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85FA5"/>
          </a:solidFill>
          <a:ln w="12700">
            <a:solidFill>
              <a:srgbClr val="185FA5"/>
            </a:solidFill>
            <a:prstDash val="solid"/>
          </a:ln>
        </p:spPr>
      </p:sp>
      <p:sp>
        <p:nvSpPr>
          <p:cNvPr id="3" name="Shape 1"/>
          <p:cNvSpPr/>
          <p:nvPr/>
        </p:nvSpPr>
        <p:spPr>
          <a:xfrm>
            <a:off x="0" y="4983480"/>
            <a:ext cx="9144000" cy="164592"/>
          </a:xfrm>
          <a:prstGeom prst="rect">
            <a:avLst/>
          </a:prstGeom>
          <a:solidFill>
            <a:srgbClr val="085041"/>
          </a:solidFill>
          <a:ln w="12700">
            <a:solidFill>
              <a:srgbClr val="085041"/>
            </a:solidFill>
            <a:prstDash val="solid"/>
          </a:ln>
        </p:spPr>
      </p:sp>
      <p:sp>
        <p:nvSpPr>
          <p:cNvPr id="4" name="Text 2"/>
          <p:cNvSpPr/>
          <p:nvPr/>
        </p:nvSpPr>
        <p:spPr>
          <a:xfrm>
            <a:off x="274320" y="4992624"/>
            <a:ext cx="8595360" cy="146304"/>
          </a:xfrm>
          <a:prstGeom prst="rect">
            <a:avLst/>
          </a:prstGeom>
          <a:noFill/>
          <a:ln/>
        </p:spPr>
        <p:txBody>
          <a:bodyPr wrap="square" rtlCol="0" anchor="ctr"/>
          <a:lstStyle/>
          <a:p>
            <a:pPr algn="ctr" indent="0" marL="0">
              <a:buNone/>
            </a:pPr>
            <a:r>
              <a:rPr lang="en-US" sz="700" dirty="0">
                <a:solidFill>
                  <a:srgbClr val="5DCAA5"/>
                </a:solidFill>
                <a:latin typeface="Arial" pitchFamily="34" charset="0"/>
                <a:ea typeface="Arial" pitchFamily="34" charset="-122"/>
                <a:cs typeface="Arial" pitchFamily="34" charset="-120"/>
              </a:rPr>
              <a:t>VID · Virtual ID · Africa Ignite Hackathon 2026</a:t>
            </a:r>
            <a:endParaRPr lang="en-US" sz="700" dirty="0"/>
          </a:p>
        </p:txBody>
      </p:sp>
      <p:sp>
        <p:nvSpPr>
          <p:cNvPr id="5" name="Shape 3"/>
          <p:cNvSpPr/>
          <p:nvPr/>
        </p:nvSpPr>
        <p:spPr>
          <a:xfrm>
            <a:off x="411480" y="256032"/>
            <a:ext cx="2761488" cy="228600"/>
          </a:xfrm>
          <a:prstGeom prst="roundRect">
            <a:avLst>
              <a:gd name="adj" fmla="val 20000"/>
            </a:avLst>
          </a:prstGeom>
          <a:solidFill>
            <a:srgbClr val="185FA5"/>
          </a:solidFill>
          <a:ln w="12700">
            <a:solidFill>
              <a:srgbClr val="185FA5"/>
            </a:solidFill>
            <a:prstDash val="solid"/>
          </a:ln>
        </p:spPr>
      </p:sp>
      <p:sp>
        <p:nvSpPr>
          <p:cNvPr id="6" name="Text 4"/>
          <p:cNvSpPr/>
          <p:nvPr/>
        </p:nvSpPr>
        <p:spPr>
          <a:xfrm>
            <a:off x="411480" y="256032"/>
            <a:ext cx="2761488" cy="228600"/>
          </a:xfrm>
          <a:prstGeom prst="rect">
            <a:avLst/>
          </a:prstGeom>
          <a:noFill/>
          <a:ln/>
        </p:spPr>
        <p:txBody>
          <a:bodyPr wrap="square" rtlCol="0" anchor="ctr"/>
          <a:lstStyle/>
          <a:p>
            <a:pPr algn="ctr" indent="0" marL="0">
              <a:buNone/>
            </a:pPr>
            <a:r>
              <a:rPr lang="en-US" sz="800" b="1" spc="100" kern="0" dirty="0">
                <a:solidFill>
                  <a:srgbClr val="FFFFFF"/>
                </a:solidFill>
                <a:latin typeface="Arial" pitchFamily="34" charset="0"/>
                <a:ea typeface="Arial" pitchFamily="34" charset="-122"/>
                <a:cs typeface="Arial" pitchFamily="34" charset="-120"/>
              </a:rPr>
              <a:t>QUESTION 4 — TECHNICAL RISKS</a:t>
            </a:r>
            <a:endParaRPr lang="en-US" sz="800" dirty="0"/>
          </a:p>
        </p:txBody>
      </p:sp>
      <p:sp>
        <p:nvSpPr>
          <p:cNvPr id="7" name="Text 5"/>
          <p:cNvSpPr/>
          <p:nvPr/>
        </p:nvSpPr>
        <p:spPr>
          <a:xfrm>
            <a:off x="411480" y="566928"/>
            <a:ext cx="8321040" cy="411480"/>
          </a:xfrm>
          <a:prstGeom prst="rect">
            <a:avLst/>
          </a:prstGeom>
          <a:noFill/>
          <a:ln/>
        </p:spPr>
        <p:txBody>
          <a:bodyPr wrap="square" rtlCol="0" anchor="ctr"/>
          <a:lstStyle/>
          <a:p>
            <a:pPr indent="0" marL="0">
              <a:buNone/>
            </a:pPr>
            <a:r>
              <a:rPr lang="en-US" sz="1800" b="1" dirty="0">
                <a:solidFill>
                  <a:srgbClr val="1A1A1A"/>
                </a:solidFill>
                <a:latin typeface="Arial" pitchFamily="34" charset="0"/>
                <a:ea typeface="Arial" pitchFamily="34" charset="-122"/>
                <a:cs typeface="Arial" pitchFamily="34" charset="-120"/>
              </a:rPr>
              <a:t>Where Do You See the Biggest Technical Risks?</a:t>
            </a:r>
            <a:endParaRPr lang="en-US" sz="1800" dirty="0"/>
          </a:p>
        </p:txBody>
      </p:sp>
      <p:sp>
        <p:nvSpPr>
          <p:cNvPr id="8" name="Shape 6"/>
          <p:cNvSpPr/>
          <p:nvPr/>
        </p:nvSpPr>
        <p:spPr>
          <a:xfrm>
            <a:off x="411480" y="1051560"/>
            <a:ext cx="8321040" cy="658368"/>
          </a:xfrm>
          <a:prstGeom prst="roundRect">
            <a:avLst>
              <a:gd name="adj" fmla="val 11111"/>
            </a:avLst>
          </a:prstGeom>
          <a:solidFill>
            <a:srgbClr val="E6F1FB"/>
          </a:solidFill>
          <a:ln w="6350">
            <a:solidFill>
              <a:srgbClr val="DDDDDD"/>
            </a:solidFill>
            <a:prstDash val="solid"/>
          </a:ln>
          <a:effectLst>
            <a:outerShdw sx="100000" sy="100000" kx="0" ky="0" algn="bl" rotWithShape="0" blurRad="50800" dist="12700" dir="8100000">
              <a:srgbClr val="000000">
                <a:alpha val="7000"/>
              </a:srgbClr>
            </a:outerShdw>
          </a:effectLst>
        </p:spPr>
      </p:sp>
      <p:sp>
        <p:nvSpPr>
          <p:cNvPr id="9" name="Text 7"/>
          <p:cNvSpPr/>
          <p:nvPr/>
        </p:nvSpPr>
        <p:spPr>
          <a:xfrm>
            <a:off x="594360" y="1115568"/>
            <a:ext cx="7955280" cy="256032"/>
          </a:xfrm>
          <a:prstGeom prst="rect">
            <a:avLst/>
          </a:prstGeom>
          <a:noFill/>
          <a:ln/>
        </p:spPr>
        <p:txBody>
          <a:bodyPr wrap="square" rtlCol="0" anchor="ctr"/>
          <a:lstStyle/>
          <a:p>
            <a:pPr indent="0" marL="0">
              <a:buNone/>
            </a:pPr>
            <a:r>
              <a:rPr lang="en-US" sz="1100" b="1" dirty="0">
                <a:solidFill>
                  <a:srgbClr val="185FA5"/>
                </a:solidFill>
                <a:latin typeface="Arial" pitchFamily="34" charset="0"/>
                <a:ea typeface="Arial" pitchFamily="34" charset="-122"/>
                <a:cs typeface="Arial" pitchFamily="34" charset="-120"/>
              </a:rPr>
              <a:t>Our Question to You</a:t>
            </a:r>
            <a:endParaRPr lang="en-US" sz="1100" dirty="0"/>
          </a:p>
        </p:txBody>
      </p:sp>
      <p:sp>
        <p:nvSpPr>
          <p:cNvPr id="10" name="Text 8"/>
          <p:cNvSpPr/>
          <p:nvPr/>
        </p:nvSpPr>
        <p:spPr>
          <a:xfrm>
            <a:off x="594360" y="1371600"/>
            <a:ext cx="7955280" cy="292608"/>
          </a:xfrm>
          <a:prstGeom prst="rect">
            <a:avLst/>
          </a:prstGeom>
          <a:noFill/>
          <a:ln/>
        </p:spPr>
        <p:txBody>
          <a:bodyPr wrap="square" rtlCol="0" anchor="ctr"/>
          <a:lstStyle/>
          <a:p>
            <a:pPr indent="0" marL="0">
              <a:buNone/>
            </a:pPr>
            <a:r>
              <a:rPr lang="en-US" sz="1000" i="1" dirty="0">
                <a:solidFill>
                  <a:srgbClr val="1A1A1A"/>
                </a:solidFill>
                <a:latin typeface="Arial" pitchFamily="34" charset="0"/>
                <a:ea typeface="Arial" pitchFamily="34" charset="-122"/>
                <a:cs typeface="Arial" pitchFamily="34" charset="-120"/>
              </a:rPr>
              <a:t>Looking at our architecture — where do you see the highest risk of failure in the prototype phase, and what would you prioritise fixing first if you were us?</a:t>
            </a:r>
            <a:endParaRPr lang="en-US" sz="1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11480" y="1792224"/>
          <a:ext cx="8321040" cy="2944368"/>
        </p:xfrm>
        <a:graphic>
          <a:graphicData uri="http://schemas.openxmlformats.org/drawingml/2006/table">
            <a:tbl>
              <a:tblPr/>
              <a:tblGrid>
                <a:gridCol w="2194560"/>
                <a:gridCol w="4846320"/>
                <a:gridCol w="1280160"/>
              </a:tblGrid>
              <a:tr h="493776">
                <a:tc>
                  <a:txBody>
                    <a:bodyPr/>
                    <a:lstStyle/>
                    <a:p>
                      <a:pPr indent="0" marL="0">
                        <a:buNone/>
                      </a:pPr>
                      <a:r>
                        <a:rPr lang="en-US" sz="1000" b="1" dirty="0">
                          <a:solidFill>
                            <a:srgbClr val="FFFFFF"/>
                          </a:solidFill>
                        </a:rPr>
                        <a:t>Risk area</a:t>
                      </a:r>
                      <a:endParaRPr lang="en-US" sz="100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85FA5"/>
                    </a:solidFill>
                  </a:tcPr>
                </a:tc>
                <a:tc>
                  <a:txBody>
                    <a:bodyPr/>
                    <a:lstStyle/>
                    <a:p>
                      <a:pPr indent="0" marL="0">
                        <a:buNone/>
                      </a:pPr>
                      <a:r>
                        <a:rPr lang="en-US" sz="1000" b="1" dirty="0">
                          <a:solidFill>
                            <a:srgbClr val="FFFFFF"/>
                          </a:solidFill>
                        </a:rPr>
                        <a:t>Our mitigation plan</a:t>
                      </a:r>
                      <a:endParaRPr lang="en-US" sz="100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85FA5"/>
                    </a:solidFill>
                  </a:tcPr>
                </a:tc>
                <a:tc>
                  <a:txBody>
                    <a:bodyPr/>
                    <a:lstStyle/>
                    <a:p>
                      <a:pPr indent="0" marL="0">
                        <a:buNone/>
                      </a:pPr>
                      <a:r>
                        <a:rPr lang="en-US" sz="1000" b="1" dirty="0">
                          <a:solidFill>
                            <a:srgbClr val="FFFFFF"/>
                          </a:solidFill>
                        </a:rPr>
                        <a:t>Risk level</a:t>
                      </a:r>
                      <a:endParaRPr lang="en-US" sz="100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85FA5"/>
                    </a:solidFill>
                  </a:tcPr>
                </a:tc>
              </a:tr>
              <a:tr h="493776">
                <a:tc>
                  <a:txBody>
                    <a:bodyPr/>
                    <a:lstStyle/>
                    <a:p>
                      <a:pPr indent="0" marL="0">
                        <a:buNone/>
                      </a:pPr>
                      <a:r>
                        <a:rPr lang="en-US" sz="950" b="1" dirty="0">
                          <a:solidFill>
                            <a:srgbClr val="1A1A1A"/>
                          </a:solidFill>
                        </a:rPr>
                        <a:t>CAMARA API sandbox reliability</a:t>
                      </a:r>
                      <a:endParaRPr lang="en-US" sz="95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900" dirty="0">
                          <a:solidFill>
                            <a:srgbClr val="888888"/>
                          </a:solidFill>
                        </a:rPr>
                        <a:t>Sandbox may not return consistent responses for all 5 APIs. We plan to build mock responses as fallback.</a:t>
                      </a:r>
                      <a:endParaRPr lang="en-US" sz="90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950" b="1" dirty="0">
                          <a:solidFill>
                            <a:srgbClr val="D85A30"/>
                          </a:solidFill>
                        </a:rPr>
                        <a:t>High</a:t>
                      </a:r>
                      <a:endParaRPr lang="en-US" sz="95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493776">
                <a:tc>
                  <a:txBody>
                    <a:bodyPr/>
                    <a:lstStyle/>
                    <a:p>
                      <a:pPr indent="0" marL="0">
                        <a:buNone/>
                      </a:pPr>
                      <a:r>
                        <a:rPr lang="en-US" sz="950" b="1" dirty="0">
                          <a:solidFill>
                            <a:srgbClr val="1A1A1A"/>
                          </a:solidFill>
                        </a:rPr>
                        <a:t>Multi-network KYC Match</a:t>
                      </a:r>
                      <a:endParaRPr lang="en-US" sz="95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900" dirty="0">
                          <a:solidFill>
                            <a:srgbClr val="888888"/>
                          </a:solidFill>
                        </a:rPr>
                        <a:t>KYC Match may not work cross-network in sandbox — same person on MTN + Airtel may not resolve consistently.</a:t>
                      </a:r>
                      <a:endParaRPr lang="en-US" sz="90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950" b="1" dirty="0">
                          <a:solidFill>
                            <a:srgbClr val="D85A30"/>
                          </a:solidFill>
                        </a:rPr>
                        <a:t>High</a:t>
                      </a:r>
                      <a:endParaRPr lang="en-US" sz="95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493776">
                <a:tc>
                  <a:txBody>
                    <a:bodyPr/>
                    <a:lstStyle/>
                    <a:p>
                      <a:pPr indent="0" marL="0">
                        <a:buNone/>
                      </a:pPr>
                      <a:r>
                        <a:rPr lang="en-US" sz="950" b="1" dirty="0">
                          <a:solidFill>
                            <a:srgbClr val="1A1A1A"/>
                          </a:solidFill>
                        </a:rPr>
                        <a:t>Location Verification accuracy</a:t>
                      </a:r>
                      <a:endParaRPr lang="en-US" sz="95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900" dirty="0">
                          <a:solidFill>
                            <a:srgbClr val="888888"/>
                          </a:solidFill>
                        </a:rPr>
                        <a:t>Country-level location may be too broad to meaningfully score — city-level may not be available in sandbox.</a:t>
                      </a:r>
                      <a:endParaRPr lang="en-US" sz="90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950" b="1" dirty="0">
                          <a:solidFill>
                            <a:srgbClr val="BA7517"/>
                          </a:solidFill>
                        </a:rPr>
                        <a:t>Medium</a:t>
                      </a:r>
                      <a:endParaRPr lang="en-US" sz="95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493776">
                <a:tc>
                  <a:txBody>
                    <a:bodyPr/>
                    <a:lstStyle/>
                    <a:p>
                      <a:pPr indent="0" marL="0">
                        <a:buNone/>
                      </a:pPr>
                      <a:r>
                        <a:rPr lang="en-US" sz="950" b="1" dirty="0">
                          <a:solidFill>
                            <a:srgbClr val="1A1A1A"/>
                          </a:solidFill>
                        </a:rPr>
                        <a:t>Trust score edge cases</a:t>
                      </a:r>
                      <a:endParaRPr lang="en-US" sz="95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900" dirty="0">
                          <a:solidFill>
                            <a:srgbClr val="888888"/>
                          </a:solidFill>
                        </a:rPr>
                        <a:t>A user with a recently swapped SIM who is legitimately trustworthy may score unfairly low. Need to weight tenure.</a:t>
                      </a:r>
                      <a:endParaRPr lang="en-US" sz="90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950" b="1" dirty="0">
                          <a:solidFill>
                            <a:srgbClr val="BA7517"/>
                          </a:solidFill>
                        </a:rPr>
                        <a:t>Medium</a:t>
                      </a:r>
                      <a:endParaRPr lang="en-US" sz="95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493776">
                <a:tc>
                  <a:txBody>
                    <a:bodyPr/>
                    <a:lstStyle/>
                    <a:p>
                      <a:pPr indent="0" marL="0">
                        <a:buNone/>
                      </a:pPr>
                      <a:r>
                        <a:rPr lang="en-US" sz="950" b="1" dirty="0">
                          <a:solidFill>
                            <a:srgbClr val="1A1A1A"/>
                          </a:solidFill>
                        </a:rPr>
                        <a:t>Demo reliability on submission day</a:t>
                      </a:r>
                      <a:endParaRPr lang="en-US" sz="95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900" dirty="0">
                          <a:solidFill>
                            <a:srgbClr val="888888"/>
                          </a:solidFill>
                        </a:rPr>
                        <a:t>Live API calls during demo could fail if Nokia NaC sandbox has downtime. We need a recorded fallback.</a:t>
                      </a:r>
                      <a:endParaRPr lang="en-US" sz="90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indent="0" marL="0">
                        <a:buNone/>
                      </a:pPr>
                      <a:r>
                        <a:rPr lang="en-US" sz="950" b="1" dirty="0">
                          <a:solidFill>
                            <a:srgbClr val="BA7517"/>
                          </a:solidFill>
                        </a:rPr>
                        <a:t>Medium</a:t>
                      </a:r>
                      <a:endParaRPr lang="en-US" sz="950" dirty="0"/>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85041"/>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85041"/>
          </a:solidFill>
          <a:ln w="12700">
            <a:solidFill>
              <a:srgbClr val="085041"/>
            </a:solidFill>
            <a:prstDash val="solid"/>
          </a:ln>
        </p:spPr>
      </p:sp>
      <p:sp>
        <p:nvSpPr>
          <p:cNvPr id="3" name="Shape 1"/>
          <p:cNvSpPr/>
          <p:nvPr/>
        </p:nvSpPr>
        <p:spPr>
          <a:xfrm>
            <a:off x="0" y="4206240"/>
            <a:ext cx="9144000" cy="937260"/>
          </a:xfrm>
          <a:prstGeom prst="rect">
            <a:avLst/>
          </a:prstGeom>
          <a:solidFill>
            <a:srgbClr val="042C1E"/>
          </a:solidFill>
          <a:ln w="12700">
            <a:solidFill>
              <a:srgbClr val="042C1E"/>
            </a:solidFill>
            <a:prstDash val="solid"/>
          </a:ln>
        </p:spPr>
      </p:sp>
      <p:sp>
        <p:nvSpPr>
          <p:cNvPr id="4" name="Text 2"/>
          <p:cNvSpPr/>
          <p:nvPr/>
        </p:nvSpPr>
        <p:spPr>
          <a:xfrm>
            <a:off x="457200" y="457200"/>
            <a:ext cx="8229600" cy="502920"/>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Session Close — 3 Takeaways We Need</a:t>
            </a:r>
            <a:endParaRPr lang="en-US" sz="2200" dirty="0"/>
          </a:p>
        </p:txBody>
      </p:sp>
      <p:sp>
        <p:nvSpPr>
          <p:cNvPr id="5" name="Text 3"/>
          <p:cNvSpPr/>
          <p:nvPr/>
        </p:nvSpPr>
        <p:spPr>
          <a:xfrm>
            <a:off x="457200" y="1005840"/>
            <a:ext cx="8229600" cy="292608"/>
          </a:xfrm>
          <a:prstGeom prst="rect">
            <a:avLst/>
          </a:prstGeom>
          <a:noFill/>
          <a:ln/>
        </p:spPr>
        <p:txBody>
          <a:bodyPr wrap="square" rtlCol="0" anchor="ctr"/>
          <a:lstStyle/>
          <a:p>
            <a:pPr indent="0" marL="0">
              <a:buNone/>
            </a:pPr>
            <a:r>
              <a:rPr lang="en-US" sz="1100" i="1" dirty="0">
                <a:solidFill>
                  <a:srgbClr val="9FE1CB"/>
                </a:solidFill>
                <a:latin typeface="Arial" pitchFamily="34" charset="0"/>
                <a:ea typeface="Arial" pitchFamily="34" charset="-122"/>
                <a:cs typeface="Arial" pitchFamily="34" charset="-120"/>
              </a:rPr>
              <a:t>Before we close, we'd like to agree on 3 specific, actionable things we should do differently or prioritise.</a:t>
            </a:r>
            <a:endParaRPr lang="en-US" sz="1100" dirty="0"/>
          </a:p>
        </p:txBody>
      </p:sp>
      <p:sp>
        <p:nvSpPr>
          <p:cNvPr id="6" name="Shape 4"/>
          <p:cNvSpPr/>
          <p:nvPr/>
        </p:nvSpPr>
        <p:spPr>
          <a:xfrm>
            <a:off x="457200" y="1417320"/>
            <a:ext cx="8229600" cy="822960"/>
          </a:xfrm>
          <a:prstGeom prst="roundRect">
            <a:avLst>
              <a:gd name="adj" fmla="val 8889"/>
            </a:avLst>
          </a:prstGeom>
          <a:solidFill>
            <a:srgbClr val="0A4030"/>
          </a:solidFill>
          <a:ln w="6350">
            <a:solidFill>
              <a:srgbClr val="1D9E75"/>
            </a:solidFill>
            <a:prstDash val="solid"/>
          </a:ln>
        </p:spPr>
      </p:sp>
      <p:sp>
        <p:nvSpPr>
          <p:cNvPr id="7" name="Text 5"/>
          <p:cNvSpPr/>
          <p:nvPr/>
        </p:nvSpPr>
        <p:spPr>
          <a:xfrm>
            <a:off x="594360" y="1508760"/>
            <a:ext cx="640080" cy="640080"/>
          </a:xfrm>
          <a:prstGeom prst="rect">
            <a:avLst/>
          </a:prstGeom>
          <a:noFill/>
          <a:ln/>
        </p:spPr>
        <p:txBody>
          <a:bodyPr wrap="square" rtlCol="0" anchor="ctr"/>
          <a:lstStyle/>
          <a:p>
            <a:pPr indent="0" marL="0">
              <a:buNone/>
            </a:pPr>
            <a:r>
              <a:rPr lang="en-US" sz="2600" b="1" dirty="0">
                <a:solidFill>
                  <a:srgbClr val="1D9E75"/>
                </a:solidFill>
                <a:latin typeface="Arial" pitchFamily="34" charset="0"/>
                <a:ea typeface="Arial" pitchFamily="34" charset="-122"/>
                <a:cs typeface="Arial" pitchFamily="34" charset="-120"/>
              </a:rPr>
              <a:t>01</a:t>
            </a:r>
            <a:endParaRPr lang="en-US" sz="2600" dirty="0"/>
          </a:p>
        </p:txBody>
      </p:sp>
      <p:sp>
        <p:nvSpPr>
          <p:cNvPr id="8" name="Shape 6"/>
          <p:cNvSpPr/>
          <p:nvPr/>
        </p:nvSpPr>
        <p:spPr>
          <a:xfrm>
            <a:off x="1280160" y="1581912"/>
            <a:ext cx="27432" cy="493776"/>
          </a:xfrm>
          <a:prstGeom prst="rect">
            <a:avLst/>
          </a:prstGeom>
          <a:solidFill>
            <a:srgbClr val="1D9E75"/>
          </a:solidFill>
          <a:ln w="12700">
            <a:solidFill>
              <a:srgbClr val="1D9E75"/>
            </a:solidFill>
            <a:prstDash val="solid"/>
          </a:ln>
        </p:spPr>
      </p:sp>
      <p:sp>
        <p:nvSpPr>
          <p:cNvPr id="9" name="Text 7"/>
          <p:cNvSpPr/>
          <p:nvPr/>
        </p:nvSpPr>
        <p:spPr>
          <a:xfrm>
            <a:off x="1417320" y="1508760"/>
            <a:ext cx="7040880" cy="292608"/>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Architecture confirmation</a:t>
            </a:r>
            <a:endParaRPr lang="en-US" sz="1300" dirty="0"/>
          </a:p>
        </p:txBody>
      </p:sp>
      <p:sp>
        <p:nvSpPr>
          <p:cNvPr id="10" name="Text 8"/>
          <p:cNvSpPr/>
          <p:nvPr/>
        </p:nvSpPr>
        <p:spPr>
          <a:xfrm>
            <a:off x="1417320" y="1819656"/>
            <a:ext cx="7040880" cy="329184"/>
          </a:xfrm>
          <a:prstGeom prst="rect">
            <a:avLst/>
          </a:prstGeom>
          <a:noFill/>
          <a:ln/>
        </p:spPr>
        <p:txBody>
          <a:bodyPr wrap="square" rtlCol="0" anchor="ctr"/>
          <a:lstStyle/>
          <a:p>
            <a:pPr indent="0" marL="0">
              <a:buNone/>
            </a:pPr>
            <a:r>
              <a:rPr lang="en-US" sz="1000" dirty="0">
                <a:solidFill>
                  <a:srgbClr val="9FE1CB"/>
                </a:solidFill>
                <a:latin typeface="Arial" pitchFamily="34" charset="0"/>
                <a:ea typeface="Arial" pitchFamily="34" charset="-122"/>
                <a:cs typeface="Arial" pitchFamily="34" charset="-120"/>
              </a:rPr>
              <a:t>Mentor confirms or redirects our 4-layer stack — what to simplify or strengthen before May 10</a:t>
            </a:r>
            <a:endParaRPr lang="en-US" sz="1000" dirty="0"/>
          </a:p>
        </p:txBody>
      </p:sp>
      <p:sp>
        <p:nvSpPr>
          <p:cNvPr id="11" name="Shape 9"/>
          <p:cNvSpPr/>
          <p:nvPr/>
        </p:nvSpPr>
        <p:spPr>
          <a:xfrm>
            <a:off x="457200" y="2350008"/>
            <a:ext cx="8229600" cy="822960"/>
          </a:xfrm>
          <a:prstGeom prst="roundRect">
            <a:avLst>
              <a:gd name="adj" fmla="val 8889"/>
            </a:avLst>
          </a:prstGeom>
          <a:solidFill>
            <a:srgbClr val="0A4030"/>
          </a:solidFill>
          <a:ln w="6350">
            <a:solidFill>
              <a:srgbClr val="1D9E75"/>
            </a:solidFill>
            <a:prstDash val="solid"/>
          </a:ln>
        </p:spPr>
      </p:sp>
      <p:sp>
        <p:nvSpPr>
          <p:cNvPr id="12" name="Text 10"/>
          <p:cNvSpPr/>
          <p:nvPr/>
        </p:nvSpPr>
        <p:spPr>
          <a:xfrm>
            <a:off x="594360" y="2441448"/>
            <a:ext cx="640080" cy="640080"/>
          </a:xfrm>
          <a:prstGeom prst="rect">
            <a:avLst/>
          </a:prstGeom>
          <a:noFill/>
          <a:ln/>
        </p:spPr>
        <p:txBody>
          <a:bodyPr wrap="square" rtlCol="0" anchor="ctr"/>
          <a:lstStyle/>
          <a:p>
            <a:pPr indent="0" marL="0">
              <a:buNone/>
            </a:pPr>
            <a:r>
              <a:rPr lang="en-US" sz="2600" b="1" dirty="0">
                <a:solidFill>
                  <a:srgbClr val="1D9E75"/>
                </a:solidFill>
                <a:latin typeface="Arial" pitchFamily="34" charset="0"/>
                <a:ea typeface="Arial" pitchFamily="34" charset="-122"/>
                <a:cs typeface="Arial" pitchFamily="34" charset="-120"/>
              </a:rPr>
              <a:t>02</a:t>
            </a:r>
            <a:endParaRPr lang="en-US" sz="2600" dirty="0"/>
          </a:p>
        </p:txBody>
      </p:sp>
      <p:sp>
        <p:nvSpPr>
          <p:cNvPr id="13" name="Shape 11"/>
          <p:cNvSpPr/>
          <p:nvPr/>
        </p:nvSpPr>
        <p:spPr>
          <a:xfrm>
            <a:off x="1280160" y="2514600"/>
            <a:ext cx="27432" cy="493776"/>
          </a:xfrm>
          <a:prstGeom prst="rect">
            <a:avLst/>
          </a:prstGeom>
          <a:solidFill>
            <a:srgbClr val="1D9E75"/>
          </a:solidFill>
          <a:ln w="12700">
            <a:solidFill>
              <a:srgbClr val="1D9E75"/>
            </a:solidFill>
            <a:prstDash val="solid"/>
          </a:ln>
        </p:spPr>
      </p:sp>
      <p:sp>
        <p:nvSpPr>
          <p:cNvPr id="14" name="Text 12"/>
          <p:cNvSpPr/>
          <p:nvPr/>
        </p:nvSpPr>
        <p:spPr>
          <a:xfrm>
            <a:off x="1417320" y="2441448"/>
            <a:ext cx="7040880" cy="292608"/>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Build priority order</a:t>
            </a:r>
            <a:endParaRPr lang="en-US" sz="1300" dirty="0"/>
          </a:p>
        </p:txBody>
      </p:sp>
      <p:sp>
        <p:nvSpPr>
          <p:cNvPr id="15" name="Text 13"/>
          <p:cNvSpPr/>
          <p:nvPr/>
        </p:nvSpPr>
        <p:spPr>
          <a:xfrm>
            <a:off x="1417320" y="2752344"/>
            <a:ext cx="7040880" cy="329184"/>
          </a:xfrm>
          <a:prstGeom prst="rect">
            <a:avLst/>
          </a:prstGeom>
          <a:noFill/>
          <a:ln/>
        </p:spPr>
        <p:txBody>
          <a:bodyPr wrap="square" rtlCol="0" anchor="ctr"/>
          <a:lstStyle/>
          <a:p>
            <a:pPr indent="0" marL="0">
              <a:buNone/>
            </a:pPr>
            <a:r>
              <a:rPr lang="en-US" sz="1000" dirty="0">
                <a:solidFill>
                  <a:srgbClr val="9FE1CB"/>
                </a:solidFill>
                <a:latin typeface="Arial" pitchFamily="34" charset="0"/>
                <a:ea typeface="Arial" pitchFamily="34" charset="-122"/>
                <a:cs typeface="Arial" pitchFamily="34" charset="-120"/>
              </a:rPr>
              <a:t>Given our timeline, what should we finish first to maximise score — core features or depth of any one feature?</a:t>
            </a:r>
            <a:endParaRPr lang="en-US" sz="1000" dirty="0"/>
          </a:p>
        </p:txBody>
      </p:sp>
      <p:sp>
        <p:nvSpPr>
          <p:cNvPr id="16" name="Shape 14"/>
          <p:cNvSpPr/>
          <p:nvPr/>
        </p:nvSpPr>
        <p:spPr>
          <a:xfrm>
            <a:off x="457200" y="3282696"/>
            <a:ext cx="8229600" cy="822960"/>
          </a:xfrm>
          <a:prstGeom prst="roundRect">
            <a:avLst>
              <a:gd name="adj" fmla="val 8889"/>
            </a:avLst>
          </a:prstGeom>
          <a:solidFill>
            <a:srgbClr val="0A4030"/>
          </a:solidFill>
          <a:ln w="6350">
            <a:solidFill>
              <a:srgbClr val="1D9E75"/>
            </a:solidFill>
            <a:prstDash val="solid"/>
          </a:ln>
        </p:spPr>
      </p:sp>
      <p:sp>
        <p:nvSpPr>
          <p:cNvPr id="17" name="Text 15"/>
          <p:cNvSpPr/>
          <p:nvPr/>
        </p:nvSpPr>
        <p:spPr>
          <a:xfrm>
            <a:off x="594360" y="3374136"/>
            <a:ext cx="640080" cy="640080"/>
          </a:xfrm>
          <a:prstGeom prst="rect">
            <a:avLst/>
          </a:prstGeom>
          <a:noFill/>
          <a:ln/>
        </p:spPr>
        <p:txBody>
          <a:bodyPr wrap="square" rtlCol="0" anchor="ctr"/>
          <a:lstStyle/>
          <a:p>
            <a:pPr indent="0" marL="0">
              <a:buNone/>
            </a:pPr>
            <a:r>
              <a:rPr lang="en-US" sz="2600" b="1" dirty="0">
                <a:solidFill>
                  <a:srgbClr val="1D9E75"/>
                </a:solidFill>
                <a:latin typeface="Arial" pitchFamily="34" charset="0"/>
                <a:ea typeface="Arial" pitchFamily="34" charset="-122"/>
                <a:cs typeface="Arial" pitchFamily="34" charset="-120"/>
              </a:rPr>
              <a:t>03</a:t>
            </a:r>
            <a:endParaRPr lang="en-US" sz="2600" dirty="0"/>
          </a:p>
        </p:txBody>
      </p:sp>
      <p:sp>
        <p:nvSpPr>
          <p:cNvPr id="18" name="Shape 16"/>
          <p:cNvSpPr/>
          <p:nvPr/>
        </p:nvSpPr>
        <p:spPr>
          <a:xfrm>
            <a:off x="1280160" y="3447288"/>
            <a:ext cx="27432" cy="493776"/>
          </a:xfrm>
          <a:prstGeom prst="rect">
            <a:avLst/>
          </a:prstGeom>
          <a:solidFill>
            <a:srgbClr val="1D9E75"/>
          </a:solidFill>
          <a:ln w="12700">
            <a:solidFill>
              <a:srgbClr val="1D9E75"/>
            </a:solidFill>
            <a:prstDash val="solid"/>
          </a:ln>
        </p:spPr>
      </p:sp>
      <p:sp>
        <p:nvSpPr>
          <p:cNvPr id="19" name="Text 17"/>
          <p:cNvSpPr/>
          <p:nvPr/>
        </p:nvSpPr>
        <p:spPr>
          <a:xfrm>
            <a:off x="1417320" y="3374136"/>
            <a:ext cx="7040880" cy="292608"/>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Demo advice</a:t>
            </a:r>
            <a:endParaRPr lang="en-US" sz="1300" dirty="0"/>
          </a:p>
        </p:txBody>
      </p:sp>
      <p:sp>
        <p:nvSpPr>
          <p:cNvPr id="20" name="Text 18"/>
          <p:cNvSpPr/>
          <p:nvPr/>
        </p:nvSpPr>
        <p:spPr>
          <a:xfrm>
            <a:off x="1417320" y="3685032"/>
            <a:ext cx="7040880" cy="329184"/>
          </a:xfrm>
          <a:prstGeom prst="rect">
            <a:avLst/>
          </a:prstGeom>
          <a:noFill/>
          <a:ln/>
        </p:spPr>
        <p:txBody>
          <a:bodyPr wrap="square" rtlCol="0" anchor="ctr"/>
          <a:lstStyle/>
          <a:p>
            <a:pPr indent="0" marL="0">
              <a:buNone/>
            </a:pPr>
            <a:r>
              <a:rPr lang="en-US" sz="1000" dirty="0">
                <a:solidFill>
                  <a:srgbClr val="9FE1CB"/>
                </a:solidFill>
                <a:latin typeface="Arial" pitchFamily="34" charset="0"/>
                <a:ea typeface="Arial" pitchFamily="34" charset="-122"/>
                <a:cs typeface="Arial" pitchFamily="34" charset="-120"/>
              </a:rPr>
              <a:t>What should our 3-minute demo show, in what order, to maximise judge impact given this evaluation rubric?</a:t>
            </a:r>
            <a:endParaRPr lang="en-US" sz="1000" dirty="0"/>
          </a:p>
        </p:txBody>
      </p:sp>
      <p:sp>
        <p:nvSpPr>
          <p:cNvPr id="21" name="Text 19"/>
          <p:cNvSpPr/>
          <p:nvPr/>
        </p:nvSpPr>
        <p:spPr>
          <a:xfrm>
            <a:off x="457200" y="4279392"/>
            <a:ext cx="8229600" cy="329184"/>
          </a:xfrm>
          <a:prstGeom prst="rect">
            <a:avLst/>
          </a:prstGeom>
          <a:noFill/>
          <a:ln/>
        </p:spPr>
        <p:txBody>
          <a:bodyPr wrap="square" rtlCol="0" anchor="ctr"/>
          <a:lstStyle/>
          <a:p>
            <a:pPr algn="ctr" indent="0" marL="0">
              <a:buNone/>
            </a:pPr>
            <a:r>
              <a:rPr lang="en-US" sz="900" dirty="0">
                <a:solidFill>
                  <a:srgbClr val="5DCAA5"/>
                </a:solidFill>
                <a:latin typeface="Arial" pitchFamily="34" charset="0"/>
                <a:ea typeface="Arial" pitchFamily="34" charset="-122"/>
                <a:cs typeface="Arial" pitchFamily="34" charset="-120"/>
              </a:rPr>
              <a:t>Thank you for your time and expertise.  ·  Team VID — Virtual ID  ·  Redemption Jonathan  ·  vid.africa</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VID — Mentorship Session Brief</dc:title>
  <dc:subject>PptxGenJS Presentation</dc:subject>
  <dc:creator>Redemption Jonathan</dc:creator>
  <cp:lastModifiedBy>Redemption Jonathan</cp:lastModifiedBy>
  <cp:revision>1</cp:revision>
  <dcterms:created xsi:type="dcterms:W3CDTF">2026-04-26T10:40:33Z</dcterms:created>
  <dcterms:modified xsi:type="dcterms:W3CDTF">2026-04-26T10:40:33Z</dcterms:modified>
</cp:coreProperties>
</file>